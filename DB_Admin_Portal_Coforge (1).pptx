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8" r:id="rId3"/>
    <p:sldId id="259" r:id="rId4"/>
    <p:sldId id="260" r:id="rId5"/>
    <p:sldId id="261" r:id="rId6"/>
    <p:sldId id="257" r:id="rId7"/>
    <p:sldId id="262" r:id="rId8"/>
    <p:sldId id="263" r:id="rId9"/>
    <p:sldId id="277"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504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I'm Mohammad Kashif Siddiqui, Team Lead, presenting the DB Admin Portal on behalf of our full team — a role-based database management system with an AI Data Analyst built on top of it. Over the next few minutes we'll walk through the problem, our solution, the architecture, and a live example of the AI in action.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managing a database requires SQL knowledge, and there's no centralized way to manage users or control permissions. Data changes aren't tracked, business users can't analyze data without writing SQL, and it's very easy to accidentally modify or delete data. These six problems are exactly what our portal was built to solve.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 secure Database Administration Portal. It provides secure login, role-based access, dynamic CRUD operations, user management, permission management, full audit logs, and — the standout feature — AI-powered data analysis using natural language.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were clear from the start: build a secure database management portal, implement role-based access control, create generic CRUD operations that work on any table, dynamically reflect the database schema, track every activity, and integrate AI for natural-language data analysis.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technology stack: Python 3.11 for the backend, Streamlit for the web interface, SQLAlchemy as our ORM layer, and MySQL for storage. Pandas handles data processing, bcrypt encrypts passwords, Requests handles API communication, OpenRouter powers the AI integration, and OpenPyXL supports Excel export.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team has eight members, each with clear ownership. I lead planning, architecture, AI integration, and final testing. The rest of the team owns authentication, database schema, CRUD modules, RBAC permissions, audit logging, the Streamlit UI, and testing and documentation — so every part of the system has a single accountable owner.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flow: the User interacts with the Streamlit UI, which passes through the Authentication System, then Role-Based Access Control. From there, requests hit the CRUD and AI modules, which go through SQLAlchemy ORM down to the MySQL database. For AI queries, the flow also connects out to the OpenRouter API for natural-language processing.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schema centers on three system tables — users, table_permissions, and audit_logs — plus example business tables like customers and employees. Users and table_permissions are linked by username to control per-table access, and every change to a business table is written to audit_logs for full traceability.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5155C-BA6C-B9D3-E473-04D236C7D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168AA8-B7A6-EB4A-4518-52B6171A16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665C3D-FB89-79D8-CB1F-C85AFB79FCD8}"/>
              </a:ext>
            </a:extLst>
          </p:cNvPr>
          <p:cNvSpPr>
            <a:spLocks noGrp="1"/>
          </p:cNvSpPr>
          <p:nvPr>
            <p:ph type="body" idx="1"/>
          </p:nvPr>
        </p:nvSpPr>
        <p:spPr/>
        <p:txBody>
          <a:bodyPr/>
          <a:lstStyle/>
          <a:p>
            <a:r>
              <a:rPr lang="en-US" dirty="0"/>
              <a:t>Our schema centers on three system tables — users, table_permissions, and audit_logs — plus example business tables like customers and employees. Users and table_permissions are linked by username to control per-table access, and every change to a business table is written to audit_logs for full traceability.</a:t>
            </a:r>
          </a:p>
        </p:txBody>
      </p:sp>
      <p:sp>
        <p:nvSpPr>
          <p:cNvPr id="4" name="Slide Number Placeholder 3">
            <a:extLst>
              <a:ext uri="{FF2B5EF4-FFF2-40B4-BE49-F238E27FC236}">
                <a16:creationId xmlns:a16="http://schemas.microsoft.com/office/drawing/2014/main" id="{6518450D-8B29-9021-802F-6E432A46616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970804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covers login, bcrypt password hashing, Streamlit session management, and role verification on every request. [Show the login screenshot here and walk through the flow: user enters credentials, password is verified against the bcrypt hash, and a session is created with the user's role attached.]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Permissions are enforced role by role. Admins have full control — view, insert, update, delete, user management, permissions, and audit logs. Editors can view, insert, and update, but can't delete or manage users. Viewers are read-only. Notably, AI analysis is available to all three roles, since it's read-only under the hood.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engineering piece is dynamic database reflection. We built functions to get all tables, get a table object, get the primary key, and detect schema changes automatically. The benefit is that nothing is hardcoded — our CRUD is fully generic, so if a new table is added to the database, the portal supports it automatically.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CRUD operations are fully generic: Create uses dynamically generated forms based on the table's columns, Read uses a dynamic data viewer, Update loads the existing record into an editable form, and Delete removes a record by its primary key. [Insert screenshots of each screen here.]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have full control over the user lifecycle — they can create users, delete users, activate or deactivate accounts, and assign permissions. Importantly, permissions are table-level, not just role-wide, so an Admin can scope an Editor to only the specific tables they should be able to touch.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login, insert, update, and delete is logged. This gives us three concrete benefits: security, since suspicious activity is visible; accountability, since every action is tied to a user; and monitoring, since admins can review activity trends over time. [Show the audit log screenshot here.]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AI Data Analyst flow. A user asks a question in plain English — for example, 'Show top 5 highest salary employees.' We send the database schema to the AI, which generates SQL, which we then validate before it ever touches the database. Once validated, it runs against MySQL, the results come back, and the AI explains them in plain language.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critical when AI is writing SQL. Our validator only allows SELECT statements — the AI can read and analyze data but can never modify it. It explicitly blocks INSERT, UPDATE, DELETE, DROP, ALTER, TRUNCATE, and CREATE, so even if the AI generated a destructive query, it would never reach the database.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concrete example. The user asks, 'Show top 5 highest salary employees.' The AI generates a clean SELECT query ordering by salary descending with a limit of 5. After validation, it runs against the database, returns this table, and the AI explains in plain language what the result means.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project has real engineering challenges. SQLAlchemy reflection needed dynamic reflection functions. Making CRUD generic needed dedicated generic modules. TINYINT boolean handling was solved with checkbox mapping. Session management uses Streamlit's session state. AI integration runs through OpenRouter, SQL security is enforced by our validator, and SSL issues were resolved through certificate configuration.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our roadmap includes Excel and CSV export, dashboard analytics with charts and graphs, bulk upload, backup and restore, multi-database support, voice-based AI queries, AI-driven recommendations, and eventually full cloud deployment.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we successfully built a secure, scalable Database Administration Portal with secure authentication, role-based access control, dynamic database reflection, generic CRUD operations, user and permission management, audit logging, and AI-powered natural language data analysis, currently in progress. Now let's move into the live demo — I'll walk through login, the dashboard, viewing and editing tables, managing users and permissions, viewing audit logs, and finally the AI Data Analyst.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That concludes our presentation on the DB Admin Portal — we're happy to take any questions now.</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340"/>
        </a:solidFill>
        <a:effectLst/>
      </p:bgPr>
    </p:bg>
    <p:spTree>
      <p:nvGrpSpPr>
        <p:cNvPr id="1" name=""/>
        <p:cNvGrpSpPr/>
        <p:nvPr/>
      </p:nvGrpSpPr>
      <p:grpSpPr>
        <a:xfrm>
          <a:off x="0" y="0"/>
          <a:ext cx="0" cy="0"/>
          <a:chOff x="0" y="0"/>
          <a:chExt cx="0" cy="0"/>
        </a:xfrm>
      </p:grpSpPr>
      <p:sp>
        <p:nvSpPr>
          <p:cNvPr id="2" name="Shape 0"/>
          <p:cNvSpPr/>
          <p:nvPr/>
        </p:nvSpPr>
        <p:spPr>
          <a:xfrm>
            <a:off x="8778240" y="-2103120"/>
            <a:ext cx="5669280" cy="5669280"/>
          </a:xfrm>
          <a:prstGeom prst="ellipse">
            <a:avLst/>
          </a:prstGeom>
          <a:solidFill>
            <a:srgbClr val="0E3A63">
              <a:alpha val="65000"/>
            </a:srgbClr>
          </a:solidFill>
          <a:ln/>
        </p:spPr>
      </p:sp>
      <p:sp>
        <p:nvSpPr>
          <p:cNvPr id="3" name="Shape 1"/>
          <p:cNvSpPr/>
          <p:nvPr/>
        </p:nvSpPr>
        <p:spPr>
          <a:xfrm>
            <a:off x="-2103120" y="4572000"/>
            <a:ext cx="5029200" cy="5029200"/>
          </a:xfrm>
          <a:prstGeom prst="ellipse">
            <a:avLst/>
          </a:prstGeom>
          <a:solidFill>
            <a:srgbClr val="F15B40">
              <a:alpha val="22000"/>
            </a:srgbClr>
          </a:solidFill>
          <a:ln/>
        </p:spPr>
      </p:sp>
      <p:pic>
        <p:nvPicPr>
          <p:cNvPr id="4" name="Image 0" descr="preencoded.png"/>
          <p:cNvPicPr>
            <a:picLocks noChangeAspect="1"/>
          </p:cNvPicPr>
          <p:nvPr/>
        </p:nvPicPr>
        <p:blipFill>
          <a:blip r:embed="rId3"/>
          <a:stretch>
            <a:fillRect/>
          </a:stretch>
        </p:blipFill>
        <p:spPr>
          <a:xfrm>
            <a:off x="822960" y="640080"/>
            <a:ext cx="2377440" cy="1097956"/>
          </a:xfrm>
          <a:prstGeom prst="rect">
            <a:avLst/>
          </a:prstGeom>
        </p:spPr>
      </p:pic>
      <p:sp>
        <p:nvSpPr>
          <p:cNvPr id="5" name="Text 2"/>
          <p:cNvSpPr/>
          <p:nvPr/>
        </p:nvSpPr>
        <p:spPr>
          <a:xfrm>
            <a:off x="822960" y="228600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DB ADMIN PORTAL</a:t>
            </a:r>
            <a:endParaRPr lang="en-US" sz="4400" dirty="0"/>
          </a:p>
        </p:txBody>
      </p:sp>
      <p:sp>
        <p:nvSpPr>
          <p:cNvPr id="6" name="Text 3"/>
          <p:cNvSpPr/>
          <p:nvPr/>
        </p:nvSpPr>
        <p:spPr>
          <a:xfrm>
            <a:off x="822960" y="3200400"/>
            <a:ext cx="9601200" cy="548640"/>
          </a:xfrm>
          <a:prstGeom prst="rect">
            <a:avLst/>
          </a:prstGeom>
          <a:noFill/>
          <a:ln/>
        </p:spPr>
        <p:txBody>
          <a:bodyPr wrap="square" lIns="0" tIns="0" rIns="0" bIns="0" rtlCol="0" anchor="ctr"/>
          <a:lstStyle/>
          <a:p>
            <a:pPr marL="0" indent="0">
              <a:buNone/>
            </a:pPr>
            <a:r>
              <a:rPr lang="en-US" sz="1600" dirty="0">
                <a:solidFill>
                  <a:srgbClr val="CFE0F0"/>
                </a:solidFill>
                <a:latin typeface="Calibri" pitchFamily="34" charset="0"/>
                <a:ea typeface="Calibri" pitchFamily="34" charset="-122"/>
                <a:cs typeface="Calibri" pitchFamily="34" charset="-120"/>
              </a:rPr>
              <a:t>Role-Based Database Management System with AI Data Analyst</a:t>
            </a:r>
            <a:endParaRPr lang="en-US" sz="1600" dirty="0"/>
          </a:p>
        </p:txBody>
      </p:sp>
      <p:sp>
        <p:nvSpPr>
          <p:cNvPr id="7" name="Shape 4"/>
          <p:cNvSpPr/>
          <p:nvPr/>
        </p:nvSpPr>
        <p:spPr>
          <a:xfrm>
            <a:off x="822960" y="3886200"/>
            <a:ext cx="548640" cy="45720"/>
          </a:xfrm>
          <a:prstGeom prst="rect">
            <a:avLst/>
          </a:prstGeom>
          <a:solidFill>
            <a:srgbClr val="F15B40"/>
          </a:solidFill>
          <a:ln/>
        </p:spPr>
      </p:sp>
      <p:sp>
        <p:nvSpPr>
          <p:cNvPr id="8" name="Text 5"/>
          <p:cNvSpPr/>
          <p:nvPr/>
        </p:nvSpPr>
        <p:spPr>
          <a:xfrm>
            <a:off x="822960" y="4229100"/>
            <a:ext cx="7315200" cy="640080"/>
          </a:xfrm>
          <a:prstGeom prst="rect">
            <a:avLst/>
          </a:prstGeom>
          <a:noFill/>
          <a:ln/>
        </p:spPr>
        <p:txBody>
          <a:bodyPr wrap="square" lIns="0" tIns="0" rIns="0" bIns="0" rtlCol="0" anchor="ctr"/>
          <a:lstStyle/>
          <a:p>
            <a:pPr marL="0" indent="0">
              <a:lnSpc>
                <a:spcPct val="130000"/>
              </a:lnSpc>
              <a:buNone/>
            </a:pPr>
            <a:r>
              <a:rPr lang="en-US" sz="1400" b="1" dirty="0">
                <a:solidFill>
                  <a:srgbClr val="FFFFFF"/>
                </a:solidFill>
                <a:latin typeface="Calibri" pitchFamily="34" charset="0"/>
                <a:ea typeface="Calibri" pitchFamily="34" charset="-122"/>
                <a:cs typeface="Calibri" pitchFamily="34" charset="-120"/>
              </a:rPr>
              <a:t>Developed  By</a:t>
            </a:r>
          </a:p>
          <a:p>
            <a:pPr marL="0" indent="0">
              <a:lnSpc>
                <a:spcPct val="130000"/>
              </a:lnSpc>
              <a:buNone/>
            </a:pPr>
            <a:r>
              <a:rPr lang="en-US" sz="1400" dirty="0">
                <a:solidFill>
                  <a:srgbClr val="FFFFFF"/>
                </a:solidFill>
                <a:latin typeface="Calibri" pitchFamily="34" charset="0"/>
                <a:ea typeface="Calibri" pitchFamily="34" charset="-122"/>
                <a:cs typeface="Calibri" pitchFamily="34" charset="-120"/>
              </a:rPr>
              <a:t>Kashif , Anusha, Abhay, Akash, Abhinay, Raj , Rahul, Shristi and Vaishnavi</a:t>
            </a:r>
            <a:endParaRPr lang="en-US" sz="1400" dirty="0"/>
          </a:p>
          <a:p>
            <a:pPr marL="0" indent="0">
              <a:lnSpc>
                <a:spcPct val="130000"/>
              </a:lnSpc>
              <a:buNone/>
            </a:pPr>
            <a:endParaRPr lang="en-US" sz="1400" dirty="0"/>
          </a:p>
        </p:txBody>
      </p:sp>
      <p:sp>
        <p:nvSpPr>
          <p:cNvPr id="9" name="Shape 6"/>
          <p:cNvSpPr/>
          <p:nvPr/>
        </p:nvSpPr>
        <p:spPr>
          <a:xfrm>
            <a:off x="822960" y="5257800"/>
            <a:ext cx="896112" cy="384048"/>
          </a:xfrm>
          <a:prstGeom prst="roundRect">
            <a:avLst>
              <a:gd name="adj" fmla="val 50000"/>
            </a:avLst>
          </a:prstGeom>
          <a:solidFill>
            <a:srgbClr val="0E3A63"/>
          </a:solidFill>
          <a:ln w="12700">
            <a:solidFill>
              <a:srgbClr val="F15B40"/>
            </a:solidFill>
            <a:prstDash val="solid"/>
          </a:ln>
        </p:spPr>
      </p:sp>
      <p:sp>
        <p:nvSpPr>
          <p:cNvPr id="10" name="Text 7"/>
          <p:cNvSpPr/>
          <p:nvPr/>
        </p:nvSpPr>
        <p:spPr>
          <a:xfrm>
            <a:off x="822960" y="5257800"/>
            <a:ext cx="896112"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Python</a:t>
            </a:r>
            <a:endParaRPr lang="en-US" sz="1100" dirty="0"/>
          </a:p>
        </p:txBody>
      </p:sp>
      <p:sp>
        <p:nvSpPr>
          <p:cNvPr id="11" name="Shape 8"/>
          <p:cNvSpPr/>
          <p:nvPr/>
        </p:nvSpPr>
        <p:spPr>
          <a:xfrm>
            <a:off x="1883664" y="5257800"/>
            <a:ext cx="1184148" cy="384048"/>
          </a:xfrm>
          <a:prstGeom prst="roundRect">
            <a:avLst>
              <a:gd name="adj" fmla="val 50000"/>
            </a:avLst>
          </a:prstGeom>
          <a:solidFill>
            <a:srgbClr val="0E3A63"/>
          </a:solidFill>
          <a:ln w="12700">
            <a:solidFill>
              <a:srgbClr val="F15B40"/>
            </a:solidFill>
            <a:prstDash val="solid"/>
          </a:ln>
        </p:spPr>
      </p:sp>
      <p:sp>
        <p:nvSpPr>
          <p:cNvPr id="12" name="Text 9"/>
          <p:cNvSpPr/>
          <p:nvPr/>
        </p:nvSpPr>
        <p:spPr>
          <a:xfrm>
            <a:off x="1883664" y="5257800"/>
            <a:ext cx="1184148"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Streamlit</a:t>
            </a:r>
            <a:endParaRPr lang="en-US" sz="1100" dirty="0"/>
          </a:p>
        </p:txBody>
      </p:sp>
      <p:sp>
        <p:nvSpPr>
          <p:cNvPr id="13" name="Shape 10"/>
          <p:cNvSpPr/>
          <p:nvPr/>
        </p:nvSpPr>
        <p:spPr>
          <a:xfrm>
            <a:off x="3232404" y="5257800"/>
            <a:ext cx="1664208" cy="384048"/>
          </a:xfrm>
          <a:prstGeom prst="roundRect">
            <a:avLst>
              <a:gd name="adj" fmla="val 50000"/>
            </a:avLst>
          </a:prstGeom>
          <a:solidFill>
            <a:srgbClr val="0E3A63"/>
          </a:solidFill>
          <a:ln w="12700">
            <a:solidFill>
              <a:srgbClr val="F15B40"/>
            </a:solidFill>
            <a:prstDash val="solid"/>
          </a:ln>
        </p:spPr>
      </p:sp>
      <p:sp>
        <p:nvSpPr>
          <p:cNvPr id="14" name="Text 11"/>
          <p:cNvSpPr/>
          <p:nvPr/>
        </p:nvSpPr>
        <p:spPr>
          <a:xfrm>
            <a:off x="3232404" y="5257800"/>
            <a:ext cx="1664208"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SQLAlchemy ORM</a:t>
            </a:r>
            <a:endParaRPr lang="en-US" sz="1100" dirty="0"/>
          </a:p>
        </p:txBody>
      </p:sp>
      <p:sp>
        <p:nvSpPr>
          <p:cNvPr id="15" name="Shape 12"/>
          <p:cNvSpPr/>
          <p:nvPr/>
        </p:nvSpPr>
        <p:spPr>
          <a:xfrm>
            <a:off x="5061204" y="5257800"/>
            <a:ext cx="800100" cy="384048"/>
          </a:xfrm>
          <a:prstGeom prst="roundRect">
            <a:avLst>
              <a:gd name="adj" fmla="val 50000"/>
            </a:avLst>
          </a:prstGeom>
          <a:solidFill>
            <a:srgbClr val="0E3A63"/>
          </a:solidFill>
          <a:ln w="12700">
            <a:solidFill>
              <a:srgbClr val="F15B40"/>
            </a:solidFill>
            <a:prstDash val="solid"/>
          </a:ln>
        </p:spPr>
      </p:sp>
      <p:sp>
        <p:nvSpPr>
          <p:cNvPr id="16" name="Text 13"/>
          <p:cNvSpPr/>
          <p:nvPr/>
        </p:nvSpPr>
        <p:spPr>
          <a:xfrm>
            <a:off x="5061204" y="5257800"/>
            <a:ext cx="80010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MySQL</a:t>
            </a:r>
            <a:endParaRPr lang="en-US" sz="1100" dirty="0"/>
          </a:p>
        </p:txBody>
      </p:sp>
      <p:sp>
        <p:nvSpPr>
          <p:cNvPr id="17" name="Shape 14"/>
          <p:cNvSpPr/>
          <p:nvPr/>
        </p:nvSpPr>
        <p:spPr>
          <a:xfrm>
            <a:off x="6025896" y="5257800"/>
            <a:ext cx="1568196" cy="384048"/>
          </a:xfrm>
          <a:prstGeom prst="roundRect">
            <a:avLst>
              <a:gd name="adj" fmla="val 50000"/>
            </a:avLst>
          </a:prstGeom>
          <a:solidFill>
            <a:srgbClr val="0E3A63"/>
          </a:solidFill>
          <a:ln w="12700">
            <a:solidFill>
              <a:srgbClr val="F15B40"/>
            </a:solidFill>
            <a:prstDash val="solid"/>
          </a:ln>
        </p:spPr>
      </p:sp>
      <p:sp>
        <p:nvSpPr>
          <p:cNvPr id="18" name="Text 15"/>
          <p:cNvSpPr/>
          <p:nvPr/>
        </p:nvSpPr>
        <p:spPr>
          <a:xfrm>
            <a:off x="6025896" y="5257800"/>
            <a:ext cx="1568196"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OpenRouter 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3</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Existing Problems</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Why traditional database access falls short for most teams</a:t>
            </a:r>
            <a:endParaRPr lang="en-US" sz="1300" dirty="0"/>
          </a:p>
        </p:txBody>
      </p:sp>
      <p:sp>
        <p:nvSpPr>
          <p:cNvPr id="7" name="Shape 4"/>
          <p:cNvSpPr/>
          <p:nvPr/>
        </p:nvSpPr>
        <p:spPr>
          <a:xfrm>
            <a:off x="548640" y="1371600"/>
            <a:ext cx="502920" cy="41148"/>
          </a:xfrm>
          <a:prstGeom prst="rect">
            <a:avLst/>
          </a:prstGeom>
          <a:solidFill>
            <a:srgbClr val="F15B40"/>
          </a:solidFill>
          <a:ln/>
        </p:spPr>
      </p:sp>
      <p:sp>
        <p:nvSpPr>
          <p:cNvPr id="8" name="Shape 5"/>
          <p:cNvSpPr/>
          <p:nvPr/>
        </p:nvSpPr>
        <p:spPr>
          <a:xfrm>
            <a:off x="640080" y="1691640"/>
            <a:ext cx="365760" cy="365760"/>
          </a:xfrm>
          <a:prstGeom prst="ellipse">
            <a:avLst/>
          </a:prstGeom>
          <a:solidFill>
            <a:srgbClr val="FDEAE6"/>
          </a:solidFill>
          <a:ln/>
        </p:spPr>
      </p:sp>
      <p:pic>
        <p:nvPicPr>
          <p:cNvPr id="9" name="Image 1" descr="preencoded.png"/>
          <p:cNvPicPr>
            <a:picLocks noChangeAspect="1"/>
          </p:cNvPicPr>
          <p:nvPr/>
        </p:nvPicPr>
        <p:blipFill>
          <a:blip r:embed="rId4"/>
          <a:stretch>
            <a:fillRect/>
          </a:stretch>
        </p:blipFill>
        <p:spPr>
          <a:xfrm>
            <a:off x="735178" y="1786738"/>
            <a:ext cx="175565" cy="175565"/>
          </a:xfrm>
          <a:prstGeom prst="rect">
            <a:avLst/>
          </a:prstGeom>
        </p:spPr>
      </p:pic>
      <p:sp>
        <p:nvSpPr>
          <p:cNvPr id="10" name="Text 6"/>
          <p:cNvSpPr/>
          <p:nvPr/>
        </p:nvSpPr>
        <p:spPr>
          <a:xfrm>
            <a:off x="1170432" y="1664208"/>
            <a:ext cx="10259568" cy="713232"/>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Managing databases requires SQL knowledge.</a:t>
            </a:r>
            <a:endParaRPr lang="en-US" sz="1500" dirty="0"/>
          </a:p>
        </p:txBody>
      </p:sp>
      <p:sp>
        <p:nvSpPr>
          <p:cNvPr id="11" name="Shape 7"/>
          <p:cNvSpPr/>
          <p:nvPr/>
        </p:nvSpPr>
        <p:spPr>
          <a:xfrm>
            <a:off x="640080" y="2404872"/>
            <a:ext cx="365760" cy="365760"/>
          </a:xfrm>
          <a:prstGeom prst="ellipse">
            <a:avLst/>
          </a:prstGeom>
          <a:solidFill>
            <a:srgbClr val="FDEAE6"/>
          </a:solidFill>
          <a:ln/>
        </p:spPr>
      </p:sp>
      <p:pic>
        <p:nvPicPr>
          <p:cNvPr id="12" name="Image 2" descr="preencoded.png"/>
          <p:cNvPicPr>
            <a:picLocks noChangeAspect="1"/>
          </p:cNvPicPr>
          <p:nvPr/>
        </p:nvPicPr>
        <p:blipFill>
          <a:blip r:embed="rId4"/>
          <a:stretch>
            <a:fillRect/>
          </a:stretch>
        </p:blipFill>
        <p:spPr>
          <a:xfrm>
            <a:off x="735178" y="2499970"/>
            <a:ext cx="175565" cy="175565"/>
          </a:xfrm>
          <a:prstGeom prst="rect">
            <a:avLst/>
          </a:prstGeom>
        </p:spPr>
      </p:pic>
      <p:sp>
        <p:nvSpPr>
          <p:cNvPr id="13" name="Text 8"/>
          <p:cNvSpPr/>
          <p:nvPr/>
        </p:nvSpPr>
        <p:spPr>
          <a:xfrm>
            <a:off x="1170432" y="2377440"/>
            <a:ext cx="10259568" cy="713232"/>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No centralized user management.</a:t>
            </a:r>
            <a:endParaRPr lang="en-US" sz="1500" dirty="0"/>
          </a:p>
        </p:txBody>
      </p:sp>
      <p:sp>
        <p:nvSpPr>
          <p:cNvPr id="14" name="Shape 9"/>
          <p:cNvSpPr/>
          <p:nvPr/>
        </p:nvSpPr>
        <p:spPr>
          <a:xfrm>
            <a:off x="640080" y="3118104"/>
            <a:ext cx="365760" cy="365760"/>
          </a:xfrm>
          <a:prstGeom prst="ellipse">
            <a:avLst/>
          </a:prstGeom>
          <a:solidFill>
            <a:srgbClr val="FDEAE6"/>
          </a:solidFill>
          <a:ln/>
        </p:spPr>
      </p:sp>
      <p:pic>
        <p:nvPicPr>
          <p:cNvPr id="15" name="Image 3" descr="preencoded.png"/>
          <p:cNvPicPr>
            <a:picLocks noChangeAspect="1"/>
          </p:cNvPicPr>
          <p:nvPr/>
        </p:nvPicPr>
        <p:blipFill>
          <a:blip r:embed="rId4"/>
          <a:stretch>
            <a:fillRect/>
          </a:stretch>
        </p:blipFill>
        <p:spPr>
          <a:xfrm>
            <a:off x="735178" y="3213202"/>
            <a:ext cx="175565" cy="175565"/>
          </a:xfrm>
          <a:prstGeom prst="rect">
            <a:avLst/>
          </a:prstGeom>
        </p:spPr>
      </p:pic>
      <p:sp>
        <p:nvSpPr>
          <p:cNvPr id="16" name="Text 10"/>
          <p:cNvSpPr/>
          <p:nvPr/>
        </p:nvSpPr>
        <p:spPr>
          <a:xfrm>
            <a:off x="1170432" y="3090672"/>
            <a:ext cx="10259568" cy="713232"/>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Difficult permission control.</a:t>
            </a:r>
            <a:endParaRPr lang="en-US" sz="1500" dirty="0"/>
          </a:p>
        </p:txBody>
      </p:sp>
      <p:sp>
        <p:nvSpPr>
          <p:cNvPr id="17" name="Shape 11"/>
          <p:cNvSpPr/>
          <p:nvPr/>
        </p:nvSpPr>
        <p:spPr>
          <a:xfrm>
            <a:off x="640080" y="3831336"/>
            <a:ext cx="365760" cy="365760"/>
          </a:xfrm>
          <a:prstGeom prst="ellipse">
            <a:avLst/>
          </a:prstGeom>
          <a:solidFill>
            <a:srgbClr val="FDEAE6"/>
          </a:solidFill>
          <a:ln/>
        </p:spPr>
      </p:sp>
      <p:pic>
        <p:nvPicPr>
          <p:cNvPr id="18" name="Image 4" descr="preencoded.png"/>
          <p:cNvPicPr>
            <a:picLocks noChangeAspect="1"/>
          </p:cNvPicPr>
          <p:nvPr/>
        </p:nvPicPr>
        <p:blipFill>
          <a:blip r:embed="rId4"/>
          <a:stretch>
            <a:fillRect/>
          </a:stretch>
        </p:blipFill>
        <p:spPr>
          <a:xfrm>
            <a:off x="735178" y="3926434"/>
            <a:ext cx="175565" cy="175565"/>
          </a:xfrm>
          <a:prstGeom prst="rect">
            <a:avLst/>
          </a:prstGeom>
        </p:spPr>
      </p:pic>
      <p:sp>
        <p:nvSpPr>
          <p:cNvPr id="19" name="Text 12"/>
          <p:cNvSpPr/>
          <p:nvPr/>
        </p:nvSpPr>
        <p:spPr>
          <a:xfrm>
            <a:off x="1170432" y="3803904"/>
            <a:ext cx="10259568" cy="713232"/>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Data modifications are not tracked.</a:t>
            </a:r>
            <a:endParaRPr lang="en-US" sz="1500" dirty="0"/>
          </a:p>
        </p:txBody>
      </p:sp>
      <p:sp>
        <p:nvSpPr>
          <p:cNvPr id="20" name="Shape 13"/>
          <p:cNvSpPr/>
          <p:nvPr/>
        </p:nvSpPr>
        <p:spPr>
          <a:xfrm>
            <a:off x="640080" y="4544568"/>
            <a:ext cx="365760" cy="365760"/>
          </a:xfrm>
          <a:prstGeom prst="ellipse">
            <a:avLst/>
          </a:prstGeom>
          <a:solidFill>
            <a:srgbClr val="FDEAE6"/>
          </a:solidFill>
          <a:ln/>
        </p:spPr>
      </p:sp>
      <p:pic>
        <p:nvPicPr>
          <p:cNvPr id="21" name="Image 5" descr="preencoded.png"/>
          <p:cNvPicPr>
            <a:picLocks noChangeAspect="1"/>
          </p:cNvPicPr>
          <p:nvPr/>
        </p:nvPicPr>
        <p:blipFill>
          <a:blip r:embed="rId4"/>
          <a:stretch>
            <a:fillRect/>
          </a:stretch>
        </p:blipFill>
        <p:spPr>
          <a:xfrm>
            <a:off x="735178" y="4639666"/>
            <a:ext cx="175565" cy="175565"/>
          </a:xfrm>
          <a:prstGeom prst="rect">
            <a:avLst/>
          </a:prstGeom>
        </p:spPr>
      </p:pic>
      <p:sp>
        <p:nvSpPr>
          <p:cNvPr id="22" name="Text 14"/>
          <p:cNvSpPr/>
          <p:nvPr/>
        </p:nvSpPr>
        <p:spPr>
          <a:xfrm>
            <a:off x="1170432" y="4517136"/>
            <a:ext cx="10259568" cy="713232"/>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Business users cannot analyze data without SQL.</a:t>
            </a:r>
            <a:endParaRPr lang="en-US" sz="1500" dirty="0"/>
          </a:p>
        </p:txBody>
      </p:sp>
      <p:sp>
        <p:nvSpPr>
          <p:cNvPr id="23" name="Shape 15"/>
          <p:cNvSpPr/>
          <p:nvPr/>
        </p:nvSpPr>
        <p:spPr>
          <a:xfrm>
            <a:off x="640080" y="5257800"/>
            <a:ext cx="365760" cy="365760"/>
          </a:xfrm>
          <a:prstGeom prst="ellipse">
            <a:avLst/>
          </a:prstGeom>
          <a:solidFill>
            <a:srgbClr val="FDEAE6"/>
          </a:solidFill>
          <a:ln/>
        </p:spPr>
      </p:sp>
      <p:pic>
        <p:nvPicPr>
          <p:cNvPr id="24" name="Image 6" descr="preencoded.png"/>
          <p:cNvPicPr>
            <a:picLocks noChangeAspect="1"/>
          </p:cNvPicPr>
          <p:nvPr/>
        </p:nvPicPr>
        <p:blipFill>
          <a:blip r:embed="rId4"/>
          <a:stretch>
            <a:fillRect/>
          </a:stretch>
        </p:blipFill>
        <p:spPr>
          <a:xfrm>
            <a:off x="735178" y="5352898"/>
            <a:ext cx="175565" cy="175565"/>
          </a:xfrm>
          <a:prstGeom prst="rect">
            <a:avLst/>
          </a:prstGeom>
        </p:spPr>
      </p:pic>
      <p:sp>
        <p:nvSpPr>
          <p:cNvPr id="25" name="Text 16"/>
          <p:cNvSpPr/>
          <p:nvPr/>
        </p:nvSpPr>
        <p:spPr>
          <a:xfrm>
            <a:off x="1170432" y="5230368"/>
            <a:ext cx="10259568" cy="713232"/>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High chances of accidental data modification.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4</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Our Solution</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A secure Database Administration Portal that provides:</a:t>
            </a:r>
            <a:endParaRPr lang="en-US" sz="1300" dirty="0"/>
          </a:p>
        </p:txBody>
      </p:sp>
      <p:sp>
        <p:nvSpPr>
          <p:cNvPr id="7" name="Shape 4"/>
          <p:cNvSpPr/>
          <p:nvPr/>
        </p:nvSpPr>
        <p:spPr>
          <a:xfrm>
            <a:off x="548640" y="1371600"/>
            <a:ext cx="502920" cy="41148"/>
          </a:xfrm>
          <a:prstGeom prst="rect">
            <a:avLst/>
          </a:prstGeom>
          <a:solidFill>
            <a:srgbClr val="F15B40"/>
          </a:solidFill>
          <a:ln/>
        </p:spPr>
      </p:sp>
      <p:sp>
        <p:nvSpPr>
          <p:cNvPr id="8" name="Shape 5"/>
          <p:cNvSpPr/>
          <p:nvPr/>
        </p:nvSpPr>
        <p:spPr>
          <a:xfrm>
            <a:off x="640080" y="1691640"/>
            <a:ext cx="5257800" cy="777240"/>
          </a:xfrm>
          <a:prstGeom prst="roundRect">
            <a:avLst>
              <a:gd name="adj" fmla="val 11765"/>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9" name="Shape 6"/>
          <p:cNvSpPr/>
          <p:nvPr/>
        </p:nvSpPr>
        <p:spPr>
          <a:xfrm>
            <a:off x="822960" y="1847088"/>
            <a:ext cx="457200" cy="457200"/>
          </a:xfrm>
          <a:prstGeom prst="ellipse">
            <a:avLst/>
          </a:prstGeom>
          <a:solidFill>
            <a:srgbClr val="E7EEF5"/>
          </a:solidFill>
          <a:ln/>
        </p:spPr>
      </p:sp>
      <p:pic>
        <p:nvPicPr>
          <p:cNvPr id="10" name="Image 1" descr="preencoded.png"/>
          <p:cNvPicPr>
            <a:picLocks noChangeAspect="1"/>
          </p:cNvPicPr>
          <p:nvPr/>
        </p:nvPicPr>
        <p:blipFill>
          <a:blip r:embed="rId4"/>
          <a:stretch>
            <a:fillRect/>
          </a:stretch>
        </p:blipFill>
        <p:spPr>
          <a:xfrm>
            <a:off x="941832" y="1965960"/>
            <a:ext cx="219456" cy="219456"/>
          </a:xfrm>
          <a:prstGeom prst="rect">
            <a:avLst/>
          </a:prstGeom>
        </p:spPr>
      </p:pic>
      <p:sp>
        <p:nvSpPr>
          <p:cNvPr id="11" name="Text 7"/>
          <p:cNvSpPr/>
          <p:nvPr/>
        </p:nvSpPr>
        <p:spPr>
          <a:xfrm>
            <a:off x="1463040" y="1691640"/>
            <a:ext cx="4251960" cy="777240"/>
          </a:xfrm>
          <a:prstGeom prst="rect">
            <a:avLst/>
          </a:prstGeom>
          <a:noFill/>
          <a:ln/>
        </p:spPr>
        <p:txBody>
          <a:bodyPr wrap="square" lIns="0" tIns="0" rIns="0" bIns="0" rtlCol="0" anchor="ctr"/>
          <a:lstStyle/>
          <a:p>
            <a:pPr marL="0" indent="0">
              <a:buNone/>
            </a:pPr>
            <a:r>
              <a:rPr lang="en-US" sz="1400" b="1" dirty="0">
                <a:solidFill>
                  <a:srgbClr val="16232E"/>
                </a:solidFill>
                <a:latin typeface="Calibri" pitchFamily="34" charset="0"/>
                <a:ea typeface="Calibri" pitchFamily="34" charset="-122"/>
                <a:cs typeface="Calibri" pitchFamily="34" charset="-120"/>
              </a:rPr>
              <a:t>Secure Login</a:t>
            </a:r>
            <a:endParaRPr lang="en-US" sz="1400" dirty="0"/>
          </a:p>
        </p:txBody>
      </p:sp>
      <p:sp>
        <p:nvSpPr>
          <p:cNvPr id="12" name="Shape 8"/>
          <p:cNvSpPr/>
          <p:nvPr/>
        </p:nvSpPr>
        <p:spPr>
          <a:xfrm>
            <a:off x="6355080" y="1691640"/>
            <a:ext cx="5257800" cy="777240"/>
          </a:xfrm>
          <a:prstGeom prst="roundRect">
            <a:avLst>
              <a:gd name="adj" fmla="val 11765"/>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13" name="Shape 9"/>
          <p:cNvSpPr/>
          <p:nvPr/>
        </p:nvSpPr>
        <p:spPr>
          <a:xfrm>
            <a:off x="6537960" y="1847088"/>
            <a:ext cx="457200" cy="457200"/>
          </a:xfrm>
          <a:prstGeom prst="ellipse">
            <a:avLst/>
          </a:prstGeom>
          <a:solidFill>
            <a:srgbClr val="E7EEF5"/>
          </a:solidFill>
          <a:ln/>
        </p:spPr>
      </p:sp>
      <p:pic>
        <p:nvPicPr>
          <p:cNvPr id="14" name="Image 2" descr="preencoded.png"/>
          <p:cNvPicPr>
            <a:picLocks noChangeAspect="1"/>
          </p:cNvPicPr>
          <p:nvPr/>
        </p:nvPicPr>
        <p:blipFill>
          <a:blip r:embed="rId4"/>
          <a:stretch>
            <a:fillRect/>
          </a:stretch>
        </p:blipFill>
        <p:spPr>
          <a:xfrm>
            <a:off x="6656832" y="1965960"/>
            <a:ext cx="219456" cy="219456"/>
          </a:xfrm>
          <a:prstGeom prst="rect">
            <a:avLst/>
          </a:prstGeom>
        </p:spPr>
      </p:pic>
      <p:sp>
        <p:nvSpPr>
          <p:cNvPr id="15" name="Text 10"/>
          <p:cNvSpPr/>
          <p:nvPr/>
        </p:nvSpPr>
        <p:spPr>
          <a:xfrm>
            <a:off x="7178040" y="1691640"/>
            <a:ext cx="4251960" cy="777240"/>
          </a:xfrm>
          <a:prstGeom prst="rect">
            <a:avLst/>
          </a:prstGeom>
          <a:noFill/>
          <a:ln/>
        </p:spPr>
        <p:txBody>
          <a:bodyPr wrap="square" lIns="0" tIns="0" rIns="0" bIns="0" rtlCol="0" anchor="ctr"/>
          <a:lstStyle/>
          <a:p>
            <a:pPr marL="0" indent="0">
              <a:buNone/>
            </a:pPr>
            <a:r>
              <a:rPr lang="en-US" sz="1400" b="1" dirty="0">
                <a:solidFill>
                  <a:srgbClr val="16232E"/>
                </a:solidFill>
                <a:latin typeface="Calibri" pitchFamily="34" charset="0"/>
                <a:ea typeface="Calibri" pitchFamily="34" charset="-122"/>
                <a:cs typeface="Calibri" pitchFamily="34" charset="-120"/>
              </a:rPr>
              <a:t>Role-Based Access</a:t>
            </a:r>
            <a:endParaRPr lang="en-US" sz="1400" dirty="0"/>
          </a:p>
        </p:txBody>
      </p:sp>
      <p:sp>
        <p:nvSpPr>
          <p:cNvPr id="16" name="Shape 11"/>
          <p:cNvSpPr/>
          <p:nvPr/>
        </p:nvSpPr>
        <p:spPr>
          <a:xfrm>
            <a:off x="640080" y="2651760"/>
            <a:ext cx="5257800" cy="777240"/>
          </a:xfrm>
          <a:prstGeom prst="roundRect">
            <a:avLst>
              <a:gd name="adj" fmla="val 11765"/>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17" name="Shape 12"/>
          <p:cNvSpPr/>
          <p:nvPr/>
        </p:nvSpPr>
        <p:spPr>
          <a:xfrm>
            <a:off x="822960" y="2807208"/>
            <a:ext cx="457200" cy="457200"/>
          </a:xfrm>
          <a:prstGeom prst="ellipse">
            <a:avLst/>
          </a:prstGeom>
          <a:solidFill>
            <a:srgbClr val="E7EEF5"/>
          </a:solidFill>
          <a:ln/>
        </p:spPr>
      </p:sp>
      <p:pic>
        <p:nvPicPr>
          <p:cNvPr id="18" name="Image 3" descr="preencoded.png"/>
          <p:cNvPicPr>
            <a:picLocks noChangeAspect="1"/>
          </p:cNvPicPr>
          <p:nvPr/>
        </p:nvPicPr>
        <p:blipFill>
          <a:blip r:embed="rId4"/>
          <a:stretch>
            <a:fillRect/>
          </a:stretch>
        </p:blipFill>
        <p:spPr>
          <a:xfrm>
            <a:off x="941832" y="2926080"/>
            <a:ext cx="219456" cy="219456"/>
          </a:xfrm>
          <a:prstGeom prst="rect">
            <a:avLst/>
          </a:prstGeom>
        </p:spPr>
      </p:pic>
      <p:sp>
        <p:nvSpPr>
          <p:cNvPr id="19" name="Text 13"/>
          <p:cNvSpPr/>
          <p:nvPr/>
        </p:nvSpPr>
        <p:spPr>
          <a:xfrm>
            <a:off x="1463040" y="2651760"/>
            <a:ext cx="4251960" cy="777240"/>
          </a:xfrm>
          <a:prstGeom prst="rect">
            <a:avLst/>
          </a:prstGeom>
          <a:noFill/>
          <a:ln/>
        </p:spPr>
        <p:txBody>
          <a:bodyPr wrap="square" lIns="0" tIns="0" rIns="0" bIns="0" rtlCol="0" anchor="ctr"/>
          <a:lstStyle/>
          <a:p>
            <a:pPr marL="0" indent="0">
              <a:buNone/>
            </a:pPr>
            <a:r>
              <a:rPr lang="en-US" sz="1400" b="1" dirty="0">
                <a:solidFill>
                  <a:srgbClr val="16232E"/>
                </a:solidFill>
                <a:latin typeface="Calibri" pitchFamily="34" charset="0"/>
                <a:ea typeface="Calibri" pitchFamily="34" charset="-122"/>
                <a:cs typeface="Calibri" pitchFamily="34" charset="-120"/>
              </a:rPr>
              <a:t>Dynamic CRUD</a:t>
            </a:r>
            <a:endParaRPr lang="en-US" sz="1400" dirty="0"/>
          </a:p>
        </p:txBody>
      </p:sp>
      <p:sp>
        <p:nvSpPr>
          <p:cNvPr id="20" name="Shape 14"/>
          <p:cNvSpPr/>
          <p:nvPr/>
        </p:nvSpPr>
        <p:spPr>
          <a:xfrm>
            <a:off x="6355080" y="2651760"/>
            <a:ext cx="5257800" cy="777240"/>
          </a:xfrm>
          <a:prstGeom prst="roundRect">
            <a:avLst>
              <a:gd name="adj" fmla="val 11765"/>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21" name="Shape 15"/>
          <p:cNvSpPr/>
          <p:nvPr/>
        </p:nvSpPr>
        <p:spPr>
          <a:xfrm>
            <a:off x="6537960" y="2807208"/>
            <a:ext cx="457200" cy="457200"/>
          </a:xfrm>
          <a:prstGeom prst="ellipse">
            <a:avLst/>
          </a:prstGeom>
          <a:solidFill>
            <a:srgbClr val="E7EEF5"/>
          </a:solidFill>
          <a:ln/>
        </p:spPr>
      </p:sp>
      <p:pic>
        <p:nvPicPr>
          <p:cNvPr id="22" name="Image 4" descr="preencoded.png"/>
          <p:cNvPicPr>
            <a:picLocks noChangeAspect="1"/>
          </p:cNvPicPr>
          <p:nvPr/>
        </p:nvPicPr>
        <p:blipFill>
          <a:blip r:embed="rId4"/>
          <a:stretch>
            <a:fillRect/>
          </a:stretch>
        </p:blipFill>
        <p:spPr>
          <a:xfrm>
            <a:off x="6656832" y="2926080"/>
            <a:ext cx="219456" cy="219456"/>
          </a:xfrm>
          <a:prstGeom prst="rect">
            <a:avLst/>
          </a:prstGeom>
        </p:spPr>
      </p:pic>
      <p:sp>
        <p:nvSpPr>
          <p:cNvPr id="23" name="Text 16"/>
          <p:cNvSpPr/>
          <p:nvPr/>
        </p:nvSpPr>
        <p:spPr>
          <a:xfrm>
            <a:off x="7178040" y="2651760"/>
            <a:ext cx="4251960" cy="777240"/>
          </a:xfrm>
          <a:prstGeom prst="rect">
            <a:avLst/>
          </a:prstGeom>
          <a:noFill/>
          <a:ln/>
        </p:spPr>
        <p:txBody>
          <a:bodyPr wrap="square" lIns="0" tIns="0" rIns="0" bIns="0" rtlCol="0" anchor="ctr"/>
          <a:lstStyle/>
          <a:p>
            <a:pPr marL="0" indent="0">
              <a:buNone/>
            </a:pPr>
            <a:r>
              <a:rPr lang="en-US" sz="1400" b="1" dirty="0">
                <a:solidFill>
                  <a:srgbClr val="16232E"/>
                </a:solidFill>
                <a:latin typeface="Calibri" pitchFamily="34" charset="0"/>
                <a:ea typeface="Calibri" pitchFamily="34" charset="-122"/>
                <a:cs typeface="Calibri" pitchFamily="34" charset="-120"/>
              </a:rPr>
              <a:t>User Management</a:t>
            </a:r>
            <a:endParaRPr lang="en-US" sz="1400" dirty="0"/>
          </a:p>
        </p:txBody>
      </p:sp>
      <p:sp>
        <p:nvSpPr>
          <p:cNvPr id="24" name="Shape 17"/>
          <p:cNvSpPr/>
          <p:nvPr/>
        </p:nvSpPr>
        <p:spPr>
          <a:xfrm>
            <a:off x="640080" y="3611880"/>
            <a:ext cx="5257800" cy="777240"/>
          </a:xfrm>
          <a:prstGeom prst="roundRect">
            <a:avLst>
              <a:gd name="adj" fmla="val 11765"/>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25" name="Shape 18"/>
          <p:cNvSpPr/>
          <p:nvPr/>
        </p:nvSpPr>
        <p:spPr>
          <a:xfrm>
            <a:off x="822960" y="3767328"/>
            <a:ext cx="457200" cy="457200"/>
          </a:xfrm>
          <a:prstGeom prst="ellipse">
            <a:avLst/>
          </a:prstGeom>
          <a:solidFill>
            <a:srgbClr val="E7EEF5"/>
          </a:solidFill>
          <a:ln/>
        </p:spPr>
      </p:sp>
      <p:pic>
        <p:nvPicPr>
          <p:cNvPr id="26" name="Image 5" descr="preencoded.png"/>
          <p:cNvPicPr>
            <a:picLocks noChangeAspect="1"/>
          </p:cNvPicPr>
          <p:nvPr/>
        </p:nvPicPr>
        <p:blipFill>
          <a:blip r:embed="rId4"/>
          <a:stretch>
            <a:fillRect/>
          </a:stretch>
        </p:blipFill>
        <p:spPr>
          <a:xfrm>
            <a:off x="941832" y="3886200"/>
            <a:ext cx="219456" cy="219456"/>
          </a:xfrm>
          <a:prstGeom prst="rect">
            <a:avLst/>
          </a:prstGeom>
        </p:spPr>
      </p:pic>
      <p:sp>
        <p:nvSpPr>
          <p:cNvPr id="27" name="Text 19"/>
          <p:cNvSpPr/>
          <p:nvPr/>
        </p:nvSpPr>
        <p:spPr>
          <a:xfrm>
            <a:off x="1463040" y="3611880"/>
            <a:ext cx="4251960" cy="777240"/>
          </a:xfrm>
          <a:prstGeom prst="rect">
            <a:avLst/>
          </a:prstGeom>
          <a:noFill/>
          <a:ln/>
        </p:spPr>
        <p:txBody>
          <a:bodyPr wrap="square" lIns="0" tIns="0" rIns="0" bIns="0" rtlCol="0" anchor="ctr"/>
          <a:lstStyle/>
          <a:p>
            <a:pPr marL="0" indent="0">
              <a:buNone/>
            </a:pPr>
            <a:r>
              <a:rPr lang="en-US" sz="1400" b="1" dirty="0">
                <a:solidFill>
                  <a:srgbClr val="16232E"/>
                </a:solidFill>
                <a:latin typeface="Calibri" pitchFamily="34" charset="0"/>
                <a:ea typeface="Calibri" pitchFamily="34" charset="-122"/>
                <a:cs typeface="Calibri" pitchFamily="34" charset="-120"/>
              </a:rPr>
              <a:t>Permission Management</a:t>
            </a:r>
            <a:endParaRPr lang="en-US" sz="1400" dirty="0"/>
          </a:p>
        </p:txBody>
      </p:sp>
      <p:sp>
        <p:nvSpPr>
          <p:cNvPr id="28" name="Shape 20"/>
          <p:cNvSpPr/>
          <p:nvPr/>
        </p:nvSpPr>
        <p:spPr>
          <a:xfrm>
            <a:off x="6355080" y="3611880"/>
            <a:ext cx="5257800" cy="777240"/>
          </a:xfrm>
          <a:prstGeom prst="roundRect">
            <a:avLst>
              <a:gd name="adj" fmla="val 11765"/>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29" name="Shape 21"/>
          <p:cNvSpPr/>
          <p:nvPr/>
        </p:nvSpPr>
        <p:spPr>
          <a:xfrm>
            <a:off x="6537960" y="3767328"/>
            <a:ext cx="457200" cy="457200"/>
          </a:xfrm>
          <a:prstGeom prst="ellipse">
            <a:avLst/>
          </a:prstGeom>
          <a:solidFill>
            <a:srgbClr val="E7EEF5"/>
          </a:solidFill>
          <a:ln/>
        </p:spPr>
      </p:sp>
      <p:pic>
        <p:nvPicPr>
          <p:cNvPr id="30" name="Image 6" descr="preencoded.png"/>
          <p:cNvPicPr>
            <a:picLocks noChangeAspect="1"/>
          </p:cNvPicPr>
          <p:nvPr/>
        </p:nvPicPr>
        <p:blipFill>
          <a:blip r:embed="rId4"/>
          <a:stretch>
            <a:fillRect/>
          </a:stretch>
        </p:blipFill>
        <p:spPr>
          <a:xfrm>
            <a:off x="6656832" y="3886200"/>
            <a:ext cx="219456" cy="219456"/>
          </a:xfrm>
          <a:prstGeom prst="rect">
            <a:avLst/>
          </a:prstGeom>
        </p:spPr>
      </p:pic>
      <p:sp>
        <p:nvSpPr>
          <p:cNvPr id="31" name="Text 22"/>
          <p:cNvSpPr/>
          <p:nvPr/>
        </p:nvSpPr>
        <p:spPr>
          <a:xfrm>
            <a:off x="7178040" y="3611880"/>
            <a:ext cx="4251960" cy="777240"/>
          </a:xfrm>
          <a:prstGeom prst="rect">
            <a:avLst/>
          </a:prstGeom>
          <a:noFill/>
          <a:ln/>
        </p:spPr>
        <p:txBody>
          <a:bodyPr wrap="square" lIns="0" tIns="0" rIns="0" bIns="0" rtlCol="0" anchor="ctr"/>
          <a:lstStyle/>
          <a:p>
            <a:pPr marL="0" indent="0">
              <a:buNone/>
            </a:pPr>
            <a:r>
              <a:rPr lang="en-US" sz="1400" b="1" dirty="0">
                <a:solidFill>
                  <a:srgbClr val="16232E"/>
                </a:solidFill>
                <a:latin typeface="Calibri" pitchFamily="34" charset="0"/>
                <a:ea typeface="Calibri" pitchFamily="34" charset="-122"/>
                <a:cs typeface="Calibri" pitchFamily="34" charset="-120"/>
              </a:rPr>
              <a:t>Audit Logs</a:t>
            </a:r>
            <a:endParaRPr lang="en-US" sz="1400" dirty="0"/>
          </a:p>
        </p:txBody>
      </p:sp>
      <p:sp>
        <p:nvSpPr>
          <p:cNvPr id="32" name="Shape 23"/>
          <p:cNvSpPr/>
          <p:nvPr/>
        </p:nvSpPr>
        <p:spPr>
          <a:xfrm>
            <a:off x="640080" y="4572000"/>
            <a:ext cx="5257800" cy="777240"/>
          </a:xfrm>
          <a:prstGeom prst="roundRect">
            <a:avLst>
              <a:gd name="adj" fmla="val 11765"/>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33" name="Shape 24"/>
          <p:cNvSpPr/>
          <p:nvPr/>
        </p:nvSpPr>
        <p:spPr>
          <a:xfrm>
            <a:off x="822960" y="4727448"/>
            <a:ext cx="457200" cy="457200"/>
          </a:xfrm>
          <a:prstGeom prst="ellipse">
            <a:avLst/>
          </a:prstGeom>
          <a:solidFill>
            <a:srgbClr val="E7EEF5"/>
          </a:solidFill>
          <a:ln/>
        </p:spPr>
      </p:sp>
      <p:pic>
        <p:nvPicPr>
          <p:cNvPr id="34" name="Image 7" descr="preencoded.png"/>
          <p:cNvPicPr>
            <a:picLocks noChangeAspect="1"/>
          </p:cNvPicPr>
          <p:nvPr/>
        </p:nvPicPr>
        <p:blipFill>
          <a:blip r:embed="rId4"/>
          <a:stretch>
            <a:fillRect/>
          </a:stretch>
        </p:blipFill>
        <p:spPr>
          <a:xfrm>
            <a:off x="941832" y="4846320"/>
            <a:ext cx="219456" cy="219456"/>
          </a:xfrm>
          <a:prstGeom prst="rect">
            <a:avLst/>
          </a:prstGeom>
        </p:spPr>
      </p:pic>
      <p:sp>
        <p:nvSpPr>
          <p:cNvPr id="35" name="Text 25"/>
          <p:cNvSpPr/>
          <p:nvPr/>
        </p:nvSpPr>
        <p:spPr>
          <a:xfrm>
            <a:off x="1463040" y="4572000"/>
            <a:ext cx="4251960" cy="777240"/>
          </a:xfrm>
          <a:prstGeom prst="rect">
            <a:avLst/>
          </a:prstGeom>
          <a:noFill/>
          <a:ln/>
        </p:spPr>
        <p:txBody>
          <a:bodyPr wrap="square" lIns="0" tIns="0" rIns="0" bIns="0" rtlCol="0" anchor="ctr"/>
          <a:lstStyle/>
          <a:p>
            <a:pPr marL="0" indent="0">
              <a:buNone/>
            </a:pPr>
            <a:r>
              <a:rPr lang="en-US" sz="1400" b="1" dirty="0">
                <a:solidFill>
                  <a:srgbClr val="16232E"/>
                </a:solidFill>
                <a:latin typeface="Calibri" pitchFamily="34" charset="0"/>
                <a:ea typeface="Calibri" pitchFamily="34" charset="-122"/>
                <a:cs typeface="Calibri" pitchFamily="34" charset="-120"/>
              </a:rPr>
              <a:t>AI Data Analysis using Natural Language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5</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Objectives</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What we set out to build</a:t>
            </a:r>
            <a:endParaRPr lang="en-US" sz="1300" dirty="0"/>
          </a:p>
        </p:txBody>
      </p:sp>
      <p:sp>
        <p:nvSpPr>
          <p:cNvPr id="7" name="Shape 4"/>
          <p:cNvSpPr/>
          <p:nvPr/>
        </p:nvSpPr>
        <p:spPr>
          <a:xfrm>
            <a:off x="548640" y="1371600"/>
            <a:ext cx="502920" cy="41148"/>
          </a:xfrm>
          <a:prstGeom prst="rect">
            <a:avLst/>
          </a:prstGeom>
          <a:solidFill>
            <a:srgbClr val="F15B40"/>
          </a:solidFill>
          <a:ln/>
        </p:spPr>
      </p:sp>
      <p:sp>
        <p:nvSpPr>
          <p:cNvPr id="8" name="Shape 5"/>
          <p:cNvSpPr/>
          <p:nvPr/>
        </p:nvSpPr>
        <p:spPr>
          <a:xfrm>
            <a:off x="640080" y="1691640"/>
            <a:ext cx="365760" cy="365760"/>
          </a:xfrm>
          <a:prstGeom prst="ellipse">
            <a:avLst/>
          </a:prstGeom>
          <a:solidFill>
            <a:srgbClr val="E7EEF5"/>
          </a:solidFill>
          <a:ln/>
        </p:spPr>
      </p:sp>
      <p:pic>
        <p:nvPicPr>
          <p:cNvPr id="9" name="Image 1" descr="preencoded.png"/>
          <p:cNvPicPr>
            <a:picLocks noChangeAspect="1"/>
          </p:cNvPicPr>
          <p:nvPr/>
        </p:nvPicPr>
        <p:blipFill>
          <a:blip r:embed="rId4"/>
          <a:stretch>
            <a:fillRect/>
          </a:stretch>
        </p:blipFill>
        <p:spPr>
          <a:xfrm>
            <a:off x="735178" y="1786738"/>
            <a:ext cx="175565" cy="175565"/>
          </a:xfrm>
          <a:prstGeom prst="rect">
            <a:avLst/>
          </a:prstGeom>
        </p:spPr>
      </p:pic>
      <p:sp>
        <p:nvSpPr>
          <p:cNvPr id="10" name="Text 6"/>
          <p:cNvSpPr/>
          <p:nvPr/>
        </p:nvSpPr>
        <p:spPr>
          <a:xfrm>
            <a:off x="1170432" y="1664208"/>
            <a:ext cx="10259568" cy="713232"/>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Build a secure database management portal</a:t>
            </a:r>
            <a:endParaRPr lang="en-US" sz="1500" dirty="0"/>
          </a:p>
        </p:txBody>
      </p:sp>
      <p:sp>
        <p:nvSpPr>
          <p:cNvPr id="11" name="Shape 7"/>
          <p:cNvSpPr/>
          <p:nvPr/>
        </p:nvSpPr>
        <p:spPr>
          <a:xfrm>
            <a:off x="640080" y="2404872"/>
            <a:ext cx="365760" cy="365760"/>
          </a:xfrm>
          <a:prstGeom prst="ellipse">
            <a:avLst/>
          </a:prstGeom>
          <a:solidFill>
            <a:srgbClr val="E7EEF5"/>
          </a:solidFill>
          <a:ln/>
        </p:spPr>
      </p:sp>
      <p:pic>
        <p:nvPicPr>
          <p:cNvPr id="12" name="Image 2" descr="preencoded.png"/>
          <p:cNvPicPr>
            <a:picLocks noChangeAspect="1"/>
          </p:cNvPicPr>
          <p:nvPr/>
        </p:nvPicPr>
        <p:blipFill>
          <a:blip r:embed="rId4"/>
          <a:stretch>
            <a:fillRect/>
          </a:stretch>
        </p:blipFill>
        <p:spPr>
          <a:xfrm>
            <a:off x="735178" y="2499970"/>
            <a:ext cx="175565" cy="175565"/>
          </a:xfrm>
          <a:prstGeom prst="rect">
            <a:avLst/>
          </a:prstGeom>
        </p:spPr>
      </p:pic>
      <p:sp>
        <p:nvSpPr>
          <p:cNvPr id="13" name="Text 8"/>
          <p:cNvSpPr/>
          <p:nvPr/>
        </p:nvSpPr>
        <p:spPr>
          <a:xfrm>
            <a:off x="1170432" y="2377440"/>
            <a:ext cx="10259568" cy="713232"/>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Implement Role-Based Access Control</a:t>
            </a:r>
            <a:endParaRPr lang="en-US" sz="1500" dirty="0"/>
          </a:p>
        </p:txBody>
      </p:sp>
      <p:sp>
        <p:nvSpPr>
          <p:cNvPr id="14" name="Shape 9"/>
          <p:cNvSpPr/>
          <p:nvPr/>
        </p:nvSpPr>
        <p:spPr>
          <a:xfrm>
            <a:off x="640080" y="3118104"/>
            <a:ext cx="365760" cy="365760"/>
          </a:xfrm>
          <a:prstGeom prst="ellipse">
            <a:avLst/>
          </a:prstGeom>
          <a:solidFill>
            <a:srgbClr val="E7EEF5"/>
          </a:solidFill>
          <a:ln/>
        </p:spPr>
      </p:sp>
      <p:pic>
        <p:nvPicPr>
          <p:cNvPr id="15" name="Image 3" descr="preencoded.png"/>
          <p:cNvPicPr>
            <a:picLocks noChangeAspect="1"/>
          </p:cNvPicPr>
          <p:nvPr/>
        </p:nvPicPr>
        <p:blipFill>
          <a:blip r:embed="rId4"/>
          <a:stretch>
            <a:fillRect/>
          </a:stretch>
        </p:blipFill>
        <p:spPr>
          <a:xfrm>
            <a:off x="735178" y="3213202"/>
            <a:ext cx="175565" cy="175565"/>
          </a:xfrm>
          <a:prstGeom prst="rect">
            <a:avLst/>
          </a:prstGeom>
        </p:spPr>
      </p:pic>
      <p:sp>
        <p:nvSpPr>
          <p:cNvPr id="16" name="Text 10"/>
          <p:cNvSpPr/>
          <p:nvPr/>
        </p:nvSpPr>
        <p:spPr>
          <a:xfrm>
            <a:off x="1170432" y="3090672"/>
            <a:ext cx="10259568" cy="713232"/>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Create generic CRUD operations</a:t>
            </a:r>
            <a:endParaRPr lang="en-US" sz="1500" dirty="0"/>
          </a:p>
        </p:txBody>
      </p:sp>
      <p:sp>
        <p:nvSpPr>
          <p:cNvPr id="17" name="Shape 11"/>
          <p:cNvSpPr/>
          <p:nvPr/>
        </p:nvSpPr>
        <p:spPr>
          <a:xfrm>
            <a:off x="640080" y="3831336"/>
            <a:ext cx="365760" cy="365760"/>
          </a:xfrm>
          <a:prstGeom prst="ellipse">
            <a:avLst/>
          </a:prstGeom>
          <a:solidFill>
            <a:srgbClr val="E7EEF5"/>
          </a:solidFill>
          <a:ln/>
        </p:spPr>
      </p:sp>
      <p:pic>
        <p:nvPicPr>
          <p:cNvPr id="18" name="Image 4" descr="preencoded.png"/>
          <p:cNvPicPr>
            <a:picLocks noChangeAspect="1"/>
          </p:cNvPicPr>
          <p:nvPr/>
        </p:nvPicPr>
        <p:blipFill>
          <a:blip r:embed="rId4"/>
          <a:stretch>
            <a:fillRect/>
          </a:stretch>
        </p:blipFill>
        <p:spPr>
          <a:xfrm>
            <a:off x="735178" y="3926434"/>
            <a:ext cx="175565" cy="175565"/>
          </a:xfrm>
          <a:prstGeom prst="rect">
            <a:avLst/>
          </a:prstGeom>
        </p:spPr>
      </p:pic>
      <p:sp>
        <p:nvSpPr>
          <p:cNvPr id="19" name="Text 12"/>
          <p:cNvSpPr/>
          <p:nvPr/>
        </p:nvSpPr>
        <p:spPr>
          <a:xfrm>
            <a:off x="1170432" y="3803904"/>
            <a:ext cx="10259568" cy="713232"/>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Dynamically reflect database schema</a:t>
            </a:r>
            <a:endParaRPr lang="en-US" sz="1500" dirty="0"/>
          </a:p>
        </p:txBody>
      </p:sp>
      <p:sp>
        <p:nvSpPr>
          <p:cNvPr id="20" name="Shape 13"/>
          <p:cNvSpPr/>
          <p:nvPr/>
        </p:nvSpPr>
        <p:spPr>
          <a:xfrm>
            <a:off x="640080" y="4544568"/>
            <a:ext cx="365760" cy="365760"/>
          </a:xfrm>
          <a:prstGeom prst="ellipse">
            <a:avLst/>
          </a:prstGeom>
          <a:solidFill>
            <a:srgbClr val="E7EEF5"/>
          </a:solidFill>
          <a:ln/>
        </p:spPr>
      </p:sp>
      <p:pic>
        <p:nvPicPr>
          <p:cNvPr id="21" name="Image 5" descr="preencoded.png"/>
          <p:cNvPicPr>
            <a:picLocks noChangeAspect="1"/>
          </p:cNvPicPr>
          <p:nvPr/>
        </p:nvPicPr>
        <p:blipFill>
          <a:blip r:embed="rId4"/>
          <a:stretch>
            <a:fillRect/>
          </a:stretch>
        </p:blipFill>
        <p:spPr>
          <a:xfrm>
            <a:off x="735178" y="4639666"/>
            <a:ext cx="175565" cy="175565"/>
          </a:xfrm>
          <a:prstGeom prst="rect">
            <a:avLst/>
          </a:prstGeom>
        </p:spPr>
      </p:pic>
      <p:sp>
        <p:nvSpPr>
          <p:cNvPr id="22" name="Text 14"/>
          <p:cNvSpPr/>
          <p:nvPr/>
        </p:nvSpPr>
        <p:spPr>
          <a:xfrm>
            <a:off x="1170432" y="4517136"/>
            <a:ext cx="10259568" cy="713232"/>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Track every database activity</a:t>
            </a:r>
            <a:endParaRPr lang="en-US" sz="1500" dirty="0"/>
          </a:p>
        </p:txBody>
      </p:sp>
      <p:sp>
        <p:nvSpPr>
          <p:cNvPr id="23" name="Shape 15"/>
          <p:cNvSpPr/>
          <p:nvPr/>
        </p:nvSpPr>
        <p:spPr>
          <a:xfrm>
            <a:off x="640080" y="5257800"/>
            <a:ext cx="365760" cy="365760"/>
          </a:xfrm>
          <a:prstGeom prst="ellipse">
            <a:avLst/>
          </a:prstGeom>
          <a:solidFill>
            <a:srgbClr val="E7EEF5"/>
          </a:solidFill>
          <a:ln/>
        </p:spPr>
      </p:sp>
      <p:pic>
        <p:nvPicPr>
          <p:cNvPr id="24" name="Image 6" descr="preencoded.png"/>
          <p:cNvPicPr>
            <a:picLocks noChangeAspect="1"/>
          </p:cNvPicPr>
          <p:nvPr/>
        </p:nvPicPr>
        <p:blipFill>
          <a:blip r:embed="rId4"/>
          <a:stretch>
            <a:fillRect/>
          </a:stretch>
        </p:blipFill>
        <p:spPr>
          <a:xfrm>
            <a:off x="735178" y="5352898"/>
            <a:ext cx="175565" cy="175565"/>
          </a:xfrm>
          <a:prstGeom prst="rect">
            <a:avLst/>
          </a:prstGeom>
        </p:spPr>
      </p:pic>
      <p:sp>
        <p:nvSpPr>
          <p:cNvPr id="25" name="Text 16"/>
          <p:cNvSpPr/>
          <p:nvPr/>
        </p:nvSpPr>
        <p:spPr>
          <a:xfrm>
            <a:off x="1170432" y="5230368"/>
            <a:ext cx="10259568" cy="713232"/>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Integrate AI for data analysis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6</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Technology Stack</a:t>
            </a:r>
            <a:endParaRPr lang="en-US" sz="2800" dirty="0"/>
          </a:p>
        </p:txBody>
      </p:sp>
      <p:sp>
        <p:nvSpPr>
          <p:cNvPr id="6" name="Shape 3"/>
          <p:cNvSpPr/>
          <p:nvPr/>
        </p:nvSpPr>
        <p:spPr>
          <a:xfrm>
            <a:off x="548640" y="1051560"/>
            <a:ext cx="502920" cy="41148"/>
          </a:xfrm>
          <a:prstGeom prst="rect">
            <a:avLst/>
          </a:prstGeom>
          <a:solidFill>
            <a:srgbClr val="F15B40"/>
          </a:solidFill>
          <a:ln/>
        </p:spPr>
      </p:sp>
      <p:sp>
        <p:nvSpPr>
          <p:cNvPr id="7" name="Shape 4"/>
          <p:cNvSpPr/>
          <p:nvPr/>
        </p:nvSpPr>
        <p:spPr>
          <a:xfrm>
            <a:off x="548640" y="1417320"/>
            <a:ext cx="3611880" cy="1325880"/>
          </a:xfrm>
          <a:prstGeom prst="roundRect">
            <a:avLst>
              <a:gd name="adj" fmla="val 5517"/>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8" name="Shape 5"/>
          <p:cNvSpPr/>
          <p:nvPr/>
        </p:nvSpPr>
        <p:spPr>
          <a:xfrm>
            <a:off x="777240" y="1737360"/>
            <a:ext cx="502920" cy="502920"/>
          </a:xfrm>
          <a:prstGeom prst="ellipse">
            <a:avLst/>
          </a:prstGeom>
          <a:solidFill>
            <a:srgbClr val="E7EEF5"/>
          </a:solidFill>
          <a:ln/>
        </p:spPr>
      </p:sp>
      <p:pic>
        <p:nvPicPr>
          <p:cNvPr id="9" name="Image 1" descr="preencoded.png"/>
          <p:cNvPicPr>
            <a:picLocks noChangeAspect="1"/>
          </p:cNvPicPr>
          <p:nvPr/>
        </p:nvPicPr>
        <p:blipFill>
          <a:blip r:embed="rId4"/>
          <a:stretch>
            <a:fillRect/>
          </a:stretch>
        </p:blipFill>
        <p:spPr>
          <a:xfrm>
            <a:off x="907999" y="1868119"/>
            <a:ext cx="241402" cy="241402"/>
          </a:xfrm>
          <a:prstGeom prst="rect">
            <a:avLst/>
          </a:prstGeom>
        </p:spPr>
      </p:pic>
      <p:sp>
        <p:nvSpPr>
          <p:cNvPr id="10" name="Text 6"/>
          <p:cNvSpPr/>
          <p:nvPr/>
        </p:nvSpPr>
        <p:spPr>
          <a:xfrm>
            <a:off x="1463040" y="1645920"/>
            <a:ext cx="2560320" cy="365760"/>
          </a:xfrm>
          <a:prstGeom prst="rect">
            <a:avLst/>
          </a:prstGeom>
          <a:noFill/>
          <a:ln/>
        </p:spPr>
        <p:txBody>
          <a:bodyPr wrap="square" lIns="0" tIns="0" rIns="0" bIns="0" rtlCol="0" anchor="ctr"/>
          <a:lstStyle/>
          <a:p>
            <a:pPr marL="0" indent="0">
              <a:buNone/>
            </a:pPr>
            <a:r>
              <a:rPr lang="en-US" sz="1450" b="1" dirty="0">
                <a:solidFill>
                  <a:srgbClr val="16232E"/>
                </a:solidFill>
                <a:latin typeface="Calibri" pitchFamily="34" charset="0"/>
                <a:ea typeface="Calibri" pitchFamily="34" charset="-122"/>
                <a:cs typeface="Calibri" pitchFamily="34" charset="-120"/>
              </a:rPr>
              <a:t>Python 3.11</a:t>
            </a:r>
            <a:endParaRPr lang="en-US" sz="1450" dirty="0"/>
          </a:p>
        </p:txBody>
      </p:sp>
      <p:sp>
        <p:nvSpPr>
          <p:cNvPr id="11" name="Text 7"/>
          <p:cNvSpPr/>
          <p:nvPr/>
        </p:nvSpPr>
        <p:spPr>
          <a:xfrm>
            <a:off x="1463040" y="1993392"/>
            <a:ext cx="2560320" cy="365760"/>
          </a:xfrm>
          <a:prstGeom prst="rect">
            <a:avLst/>
          </a:prstGeom>
          <a:noFill/>
          <a:ln/>
        </p:spPr>
        <p:txBody>
          <a:bodyPr wrap="square" lIns="0" tIns="0" rIns="0" bIns="0" rtlCol="0" anchor="ctr"/>
          <a:lstStyle/>
          <a:p>
            <a:pPr marL="0" indent="0">
              <a:buNone/>
            </a:pPr>
            <a:r>
              <a:rPr lang="en-US" sz="1150" dirty="0">
                <a:solidFill>
                  <a:srgbClr val="5A6B7A"/>
                </a:solidFill>
                <a:latin typeface="Calibri" pitchFamily="34" charset="0"/>
                <a:ea typeface="Calibri" pitchFamily="34" charset="-122"/>
                <a:cs typeface="Calibri" pitchFamily="34" charset="-120"/>
              </a:rPr>
              <a:t>Backend</a:t>
            </a:r>
            <a:endParaRPr lang="en-US" sz="1150" dirty="0"/>
          </a:p>
        </p:txBody>
      </p:sp>
      <p:sp>
        <p:nvSpPr>
          <p:cNvPr id="12" name="Shape 8"/>
          <p:cNvSpPr/>
          <p:nvPr/>
        </p:nvSpPr>
        <p:spPr>
          <a:xfrm>
            <a:off x="4343400" y="1417320"/>
            <a:ext cx="3611880" cy="1325880"/>
          </a:xfrm>
          <a:prstGeom prst="roundRect">
            <a:avLst>
              <a:gd name="adj" fmla="val 5517"/>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13" name="Shape 9"/>
          <p:cNvSpPr/>
          <p:nvPr/>
        </p:nvSpPr>
        <p:spPr>
          <a:xfrm>
            <a:off x="4572000" y="1737360"/>
            <a:ext cx="502920" cy="502920"/>
          </a:xfrm>
          <a:prstGeom prst="ellipse">
            <a:avLst/>
          </a:prstGeom>
          <a:solidFill>
            <a:srgbClr val="E7EEF5"/>
          </a:solidFill>
          <a:ln/>
        </p:spPr>
      </p:sp>
      <p:pic>
        <p:nvPicPr>
          <p:cNvPr id="14" name="Image 2" descr="preencoded.png"/>
          <p:cNvPicPr>
            <a:picLocks noChangeAspect="1"/>
          </p:cNvPicPr>
          <p:nvPr/>
        </p:nvPicPr>
        <p:blipFill>
          <a:blip r:embed="rId4"/>
          <a:stretch>
            <a:fillRect/>
          </a:stretch>
        </p:blipFill>
        <p:spPr>
          <a:xfrm>
            <a:off x="4702759" y="1868119"/>
            <a:ext cx="241402" cy="241402"/>
          </a:xfrm>
          <a:prstGeom prst="rect">
            <a:avLst/>
          </a:prstGeom>
        </p:spPr>
      </p:pic>
      <p:sp>
        <p:nvSpPr>
          <p:cNvPr id="15" name="Text 10"/>
          <p:cNvSpPr/>
          <p:nvPr/>
        </p:nvSpPr>
        <p:spPr>
          <a:xfrm>
            <a:off x="5257800" y="1645920"/>
            <a:ext cx="2560320" cy="365760"/>
          </a:xfrm>
          <a:prstGeom prst="rect">
            <a:avLst/>
          </a:prstGeom>
          <a:noFill/>
          <a:ln/>
        </p:spPr>
        <p:txBody>
          <a:bodyPr wrap="square" lIns="0" tIns="0" rIns="0" bIns="0" rtlCol="0" anchor="ctr"/>
          <a:lstStyle/>
          <a:p>
            <a:pPr marL="0" indent="0">
              <a:buNone/>
            </a:pPr>
            <a:r>
              <a:rPr lang="en-US" sz="1450" b="1" dirty="0">
                <a:solidFill>
                  <a:srgbClr val="16232E"/>
                </a:solidFill>
                <a:latin typeface="Calibri" pitchFamily="34" charset="0"/>
                <a:ea typeface="Calibri" pitchFamily="34" charset="-122"/>
                <a:cs typeface="Calibri" pitchFamily="34" charset="-120"/>
              </a:rPr>
              <a:t>Streamlit</a:t>
            </a:r>
            <a:endParaRPr lang="en-US" sz="1450" dirty="0"/>
          </a:p>
        </p:txBody>
      </p:sp>
      <p:sp>
        <p:nvSpPr>
          <p:cNvPr id="16" name="Text 11"/>
          <p:cNvSpPr/>
          <p:nvPr/>
        </p:nvSpPr>
        <p:spPr>
          <a:xfrm>
            <a:off x="5257800" y="1993392"/>
            <a:ext cx="2560320" cy="365760"/>
          </a:xfrm>
          <a:prstGeom prst="rect">
            <a:avLst/>
          </a:prstGeom>
          <a:noFill/>
          <a:ln/>
        </p:spPr>
        <p:txBody>
          <a:bodyPr wrap="square" lIns="0" tIns="0" rIns="0" bIns="0" rtlCol="0" anchor="ctr"/>
          <a:lstStyle/>
          <a:p>
            <a:pPr marL="0" indent="0">
              <a:buNone/>
            </a:pPr>
            <a:r>
              <a:rPr lang="en-US" sz="1150" dirty="0">
                <a:solidFill>
                  <a:srgbClr val="5A6B7A"/>
                </a:solidFill>
                <a:latin typeface="Calibri" pitchFamily="34" charset="0"/>
                <a:ea typeface="Calibri" pitchFamily="34" charset="-122"/>
                <a:cs typeface="Calibri" pitchFamily="34" charset="-120"/>
              </a:rPr>
              <a:t>Web Interface</a:t>
            </a:r>
            <a:endParaRPr lang="en-US" sz="1150" dirty="0"/>
          </a:p>
        </p:txBody>
      </p:sp>
      <p:sp>
        <p:nvSpPr>
          <p:cNvPr id="17" name="Shape 12"/>
          <p:cNvSpPr/>
          <p:nvPr/>
        </p:nvSpPr>
        <p:spPr>
          <a:xfrm>
            <a:off x="8138160" y="1417320"/>
            <a:ext cx="3611880" cy="1325880"/>
          </a:xfrm>
          <a:prstGeom prst="roundRect">
            <a:avLst>
              <a:gd name="adj" fmla="val 5517"/>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18" name="Shape 13"/>
          <p:cNvSpPr/>
          <p:nvPr/>
        </p:nvSpPr>
        <p:spPr>
          <a:xfrm>
            <a:off x="8366760" y="1737360"/>
            <a:ext cx="502920" cy="502920"/>
          </a:xfrm>
          <a:prstGeom prst="ellipse">
            <a:avLst/>
          </a:prstGeom>
          <a:solidFill>
            <a:srgbClr val="E7EEF5"/>
          </a:solidFill>
          <a:ln/>
        </p:spPr>
      </p:sp>
      <p:pic>
        <p:nvPicPr>
          <p:cNvPr id="19" name="Image 3" descr="preencoded.png"/>
          <p:cNvPicPr>
            <a:picLocks noChangeAspect="1"/>
          </p:cNvPicPr>
          <p:nvPr/>
        </p:nvPicPr>
        <p:blipFill>
          <a:blip r:embed="rId4"/>
          <a:stretch>
            <a:fillRect/>
          </a:stretch>
        </p:blipFill>
        <p:spPr>
          <a:xfrm>
            <a:off x="8497519" y="1868119"/>
            <a:ext cx="241402" cy="241402"/>
          </a:xfrm>
          <a:prstGeom prst="rect">
            <a:avLst/>
          </a:prstGeom>
        </p:spPr>
      </p:pic>
      <p:sp>
        <p:nvSpPr>
          <p:cNvPr id="20" name="Text 14"/>
          <p:cNvSpPr/>
          <p:nvPr/>
        </p:nvSpPr>
        <p:spPr>
          <a:xfrm>
            <a:off x="9052560" y="1645920"/>
            <a:ext cx="2560320" cy="365760"/>
          </a:xfrm>
          <a:prstGeom prst="rect">
            <a:avLst/>
          </a:prstGeom>
          <a:noFill/>
          <a:ln/>
        </p:spPr>
        <p:txBody>
          <a:bodyPr wrap="square" lIns="0" tIns="0" rIns="0" bIns="0" rtlCol="0" anchor="ctr"/>
          <a:lstStyle/>
          <a:p>
            <a:pPr marL="0" indent="0">
              <a:buNone/>
            </a:pPr>
            <a:r>
              <a:rPr lang="en-US" sz="1450" b="1" dirty="0">
                <a:solidFill>
                  <a:srgbClr val="16232E"/>
                </a:solidFill>
                <a:latin typeface="Calibri" pitchFamily="34" charset="0"/>
                <a:ea typeface="Calibri" pitchFamily="34" charset="-122"/>
                <a:cs typeface="Calibri" pitchFamily="34" charset="-120"/>
              </a:rPr>
              <a:t>SQLAlchemy ORM</a:t>
            </a:r>
            <a:endParaRPr lang="en-US" sz="1450" dirty="0"/>
          </a:p>
        </p:txBody>
      </p:sp>
      <p:sp>
        <p:nvSpPr>
          <p:cNvPr id="21" name="Text 15"/>
          <p:cNvSpPr/>
          <p:nvPr/>
        </p:nvSpPr>
        <p:spPr>
          <a:xfrm>
            <a:off x="9052560" y="1993392"/>
            <a:ext cx="2560320" cy="365760"/>
          </a:xfrm>
          <a:prstGeom prst="rect">
            <a:avLst/>
          </a:prstGeom>
          <a:noFill/>
          <a:ln/>
        </p:spPr>
        <p:txBody>
          <a:bodyPr wrap="square" lIns="0" tIns="0" rIns="0" bIns="0" rtlCol="0" anchor="ctr"/>
          <a:lstStyle/>
          <a:p>
            <a:pPr marL="0" indent="0">
              <a:buNone/>
            </a:pPr>
            <a:r>
              <a:rPr lang="en-US" sz="1150" dirty="0">
                <a:solidFill>
                  <a:srgbClr val="5A6B7A"/>
                </a:solidFill>
                <a:latin typeface="Calibri" pitchFamily="34" charset="0"/>
                <a:ea typeface="Calibri" pitchFamily="34" charset="-122"/>
                <a:cs typeface="Calibri" pitchFamily="34" charset="-120"/>
              </a:rPr>
              <a:t>ORM Layer</a:t>
            </a:r>
            <a:endParaRPr lang="en-US" sz="1150" dirty="0"/>
          </a:p>
        </p:txBody>
      </p:sp>
      <p:sp>
        <p:nvSpPr>
          <p:cNvPr id="22" name="Shape 16"/>
          <p:cNvSpPr/>
          <p:nvPr/>
        </p:nvSpPr>
        <p:spPr>
          <a:xfrm>
            <a:off x="548640" y="2944368"/>
            <a:ext cx="3611880" cy="1325880"/>
          </a:xfrm>
          <a:prstGeom prst="roundRect">
            <a:avLst>
              <a:gd name="adj" fmla="val 5517"/>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23" name="Shape 17"/>
          <p:cNvSpPr/>
          <p:nvPr/>
        </p:nvSpPr>
        <p:spPr>
          <a:xfrm>
            <a:off x="777240" y="3264408"/>
            <a:ext cx="502920" cy="502920"/>
          </a:xfrm>
          <a:prstGeom prst="ellipse">
            <a:avLst/>
          </a:prstGeom>
          <a:solidFill>
            <a:srgbClr val="E7EEF5"/>
          </a:solidFill>
          <a:ln/>
        </p:spPr>
      </p:sp>
      <p:pic>
        <p:nvPicPr>
          <p:cNvPr id="24" name="Image 4" descr="preencoded.png"/>
          <p:cNvPicPr>
            <a:picLocks noChangeAspect="1"/>
          </p:cNvPicPr>
          <p:nvPr/>
        </p:nvPicPr>
        <p:blipFill>
          <a:blip r:embed="rId4"/>
          <a:stretch>
            <a:fillRect/>
          </a:stretch>
        </p:blipFill>
        <p:spPr>
          <a:xfrm>
            <a:off x="907999" y="3395167"/>
            <a:ext cx="241402" cy="241402"/>
          </a:xfrm>
          <a:prstGeom prst="rect">
            <a:avLst/>
          </a:prstGeom>
        </p:spPr>
      </p:pic>
      <p:sp>
        <p:nvSpPr>
          <p:cNvPr id="25" name="Text 18"/>
          <p:cNvSpPr/>
          <p:nvPr/>
        </p:nvSpPr>
        <p:spPr>
          <a:xfrm>
            <a:off x="1463040" y="3172968"/>
            <a:ext cx="2560320" cy="365760"/>
          </a:xfrm>
          <a:prstGeom prst="rect">
            <a:avLst/>
          </a:prstGeom>
          <a:noFill/>
          <a:ln/>
        </p:spPr>
        <p:txBody>
          <a:bodyPr wrap="square" lIns="0" tIns="0" rIns="0" bIns="0" rtlCol="0" anchor="ctr"/>
          <a:lstStyle/>
          <a:p>
            <a:pPr marL="0" indent="0">
              <a:buNone/>
            </a:pPr>
            <a:r>
              <a:rPr lang="en-US" sz="1450" b="1" dirty="0">
                <a:solidFill>
                  <a:srgbClr val="16232E"/>
                </a:solidFill>
                <a:latin typeface="Calibri" pitchFamily="34" charset="0"/>
                <a:ea typeface="Calibri" pitchFamily="34" charset="-122"/>
                <a:cs typeface="Calibri" pitchFamily="34" charset="-120"/>
              </a:rPr>
              <a:t>MySQL</a:t>
            </a:r>
            <a:endParaRPr lang="en-US" sz="1450" dirty="0"/>
          </a:p>
        </p:txBody>
      </p:sp>
      <p:sp>
        <p:nvSpPr>
          <p:cNvPr id="26" name="Text 19"/>
          <p:cNvSpPr/>
          <p:nvPr/>
        </p:nvSpPr>
        <p:spPr>
          <a:xfrm>
            <a:off x="1463040" y="3520440"/>
            <a:ext cx="2560320" cy="365760"/>
          </a:xfrm>
          <a:prstGeom prst="rect">
            <a:avLst/>
          </a:prstGeom>
          <a:noFill/>
          <a:ln/>
        </p:spPr>
        <p:txBody>
          <a:bodyPr wrap="square" lIns="0" tIns="0" rIns="0" bIns="0" rtlCol="0" anchor="ctr"/>
          <a:lstStyle/>
          <a:p>
            <a:pPr marL="0" indent="0">
              <a:buNone/>
            </a:pPr>
            <a:r>
              <a:rPr lang="en-US" sz="1150" dirty="0">
                <a:solidFill>
                  <a:srgbClr val="5A6B7A"/>
                </a:solidFill>
                <a:latin typeface="Calibri" pitchFamily="34" charset="0"/>
                <a:ea typeface="Calibri" pitchFamily="34" charset="-122"/>
                <a:cs typeface="Calibri" pitchFamily="34" charset="-120"/>
              </a:rPr>
              <a:t>Database</a:t>
            </a:r>
            <a:endParaRPr lang="en-US" sz="1150" dirty="0"/>
          </a:p>
        </p:txBody>
      </p:sp>
      <p:sp>
        <p:nvSpPr>
          <p:cNvPr id="27" name="Shape 20"/>
          <p:cNvSpPr/>
          <p:nvPr/>
        </p:nvSpPr>
        <p:spPr>
          <a:xfrm>
            <a:off x="4343400" y="2944368"/>
            <a:ext cx="3611880" cy="1325880"/>
          </a:xfrm>
          <a:prstGeom prst="roundRect">
            <a:avLst>
              <a:gd name="adj" fmla="val 5517"/>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28" name="Shape 21"/>
          <p:cNvSpPr/>
          <p:nvPr/>
        </p:nvSpPr>
        <p:spPr>
          <a:xfrm>
            <a:off x="4572000" y="3264408"/>
            <a:ext cx="502920" cy="502920"/>
          </a:xfrm>
          <a:prstGeom prst="ellipse">
            <a:avLst/>
          </a:prstGeom>
          <a:solidFill>
            <a:srgbClr val="E7EEF5"/>
          </a:solidFill>
          <a:ln/>
        </p:spPr>
      </p:sp>
      <p:pic>
        <p:nvPicPr>
          <p:cNvPr id="29" name="Image 5" descr="preencoded.png"/>
          <p:cNvPicPr>
            <a:picLocks noChangeAspect="1"/>
          </p:cNvPicPr>
          <p:nvPr/>
        </p:nvPicPr>
        <p:blipFill>
          <a:blip r:embed="rId4"/>
          <a:stretch>
            <a:fillRect/>
          </a:stretch>
        </p:blipFill>
        <p:spPr>
          <a:xfrm>
            <a:off x="4702759" y="3395167"/>
            <a:ext cx="241402" cy="241402"/>
          </a:xfrm>
          <a:prstGeom prst="rect">
            <a:avLst/>
          </a:prstGeom>
        </p:spPr>
      </p:pic>
      <p:sp>
        <p:nvSpPr>
          <p:cNvPr id="30" name="Text 22"/>
          <p:cNvSpPr/>
          <p:nvPr/>
        </p:nvSpPr>
        <p:spPr>
          <a:xfrm>
            <a:off x="5257800" y="3172968"/>
            <a:ext cx="2560320" cy="365760"/>
          </a:xfrm>
          <a:prstGeom prst="rect">
            <a:avLst/>
          </a:prstGeom>
          <a:noFill/>
          <a:ln/>
        </p:spPr>
        <p:txBody>
          <a:bodyPr wrap="square" lIns="0" tIns="0" rIns="0" bIns="0" rtlCol="0" anchor="ctr"/>
          <a:lstStyle/>
          <a:p>
            <a:pPr marL="0" indent="0">
              <a:buNone/>
            </a:pPr>
            <a:r>
              <a:rPr lang="en-US" sz="1450" b="1" dirty="0">
                <a:solidFill>
                  <a:srgbClr val="16232E"/>
                </a:solidFill>
                <a:latin typeface="Calibri" pitchFamily="34" charset="0"/>
                <a:ea typeface="Calibri" pitchFamily="34" charset="-122"/>
                <a:cs typeface="Calibri" pitchFamily="34" charset="-120"/>
              </a:rPr>
              <a:t>Pandas</a:t>
            </a:r>
            <a:endParaRPr lang="en-US" sz="1450" dirty="0"/>
          </a:p>
        </p:txBody>
      </p:sp>
      <p:sp>
        <p:nvSpPr>
          <p:cNvPr id="31" name="Text 23"/>
          <p:cNvSpPr/>
          <p:nvPr/>
        </p:nvSpPr>
        <p:spPr>
          <a:xfrm>
            <a:off x="5257800" y="3520440"/>
            <a:ext cx="2560320" cy="365760"/>
          </a:xfrm>
          <a:prstGeom prst="rect">
            <a:avLst/>
          </a:prstGeom>
          <a:noFill/>
          <a:ln/>
        </p:spPr>
        <p:txBody>
          <a:bodyPr wrap="square" lIns="0" tIns="0" rIns="0" bIns="0" rtlCol="0" anchor="ctr"/>
          <a:lstStyle/>
          <a:p>
            <a:pPr marL="0" indent="0">
              <a:buNone/>
            </a:pPr>
            <a:r>
              <a:rPr lang="en-US" sz="1150" dirty="0">
                <a:solidFill>
                  <a:srgbClr val="5A6B7A"/>
                </a:solidFill>
                <a:latin typeface="Calibri" pitchFamily="34" charset="0"/>
                <a:ea typeface="Calibri" pitchFamily="34" charset="-122"/>
                <a:cs typeface="Calibri" pitchFamily="34" charset="-120"/>
              </a:rPr>
              <a:t>Data Processing</a:t>
            </a:r>
            <a:endParaRPr lang="en-US" sz="1150" dirty="0"/>
          </a:p>
        </p:txBody>
      </p:sp>
      <p:sp>
        <p:nvSpPr>
          <p:cNvPr id="32" name="Shape 24"/>
          <p:cNvSpPr/>
          <p:nvPr/>
        </p:nvSpPr>
        <p:spPr>
          <a:xfrm>
            <a:off x="8138160" y="2944368"/>
            <a:ext cx="3611880" cy="1325880"/>
          </a:xfrm>
          <a:prstGeom prst="roundRect">
            <a:avLst>
              <a:gd name="adj" fmla="val 5517"/>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33" name="Shape 25"/>
          <p:cNvSpPr/>
          <p:nvPr/>
        </p:nvSpPr>
        <p:spPr>
          <a:xfrm>
            <a:off x="8366760" y="3264408"/>
            <a:ext cx="502920" cy="502920"/>
          </a:xfrm>
          <a:prstGeom prst="ellipse">
            <a:avLst/>
          </a:prstGeom>
          <a:solidFill>
            <a:srgbClr val="E7EEF5"/>
          </a:solidFill>
          <a:ln/>
        </p:spPr>
      </p:sp>
      <p:pic>
        <p:nvPicPr>
          <p:cNvPr id="34" name="Image 6" descr="preencoded.png"/>
          <p:cNvPicPr>
            <a:picLocks noChangeAspect="1"/>
          </p:cNvPicPr>
          <p:nvPr/>
        </p:nvPicPr>
        <p:blipFill>
          <a:blip r:embed="rId4"/>
          <a:stretch>
            <a:fillRect/>
          </a:stretch>
        </p:blipFill>
        <p:spPr>
          <a:xfrm>
            <a:off x="8497519" y="3395167"/>
            <a:ext cx="241402" cy="241402"/>
          </a:xfrm>
          <a:prstGeom prst="rect">
            <a:avLst/>
          </a:prstGeom>
        </p:spPr>
      </p:pic>
      <p:sp>
        <p:nvSpPr>
          <p:cNvPr id="35" name="Text 26"/>
          <p:cNvSpPr/>
          <p:nvPr/>
        </p:nvSpPr>
        <p:spPr>
          <a:xfrm>
            <a:off x="9052560" y="3172968"/>
            <a:ext cx="2560320" cy="365760"/>
          </a:xfrm>
          <a:prstGeom prst="rect">
            <a:avLst/>
          </a:prstGeom>
          <a:noFill/>
          <a:ln/>
        </p:spPr>
        <p:txBody>
          <a:bodyPr wrap="square" lIns="0" tIns="0" rIns="0" bIns="0" rtlCol="0" anchor="ctr"/>
          <a:lstStyle/>
          <a:p>
            <a:pPr marL="0" indent="0">
              <a:buNone/>
            </a:pPr>
            <a:r>
              <a:rPr lang="en-US" sz="1450" b="1" dirty="0">
                <a:solidFill>
                  <a:srgbClr val="16232E"/>
                </a:solidFill>
                <a:latin typeface="Calibri" pitchFamily="34" charset="0"/>
                <a:ea typeface="Calibri" pitchFamily="34" charset="-122"/>
                <a:cs typeface="Calibri" pitchFamily="34" charset="-120"/>
              </a:rPr>
              <a:t>bcrypt</a:t>
            </a:r>
            <a:endParaRPr lang="en-US" sz="1450" dirty="0"/>
          </a:p>
        </p:txBody>
      </p:sp>
      <p:sp>
        <p:nvSpPr>
          <p:cNvPr id="36" name="Text 27"/>
          <p:cNvSpPr/>
          <p:nvPr/>
        </p:nvSpPr>
        <p:spPr>
          <a:xfrm>
            <a:off x="9052560" y="3520440"/>
            <a:ext cx="2560320" cy="365760"/>
          </a:xfrm>
          <a:prstGeom prst="rect">
            <a:avLst/>
          </a:prstGeom>
          <a:noFill/>
          <a:ln/>
        </p:spPr>
        <p:txBody>
          <a:bodyPr wrap="square" lIns="0" tIns="0" rIns="0" bIns="0" rtlCol="0" anchor="ctr"/>
          <a:lstStyle/>
          <a:p>
            <a:pPr marL="0" indent="0">
              <a:buNone/>
            </a:pPr>
            <a:r>
              <a:rPr lang="en-US" sz="1150" dirty="0">
                <a:solidFill>
                  <a:srgbClr val="5A6B7A"/>
                </a:solidFill>
                <a:latin typeface="Calibri" pitchFamily="34" charset="0"/>
                <a:ea typeface="Calibri" pitchFamily="34" charset="-122"/>
                <a:cs typeface="Calibri" pitchFamily="34" charset="-120"/>
              </a:rPr>
              <a:t>Password Encryption</a:t>
            </a:r>
            <a:endParaRPr lang="en-US" sz="1150" dirty="0"/>
          </a:p>
        </p:txBody>
      </p:sp>
      <p:sp>
        <p:nvSpPr>
          <p:cNvPr id="37" name="Shape 28"/>
          <p:cNvSpPr/>
          <p:nvPr/>
        </p:nvSpPr>
        <p:spPr>
          <a:xfrm>
            <a:off x="548640" y="4471416"/>
            <a:ext cx="3611880" cy="1325880"/>
          </a:xfrm>
          <a:prstGeom prst="roundRect">
            <a:avLst>
              <a:gd name="adj" fmla="val 5517"/>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38" name="Shape 29"/>
          <p:cNvSpPr/>
          <p:nvPr/>
        </p:nvSpPr>
        <p:spPr>
          <a:xfrm>
            <a:off x="777240" y="4791456"/>
            <a:ext cx="502920" cy="502920"/>
          </a:xfrm>
          <a:prstGeom prst="ellipse">
            <a:avLst/>
          </a:prstGeom>
          <a:solidFill>
            <a:srgbClr val="E7EEF5"/>
          </a:solidFill>
          <a:ln/>
        </p:spPr>
      </p:sp>
      <p:pic>
        <p:nvPicPr>
          <p:cNvPr id="39" name="Image 7" descr="preencoded.png"/>
          <p:cNvPicPr>
            <a:picLocks noChangeAspect="1"/>
          </p:cNvPicPr>
          <p:nvPr/>
        </p:nvPicPr>
        <p:blipFill>
          <a:blip r:embed="rId4"/>
          <a:stretch>
            <a:fillRect/>
          </a:stretch>
        </p:blipFill>
        <p:spPr>
          <a:xfrm>
            <a:off x="907999" y="4922215"/>
            <a:ext cx="241402" cy="241402"/>
          </a:xfrm>
          <a:prstGeom prst="rect">
            <a:avLst/>
          </a:prstGeom>
        </p:spPr>
      </p:pic>
      <p:sp>
        <p:nvSpPr>
          <p:cNvPr id="40" name="Text 30"/>
          <p:cNvSpPr/>
          <p:nvPr/>
        </p:nvSpPr>
        <p:spPr>
          <a:xfrm>
            <a:off x="1463040" y="4700016"/>
            <a:ext cx="2560320" cy="365760"/>
          </a:xfrm>
          <a:prstGeom prst="rect">
            <a:avLst/>
          </a:prstGeom>
          <a:noFill/>
          <a:ln/>
        </p:spPr>
        <p:txBody>
          <a:bodyPr wrap="square" lIns="0" tIns="0" rIns="0" bIns="0" rtlCol="0" anchor="ctr"/>
          <a:lstStyle/>
          <a:p>
            <a:pPr marL="0" indent="0">
              <a:buNone/>
            </a:pPr>
            <a:r>
              <a:rPr lang="en-US" sz="1450" b="1" dirty="0">
                <a:solidFill>
                  <a:srgbClr val="16232E"/>
                </a:solidFill>
                <a:latin typeface="Calibri" pitchFamily="34" charset="0"/>
                <a:ea typeface="Calibri" pitchFamily="34" charset="-122"/>
                <a:cs typeface="Calibri" pitchFamily="34" charset="-120"/>
              </a:rPr>
              <a:t>Requests</a:t>
            </a:r>
            <a:endParaRPr lang="en-US" sz="1450" dirty="0"/>
          </a:p>
        </p:txBody>
      </p:sp>
      <p:sp>
        <p:nvSpPr>
          <p:cNvPr id="41" name="Text 31"/>
          <p:cNvSpPr/>
          <p:nvPr/>
        </p:nvSpPr>
        <p:spPr>
          <a:xfrm>
            <a:off x="1463040" y="5047488"/>
            <a:ext cx="2560320" cy="365760"/>
          </a:xfrm>
          <a:prstGeom prst="rect">
            <a:avLst/>
          </a:prstGeom>
          <a:noFill/>
          <a:ln/>
        </p:spPr>
        <p:txBody>
          <a:bodyPr wrap="square" lIns="0" tIns="0" rIns="0" bIns="0" rtlCol="0" anchor="ctr"/>
          <a:lstStyle/>
          <a:p>
            <a:pPr marL="0" indent="0">
              <a:buNone/>
            </a:pPr>
            <a:r>
              <a:rPr lang="en-US" sz="1150" dirty="0">
                <a:solidFill>
                  <a:srgbClr val="5A6B7A"/>
                </a:solidFill>
                <a:latin typeface="Calibri" pitchFamily="34" charset="0"/>
                <a:ea typeface="Calibri" pitchFamily="34" charset="-122"/>
                <a:cs typeface="Calibri" pitchFamily="34" charset="-120"/>
              </a:rPr>
              <a:t>API Communication</a:t>
            </a:r>
            <a:endParaRPr lang="en-US" sz="1150" dirty="0"/>
          </a:p>
        </p:txBody>
      </p:sp>
      <p:sp>
        <p:nvSpPr>
          <p:cNvPr id="42" name="Shape 32"/>
          <p:cNvSpPr/>
          <p:nvPr/>
        </p:nvSpPr>
        <p:spPr>
          <a:xfrm>
            <a:off x="4343400" y="4471416"/>
            <a:ext cx="3611880" cy="1325880"/>
          </a:xfrm>
          <a:prstGeom prst="roundRect">
            <a:avLst>
              <a:gd name="adj" fmla="val 5517"/>
            </a:avLst>
          </a:prstGeom>
          <a:solidFill>
            <a:srgbClr val="FFFFFF"/>
          </a:solidFill>
          <a:ln w="12700">
            <a:solidFill>
              <a:srgbClr val="E1E7EE"/>
            </a:solidFill>
            <a:prstDash val="solid"/>
          </a:ln>
          <a:effectLst>
            <a:outerShdw blurRad="63500" dist="25400" dir="2700000" algn="bl" rotWithShape="0">
              <a:srgbClr val="000000">
                <a:alpha val="8000"/>
              </a:srgbClr>
            </a:outerShdw>
          </a:effectLst>
        </p:spPr>
      </p:sp>
      <p:sp>
        <p:nvSpPr>
          <p:cNvPr id="43" name="Shape 33"/>
          <p:cNvSpPr/>
          <p:nvPr/>
        </p:nvSpPr>
        <p:spPr>
          <a:xfrm>
            <a:off x="4572000" y="4791456"/>
            <a:ext cx="502920" cy="502920"/>
          </a:xfrm>
          <a:prstGeom prst="ellipse">
            <a:avLst/>
          </a:prstGeom>
          <a:solidFill>
            <a:srgbClr val="E7EEF5"/>
          </a:solidFill>
          <a:ln/>
        </p:spPr>
      </p:sp>
      <p:pic>
        <p:nvPicPr>
          <p:cNvPr id="44" name="Image 8" descr="preencoded.png"/>
          <p:cNvPicPr>
            <a:picLocks noChangeAspect="1"/>
          </p:cNvPicPr>
          <p:nvPr/>
        </p:nvPicPr>
        <p:blipFill>
          <a:blip r:embed="rId4"/>
          <a:stretch>
            <a:fillRect/>
          </a:stretch>
        </p:blipFill>
        <p:spPr>
          <a:xfrm>
            <a:off x="4702759" y="4922215"/>
            <a:ext cx="241402" cy="241402"/>
          </a:xfrm>
          <a:prstGeom prst="rect">
            <a:avLst/>
          </a:prstGeom>
        </p:spPr>
      </p:pic>
      <p:sp>
        <p:nvSpPr>
          <p:cNvPr id="45" name="Text 34"/>
          <p:cNvSpPr/>
          <p:nvPr/>
        </p:nvSpPr>
        <p:spPr>
          <a:xfrm>
            <a:off x="5257800" y="4700016"/>
            <a:ext cx="2560320" cy="365760"/>
          </a:xfrm>
          <a:prstGeom prst="rect">
            <a:avLst/>
          </a:prstGeom>
          <a:noFill/>
          <a:ln/>
        </p:spPr>
        <p:txBody>
          <a:bodyPr wrap="square" lIns="0" tIns="0" rIns="0" bIns="0" rtlCol="0" anchor="ctr"/>
          <a:lstStyle/>
          <a:p>
            <a:pPr marL="0" indent="0">
              <a:buNone/>
            </a:pPr>
            <a:r>
              <a:rPr lang="en-US" sz="1450" b="1" dirty="0">
                <a:solidFill>
                  <a:srgbClr val="16232E"/>
                </a:solidFill>
                <a:latin typeface="Calibri" pitchFamily="34" charset="0"/>
                <a:ea typeface="Calibri" pitchFamily="34" charset="-122"/>
                <a:cs typeface="Calibri" pitchFamily="34" charset="-120"/>
              </a:rPr>
              <a:t>OpenRouter</a:t>
            </a:r>
            <a:endParaRPr lang="en-US" sz="1450" dirty="0"/>
          </a:p>
        </p:txBody>
      </p:sp>
      <p:sp>
        <p:nvSpPr>
          <p:cNvPr id="46" name="Text 35"/>
          <p:cNvSpPr/>
          <p:nvPr/>
        </p:nvSpPr>
        <p:spPr>
          <a:xfrm>
            <a:off x="5257800" y="5047488"/>
            <a:ext cx="2560320" cy="365760"/>
          </a:xfrm>
          <a:prstGeom prst="rect">
            <a:avLst/>
          </a:prstGeom>
          <a:noFill/>
          <a:ln/>
        </p:spPr>
        <p:txBody>
          <a:bodyPr wrap="square" lIns="0" tIns="0" rIns="0" bIns="0" rtlCol="0" anchor="ctr"/>
          <a:lstStyle/>
          <a:p>
            <a:pPr marL="0" indent="0">
              <a:buNone/>
            </a:pPr>
            <a:r>
              <a:rPr lang="en-US" sz="1150" dirty="0">
                <a:solidFill>
                  <a:srgbClr val="5A6B7A"/>
                </a:solidFill>
                <a:latin typeface="Calibri" pitchFamily="34" charset="0"/>
                <a:ea typeface="Calibri" pitchFamily="34" charset="-122"/>
                <a:cs typeface="Calibri" pitchFamily="34" charset="-120"/>
              </a:rPr>
              <a:t>AI Integration</a:t>
            </a:r>
            <a:endParaRPr lang="en-US" sz="1150" dirty="0"/>
          </a:p>
        </p:txBody>
      </p:sp>
      <p:sp>
        <p:nvSpPr>
          <p:cNvPr id="50" name="Text 38"/>
          <p:cNvSpPr/>
          <p:nvPr/>
        </p:nvSpPr>
        <p:spPr>
          <a:xfrm>
            <a:off x="9052560" y="4700016"/>
            <a:ext cx="2560320" cy="365760"/>
          </a:xfrm>
          <a:prstGeom prst="rect">
            <a:avLst/>
          </a:prstGeom>
          <a:noFill/>
          <a:ln/>
        </p:spPr>
        <p:txBody>
          <a:bodyPr wrap="square" lIns="0" tIns="0" rIns="0" bIns="0" rtlCol="0" anchor="ctr"/>
          <a:lstStyle/>
          <a:p>
            <a:pPr marL="0" indent="0">
              <a:buNone/>
            </a:pPr>
            <a:endParaRPr lang="en-US" sz="1450" dirty="0"/>
          </a:p>
        </p:txBody>
      </p:sp>
      <p:sp>
        <p:nvSpPr>
          <p:cNvPr id="51" name="Text 39"/>
          <p:cNvSpPr/>
          <p:nvPr/>
        </p:nvSpPr>
        <p:spPr>
          <a:xfrm>
            <a:off x="9052560" y="5047488"/>
            <a:ext cx="2560320" cy="365760"/>
          </a:xfrm>
          <a:prstGeom prst="rect">
            <a:avLst/>
          </a:prstGeom>
          <a:noFill/>
          <a:ln/>
        </p:spPr>
        <p:txBody>
          <a:bodyPr wrap="square" lIns="0" tIns="0" rIns="0" bIns="0" rtlCol="0" anchor="ctr"/>
          <a:lstStyle/>
          <a:p>
            <a:pPr marL="0" indent="0">
              <a:buNone/>
            </a:pP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2</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Project Team</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Eight </a:t>
            </a:r>
            <a:r>
              <a:rPr lang="en-US" sz="1300" dirty="0" err="1">
                <a:solidFill>
                  <a:srgbClr val="5A6B7A"/>
                </a:solidFill>
                <a:latin typeface="Calibri" pitchFamily="34" charset="0"/>
                <a:ea typeface="Calibri" pitchFamily="34" charset="-122"/>
                <a:cs typeface="Calibri" pitchFamily="34" charset="-120"/>
              </a:rPr>
              <a:t>members,owning</a:t>
            </a:r>
            <a:r>
              <a:rPr lang="en-US" sz="1300" dirty="0">
                <a:solidFill>
                  <a:srgbClr val="5A6B7A"/>
                </a:solidFill>
                <a:latin typeface="Calibri" pitchFamily="34" charset="0"/>
                <a:ea typeface="Calibri" pitchFamily="34" charset="-122"/>
                <a:cs typeface="Calibri" pitchFamily="34" charset="-120"/>
              </a:rPr>
              <a:t> a distinct part of the system</a:t>
            </a:r>
            <a:endParaRPr lang="en-US" sz="1300" dirty="0"/>
          </a:p>
        </p:txBody>
      </p:sp>
      <p:sp>
        <p:nvSpPr>
          <p:cNvPr id="7" name="Shape 4"/>
          <p:cNvSpPr/>
          <p:nvPr/>
        </p:nvSpPr>
        <p:spPr>
          <a:xfrm>
            <a:off x="548640" y="1371600"/>
            <a:ext cx="502920" cy="41148"/>
          </a:xfrm>
          <a:prstGeom prst="rect">
            <a:avLst/>
          </a:prstGeom>
          <a:solidFill>
            <a:srgbClr val="F15B40"/>
          </a:solidFill>
          <a:ln/>
        </p:spPr>
      </p:sp>
      <p:graphicFrame>
        <p:nvGraphicFramePr>
          <p:cNvPr id="8" name="Table 0"/>
          <p:cNvGraphicFramePr>
            <a:graphicFrameLocks noGrp="1"/>
          </p:cNvGraphicFramePr>
          <p:nvPr>
            <p:extLst>
              <p:ext uri="{D42A27DB-BD31-4B8C-83A1-F6EECF244321}">
                <p14:modId xmlns:p14="http://schemas.microsoft.com/office/powerpoint/2010/main" val="2826874567"/>
              </p:ext>
            </p:extLst>
          </p:nvPr>
        </p:nvGraphicFramePr>
        <p:xfrm>
          <a:off x="548640" y="1600200"/>
          <a:ext cx="11064240" cy="4372860"/>
        </p:xfrm>
        <a:graphic>
          <a:graphicData uri="http://schemas.openxmlformats.org/drawingml/2006/table">
            <a:tbl>
              <a:tblPr/>
              <a:tblGrid>
                <a:gridCol w="31089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49052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08234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Team Member</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08234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Responsibilities</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082340"/>
                    </a:solidFill>
                  </a:tcPr>
                </a:tc>
                <a:extLst>
                  <a:ext uri="{0D108BD9-81ED-4DB2-BD59-A6C34878D82A}">
                    <a16:rowId xmlns:a16="http://schemas.microsoft.com/office/drawing/2014/main" val="10000"/>
                  </a:ext>
                </a:extLst>
              </a:tr>
              <a:tr h="490524">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Team Lead and Management</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Anusha &amp; Kashif</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Project Planning, Architecture, AI Integration, Code Integration, </a:t>
                      </a:r>
                      <a:r>
                        <a:rPr lang="en-US" sz="1200" dirty="0"/>
                        <a:t>GitHub repository management, code review, testing, and team coordination.</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06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6232E"/>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6232E"/>
                          </a:solidFill>
                          <a:latin typeface="Calibri" pitchFamily="34" charset="0"/>
                          <a:ea typeface="Calibri" pitchFamily="34" charset="-122"/>
                          <a:cs typeface="Calibri" pitchFamily="34" charset="-120"/>
                        </a:rPr>
                        <a:t>Authentication Developer</a:t>
                      </a:r>
                      <a:endParaRPr lang="en-US" sz="1200" dirty="0">
                        <a:latin typeface="Calibri" charset="0"/>
                        <a:ea typeface="Calibri" charset="0"/>
                        <a:cs typeface="Calibri" charset="0"/>
                      </a:endParaRPr>
                    </a:p>
                    <a:p>
                      <a:pPr marL="0" indent="0">
                        <a:buNone/>
                      </a:pP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Kashif &amp; Akash</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t>Developed the login system, session management, password hashing using </a:t>
                      </a:r>
                      <a:r>
                        <a:rPr lang="en-US" sz="1200" dirty="0" err="1"/>
                        <a:t>bcrypt</a:t>
                      </a:r>
                      <a:r>
                        <a:rPr lang="en-US" sz="1200" dirty="0"/>
                        <a:t>, and user authentication flow.</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524">
                <a:tc>
                  <a:txBody>
                    <a:bodyPr/>
                    <a:lstStyle/>
                    <a:p>
                      <a:pPr marL="0" indent="0">
                        <a:buNone/>
                      </a:pPr>
                      <a:r>
                        <a:rPr lang="en-US" sz="1200" dirty="0"/>
                        <a:t>Database Developer</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Anusha &amp; Abhay</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t>Designed the MySQL database schema, created ORM models, configured database connections, and implemented </a:t>
                      </a:r>
                      <a:r>
                        <a:rPr lang="en-US" sz="1200" dirty="0" err="1"/>
                        <a:t>SQLAlchemy</a:t>
                      </a:r>
                      <a:r>
                        <a:rPr lang="en-US" sz="1200" dirty="0"/>
                        <a:t> reflection.</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06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6232E"/>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6232E"/>
                          </a:solidFill>
                          <a:latin typeface="Calibri" pitchFamily="34" charset="0"/>
                          <a:ea typeface="Calibri" pitchFamily="34" charset="-122"/>
                          <a:cs typeface="Calibri" pitchFamily="34" charset="-120"/>
                        </a:rPr>
                        <a:t>CRUD Developer</a:t>
                      </a:r>
                      <a:endParaRPr lang="en-US" sz="1200" dirty="0">
                        <a:solidFill>
                          <a:srgbClr val="16232E"/>
                        </a:solidFill>
                        <a:latin typeface="Calibri" charset="0"/>
                        <a:ea typeface="Calibri" charset="0"/>
                        <a:cs typeface="Calibri"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latin typeface="Calibri" charset="0"/>
                          <a:ea typeface="Calibri" charset="0"/>
                          <a:cs typeface="Calibri" charset="0"/>
                        </a:rPr>
                        <a:t>Abhinay , Rahul and Raj</a:t>
                      </a: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t>Implemented dynamic Create, Read, Update, and Delete operations with automatic form generation.</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06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16232E"/>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6232E"/>
                          </a:solidFill>
                          <a:latin typeface="Calibri" pitchFamily="34" charset="0"/>
                          <a:ea typeface="Calibri" pitchFamily="34" charset="-122"/>
                          <a:cs typeface="Calibri" pitchFamily="34" charset="-120"/>
                        </a:rPr>
                        <a:t>Permission and Audit Developer</a:t>
                      </a:r>
                      <a:endParaRPr lang="en-US" sz="1200" dirty="0">
                        <a:latin typeface="Calibri" charset="0"/>
                        <a:ea typeface="Calibri" charset="0"/>
                        <a:cs typeface="Calibri" charset="0"/>
                      </a:endParaRPr>
                    </a:p>
                    <a:p>
                      <a:pPr marL="0" indent="0">
                        <a:buNone/>
                      </a:pP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latin typeface="Calibri" charset="0"/>
                          <a:ea typeface="Calibri" charset="0"/>
                          <a:cs typeface="Calibri" charset="0"/>
                        </a:rPr>
                        <a:t>Kashif &amp; Akash</a:t>
                      </a: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Developed RBAC, user management, permissions, and audit logging</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524">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UI Developer</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latin typeface="Calibri" charset="0"/>
                          <a:ea typeface="Calibri" charset="0"/>
                          <a:cs typeface="Calibri" charset="0"/>
                        </a:rPr>
                        <a:t>Vaishnavi , Shristi and Kashif</a:t>
                      </a: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t>Designed </a:t>
                      </a:r>
                      <a:r>
                        <a:rPr lang="en-US" sz="1200" dirty="0" err="1"/>
                        <a:t>Streamlit</a:t>
                      </a:r>
                      <a:r>
                        <a:rPr lang="en-US" sz="1200" dirty="0"/>
                        <a:t> pages, dashboard layout, navigation menu, and improved the user interface.</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524">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AI Integration</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latin typeface="Calibri" charset="0"/>
                          <a:ea typeface="Calibri" charset="0"/>
                          <a:cs typeface="Calibri" charset="0"/>
                        </a:rPr>
                        <a:t>Kashif &amp; Abhinay</a:t>
                      </a: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200" dirty="0"/>
                        <a:t>Integrated AI chatbot, SQL generation, validation, and data analysis using </a:t>
                      </a:r>
                      <a:r>
                        <a:rPr lang="en-US" sz="1200" dirty="0" err="1"/>
                        <a:t>OpenRouter</a:t>
                      </a:r>
                      <a:r>
                        <a:rPr lang="en-US" sz="1200" dirty="0"/>
                        <a:t> API.</a:t>
                      </a:r>
                      <a:endParaRPr lang="en-US" sz="12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7</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System Architecture</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A layered flow from the user down to the AI-powered database layer</a:t>
            </a:r>
            <a:endParaRPr lang="en-US" sz="1300" dirty="0"/>
          </a:p>
        </p:txBody>
      </p:sp>
      <p:sp>
        <p:nvSpPr>
          <p:cNvPr id="7" name="Shape 4"/>
          <p:cNvSpPr/>
          <p:nvPr/>
        </p:nvSpPr>
        <p:spPr>
          <a:xfrm>
            <a:off x="548640" y="1371600"/>
            <a:ext cx="502920" cy="41148"/>
          </a:xfrm>
          <a:prstGeom prst="rect">
            <a:avLst/>
          </a:prstGeom>
          <a:solidFill>
            <a:srgbClr val="F15B40"/>
          </a:solidFill>
          <a:ln/>
        </p:spPr>
      </p:sp>
      <p:sp>
        <p:nvSpPr>
          <p:cNvPr id="8" name="Shape 5"/>
          <p:cNvSpPr/>
          <p:nvPr/>
        </p:nvSpPr>
        <p:spPr>
          <a:xfrm>
            <a:off x="3977640" y="1417320"/>
            <a:ext cx="4206240" cy="512064"/>
          </a:xfrm>
          <a:prstGeom prst="roundRect">
            <a:avLst>
              <a:gd name="adj" fmla="val 14286"/>
            </a:avLst>
          </a:prstGeom>
          <a:solidFill>
            <a:srgbClr val="F15B40"/>
          </a:solidFill>
          <a:ln/>
          <a:effectLst>
            <a:outerShdw blurRad="50800" dist="12700" dir="2700000" algn="bl" rotWithShape="0">
              <a:srgbClr val="000000">
                <a:alpha val="12000"/>
              </a:srgbClr>
            </a:outerShdw>
          </a:effectLst>
        </p:spPr>
      </p:sp>
      <p:sp>
        <p:nvSpPr>
          <p:cNvPr id="9" name="Text 6"/>
          <p:cNvSpPr/>
          <p:nvPr/>
        </p:nvSpPr>
        <p:spPr>
          <a:xfrm>
            <a:off x="3977640" y="1417320"/>
            <a:ext cx="4206240" cy="51206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User</a:t>
            </a:r>
            <a:endParaRPr lang="en-US" sz="1350" dirty="0"/>
          </a:p>
        </p:txBody>
      </p:sp>
      <p:sp>
        <p:nvSpPr>
          <p:cNvPr id="10" name="Shape 7"/>
          <p:cNvSpPr/>
          <p:nvPr/>
        </p:nvSpPr>
        <p:spPr>
          <a:xfrm>
            <a:off x="5998464" y="1933956"/>
            <a:ext cx="164592" cy="114300"/>
          </a:xfrm>
          <a:prstGeom prst="downArrow">
            <a:avLst/>
          </a:prstGeom>
          <a:solidFill>
            <a:srgbClr val="5A6B7A"/>
          </a:solidFill>
          <a:ln/>
        </p:spPr>
      </p:sp>
      <p:sp>
        <p:nvSpPr>
          <p:cNvPr id="11" name="Shape 8"/>
          <p:cNvSpPr/>
          <p:nvPr/>
        </p:nvSpPr>
        <p:spPr>
          <a:xfrm>
            <a:off x="3977640" y="2052828"/>
            <a:ext cx="4206240" cy="512064"/>
          </a:xfrm>
          <a:prstGeom prst="roundRect">
            <a:avLst>
              <a:gd name="adj" fmla="val 14286"/>
            </a:avLst>
          </a:prstGeom>
          <a:solidFill>
            <a:srgbClr val="082340"/>
          </a:solidFill>
          <a:ln/>
          <a:effectLst>
            <a:outerShdw blurRad="50800" dist="12700" dir="2700000" algn="bl" rotWithShape="0">
              <a:srgbClr val="000000">
                <a:alpha val="12000"/>
              </a:srgbClr>
            </a:outerShdw>
          </a:effectLst>
        </p:spPr>
      </p:sp>
      <p:sp>
        <p:nvSpPr>
          <p:cNvPr id="12" name="Text 9"/>
          <p:cNvSpPr/>
          <p:nvPr/>
        </p:nvSpPr>
        <p:spPr>
          <a:xfrm>
            <a:off x="3977640" y="2052828"/>
            <a:ext cx="4206240" cy="51206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Streamlit UI</a:t>
            </a:r>
            <a:endParaRPr lang="en-US" sz="1350" dirty="0"/>
          </a:p>
        </p:txBody>
      </p:sp>
      <p:sp>
        <p:nvSpPr>
          <p:cNvPr id="13" name="Shape 10"/>
          <p:cNvSpPr/>
          <p:nvPr/>
        </p:nvSpPr>
        <p:spPr>
          <a:xfrm>
            <a:off x="5998464" y="2569464"/>
            <a:ext cx="164592" cy="114300"/>
          </a:xfrm>
          <a:prstGeom prst="downArrow">
            <a:avLst/>
          </a:prstGeom>
          <a:solidFill>
            <a:srgbClr val="5A6B7A"/>
          </a:solidFill>
          <a:ln/>
        </p:spPr>
      </p:sp>
      <p:sp>
        <p:nvSpPr>
          <p:cNvPr id="14" name="Shape 11"/>
          <p:cNvSpPr/>
          <p:nvPr/>
        </p:nvSpPr>
        <p:spPr>
          <a:xfrm>
            <a:off x="3977640" y="2688336"/>
            <a:ext cx="4206240" cy="512064"/>
          </a:xfrm>
          <a:prstGeom prst="roundRect">
            <a:avLst>
              <a:gd name="adj" fmla="val 14286"/>
            </a:avLst>
          </a:prstGeom>
          <a:solidFill>
            <a:srgbClr val="082340"/>
          </a:solidFill>
          <a:ln/>
          <a:effectLst>
            <a:outerShdw blurRad="50800" dist="12700" dir="2700000" algn="bl" rotWithShape="0">
              <a:srgbClr val="000000">
                <a:alpha val="12000"/>
              </a:srgbClr>
            </a:outerShdw>
          </a:effectLst>
        </p:spPr>
      </p:sp>
      <p:sp>
        <p:nvSpPr>
          <p:cNvPr id="15" name="Text 12"/>
          <p:cNvSpPr/>
          <p:nvPr/>
        </p:nvSpPr>
        <p:spPr>
          <a:xfrm>
            <a:off x="3977640" y="2688336"/>
            <a:ext cx="4206240" cy="51206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Authentication System</a:t>
            </a:r>
            <a:endParaRPr lang="en-US" sz="1350" dirty="0"/>
          </a:p>
        </p:txBody>
      </p:sp>
      <p:sp>
        <p:nvSpPr>
          <p:cNvPr id="16" name="Shape 13"/>
          <p:cNvSpPr/>
          <p:nvPr/>
        </p:nvSpPr>
        <p:spPr>
          <a:xfrm>
            <a:off x="5998464" y="3204972"/>
            <a:ext cx="164592" cy="114300"/>
          </a:xfrm>
          <a:prstGeom prst="downArrow">
            <a:avLst/>
          </a:prstGeom>
          <a:solidFill>
            <a:srgbClr val="5A6B7A"/>
          </a:solidFill>
          <a:ln/>
        </p:spPr>
      </p:sp>
      <p:sp>
        <p:nvSpPr>
          <p:cNvPr id="17" name="Shape 14"/>
          <p:cNvSpPr/>
          <p:nvPr/>
        </p:nvSpPr>
        <p:spPr>
          <a:xfrm>
            <a:off x="3977640" y="3323844"/>
            <a:ext cx="4206240" cy="512064"/>
          </a:xfrm>
          <a:prstGeom prst="roundRect">
            <a:avLst>
              <a:gd name="adj" fmla="val 14286"/>
            </a:avLst>
          </a:prstGeom>
          <a:solidFill>
            <a:srgbClr val="082340"/>
          </a:solidFill>
          <a:ln/>
          <a:effectLst>
            <a:outerShdw blurRad="50800" dist="12700" dir="2700000" algn="bl" rotWithShape="0">
              <a:srgbClr val="000000">
                <a:alpha val="12000"/>
              </a:srgbClr>
            </a:outerShdw>
          </a:effectLst>
        </p:spPr>
      </p:sp>
      <p:sp>
        <p:nvSpPr>
          <p:cNvPr id="18" name="Text 15"/>
          <p:cNvSpPr/>
          <p:nvPr/>
        </p:nvSpPr>
        <p:spPr>
          <a:xfrm>
            <a:off x="3977640" y="3323844"/>
            <a:ext cx="4206240" cy="51206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Role Based Access Control</a:t>
            </a:r>
            <a:endParaRPr lang="en-US" sz="1350" dirty="0"/>
          </a:p>
        </p:txBody>
      </p:sp>
      <p:sp>
        <p:nvSpPr>
          <p:cNvPr id="19" name="Shape 16"/>
          <p:cNvSpPr/>
          <p:nvPr/>
        </p:nvSpPr>
        <p:spPr>
          <a:xfrm>
            <a:off x="5998464" y="3840480"/>
            <a:ext cx="164592" cy="114300"/>
          </a:xfrm>
          <a:prstGeom prst="downArrow">
            <a:avLst/>
          </a:prstGeom>
          <a:solidFill>
            <a:srgbClr val="5A6B7A"/>
          </a:solidFill>
          <a:ln/>
        </p:spPr>
      </p:sp>
      <p:sp>
        <p:nvSpPr>
          <p:cNvPr id="20" name="Shape 17"/>
          <p:cNvSpPr/>
          <p:nvPr/>
        </p:nvSpPr>
        <p:spPr>
          <a:xfrm>
            <a:off x="3977640" y="3959352"/>
            <a:ext cx="4206240" cy="512064"/>
          </a:xfrm>
          <a:prstGeom prst="roundRect">
            <a:avLst>
              <a:gd name="adj" fmla="val 14286"/>
            </a:avLst>
          </a:prstGeom>
          <a:solidFill>
            <a:srgbClr val="082340"/>
          </a:solidFill>
          <a:ln/>
          <a:effectLst>
            <a:outerShdw blurRad="50800" dist="12700" dir="2700000" algn="bl" rotWithShape="0">
              <a:srgbClr val="000000">
                <a:alpha val="12000"/>
              </a:srgbClr>
            </a:outerShdw>
          </a:effectLst>
        </p:spPr>
      </p:sp>
      <p:sp>
        <p:nvSpPr>
          <p:cNvPr id="21" name="Text 18"/>
          <p:cNvSpPr/>
          <p:nvPr/>
        </p:nvSpPr>
        <p:spPr>
          <a:xfrm>
            <a:off x="3977640" y="3959352"/>
            <a:ext cx="4206240" cy="51206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CRUD + AI Modules</a:t>
            </a:r>
            <a:endParaRPr lang="en-US" sz="1350" dirty="0"/>
          </a:p>
        </p:txBody>
      </p:sp>
      <p:sp>
        <p:nvSpPr>
          <p:cNvPr id="22" name="Shape 19"/>
          <p:cNvSpPr/>
          <p:nvPr/>
        </p:nvSpPr>
        <p:spPr>
          <a:xfrm>
            <a:off x="5998464" y="4475988"/>
            <a:ext cx="164592" cy="114300"/>
          </a:xfrm>
          <a:prstGeom prst="downArrow">
            <a:avLst/>
          </a:prstGeom>
          <a:solidFill>
            <a:srgbClr val="5A6B7A"/>
          </a:solidFill>
          <a:ln/>
        </p:spPr>
      </p:sp>
      <p:sp>
        <p:nvSpPr>
          <p:cNvPr id="23" name="Shape 20"/>
          <p:cNvSpPr/>
          <p:nvPr/>
        </p:nvSpPr>
        <p:spPr>
          <a:xfrm>
            <a:off x="3977640" y="4594860"/>
            <a:ext cx="4206240" cy="512064"/>
          </a:xfrm>
          <a:prstGeom prst="roundRect">
            <a:avLst>
              <a:gd name="adj" fmla="val 14286"/>
            </a:avLst>
          </a:prstGeom>
          <a:solidFill>
            <a:srgbClr val="082340"/>
          </a:solidFill>
          <a:ln/>
          <a:effectLst>
            <a:outerShdw blurRad="50800" dist="12700" dir="2700000" algn="bl" rotWithShape="0">
              <a:srgbClr val="000000">
                <a:alpha val="12000"/>
              </a:srgbClr>
            </a:outerShdw>
          </a:effectLst>
        </p:spPr>
      </p:sp>
      <p:sp>
        <p:nvSpPr>
          <p:cNvPr id="24" name="Text 21"/>
          <p:cNvSpPr/>
          <p:nvPr/>
        </p:nvSpPr>
        <p:spPr>
          <a:xfrm>
            <a:off x="3977640" y="4594860"/>
            <a:ext cx="4206240" cy="51206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SQLAlchemy ORM</a:t>
            </a:r>
            <a:endParaRPr lang="en-US" sz="1350" dirty="0"/>
          </a:p>
        </p:txBody>
      </p:sp>
      <p:sp>
        <p:nvSpPr>
          <p:cNvPr id="25" name="Shape 22"/>
          <p:cNvSpPr/>
          <p:nvPr/>
        </p:nvSpPr>
        <p:spPr>
          <a:xfrm>
            <a:off x="5998464" y="5111496"/>
            <a:ext cx="164592" cy="114300"/>
          </a:xfrm>
          <a:prstGeom prst="downArrow">
            <a:avLst/>
          </a:prstGeom>
          <a:solidFill>
            <a:srgbClr val="5A6B7A"/>
          </a:solidFill>
          <a:ln/>
        </p:spPr>
      </p:sp>
      <p:sp>
        <p:nvSpPr>
          <p:cNvPr id="26" name="Shape 23"/>
          <p:cNvSpPr/>
          <p:nvPr/>
        </p:nvSpPr>
        <p:spPr>
          <a:xfrm>
            <a:off x="3977640" y="5230368"/>
            <a:ext cx="4206240" cy="512064"/>
          </a:xfrm>
          <a:prstGeom prst="roundRect">
            <a:avLst>
              <a:gd name="adj" fmla="val 14286"/>
            </a:avLst>
          </a:prstGeom>
          <a:solidFill>
            <a:srgbClr val="082340"/>
          </a:solidFill>
          <a:ln/>
          <a:effectLst>
            <a:outerShdw blurRad="50800" dist="12700" dir="2700000" algn="bl" rotWithShape="0">
              <a:srgbClr val="000000">
                <a:alpha val="12000"/>
              </a:srgbClr>
            </a:outerShdw>
          </a:effectLst>
        </p:spPr>
      </p:sp>
      <p:sp>
        <p:nvSpPr>
          <p:cNvPr id="27" name="Text 24"/>
          <p:cNvSpPr/>
          <p:nvPr/>
        </p:nvSpPr>
        <p:spPr>
          <a:xfrm>
            <a:off x="3977640" y="5230368"/>
            <a:ext cx="4206240" cy="51206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MySQL Database</a:t>
            </a:r>
            <a:endParaRPr lang="en-US" sz="1350" dirty="0"/>
          </a:p>
        </p:txBody>
      </p:sp>
      <p:sp>
        <p:nvSpPr>
          <p:cNvPr id="28" name="Shape 25"/>
          <p:cNvSpPr/>
          <p:nvPr/>
        </p:nvSpPr>
        <p:spPr>
          <a:xfrm>
            <a:off x="5998464" y="5747004"/>
            <a:ext cx="164592" cy="114300"/>
          </a:xfrm>
          <a:prstGeom prst="downArrow">
            <a:avLst/>
          </a:prstGeom>
          <a:solidFill>
            <a:srgbClr val="5A6B7A"/>
          </a:solidFill>
          <a:ln/>
        </p:spPr>
      </p:sp>
      <p:sp>
        <p:nvSpPr>
          <p:cNvPr id="29" name="Shape 26"/>
          <p:cNvSpPr/>
          <p:nvPr/>
        </p:nvSpPr>
        <p:spPr>
          <a:xfrm>
            <a:off x="3977640" y="5865876"/>
            <a:ext cx="4206240" cy="512064"/>
          </a:xfrm>
          <a:prstGeom prst="roundRect">
            <a:avLst>
              <a:gd name="adj" fmla="val 14286"/>
            </a:avLst>
          </a:prstGeom>
          <a:solidFill>
            <a:srgbClr val="F15B40"/>
          </a:solidFill>
          <a:ln/>
          <a:effectLst>
            <a:outerShdw blurRad="50800" dist="12700" dir="2700000" algn="bl" rotWithShape="0">
              <a:srgbClr val="000000">
                <a:alpha val="12000"/>
              </a:srgbClr>
            </a:outerShdw>
          </a:effectLst>
        </p:spPr>
      </p:sp>
      <p:sp>
        <p:nvSpPr>
          <p:cNvPr id="30" name="Text 27"/>
          <p:cNvSpPr/>
          <p:nvPr/>
        </p:nvSpPr>
        <p:spPr>
          <a:xfrm>
            <a:off x="3977640" y="5865876"/>
            <a:ext cx="4206240" cy="51206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OpenRouter API</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8</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Database Design</a:t>
            </a:r>
            <a:endParaRPr lang="en-US" sz="2800" dirty="0"/>
          </a:p>
        </p:txBody>
      </p:sp>
      <p:sp>
        <p:nvSpPr>
          <p:cNvPr id="6" name="Text 3"/>
          <p:cNvSpPr/>
          <p:nvPr/>
        </p:nvSpPr>
        <p:spPr>
          <a:xfrm>
            <a:off x="548640" y="763445"/>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Core tables powering the portal</a:t>
            </a:r>
            <a:endParaRPr lang="en-US" sz="1300" dirty="0"/>
          </a:p>
        </p:txBody>
      </p:sp>
      <p:sp>
        <p:nvSpPr>
          <p:cNvPr id="7" name="Shape 4"/>
          <p:cNvSpPr/>
          <p:nvPr/>
        </p:nvSpPr>
        <p:spPr>
          <a:xfrm>
            <a:off x="548640" y="1150135"/>
            <a:ext cx="502920" cy="41148"/>
          </a:xfrm>
          <a:prstGeom prst="rect">
            <a:avLst/>
          </a:prstGeom>
          <a:solidFill>
            <a:srgbClr val="F15B40"/>
          </a:solidFill>
          <a:ln/>
        </p:spPr>
      </p:sp>
      <p:sp>
        <p:nvSpPr>
          <p:cNvPr id="11" name="Text 7"/>
          <p:cNvSpPr/>
          <p:nvPr/>
        </p:nvSpPr>
        <p:spPr>
          <a:xfrm>
            <a:off x="685800" y="2606040"/>
            <a:ext cx="1920240" cy="365760"/>
          </a:xfrm>
          <a:prstGeom prst="rect">
            <a:avLst/>
          </a:prstGeom>
          <a:noFill/>
          <a:ln/>
        </p:spPr>
        <p:txBody>
          <a:bodyPr wrap="square" lIns="0" tIns="0" rIns="0" bIns="0" rtlCol="0" anchor="ctr"/>
          <a:lstStyle/>
          <a:p>
            <a:pPr marL="0" indent="0" algn="ctr">
              <a:buNone/>
            </a:pPr>
            <a:endParaRPr lang="en-US" sz="1300" dirty="0"/>
          </a:p>
        </p:txBody>
      </p:sp>
      <p:sp>
        <p:nvSpPr>
          <p:cNvPr id="12" name="Text 8"/>
          <p:cNvSpPr/>
          <p:nvPr/>
        </p:nvSpPr>
        <p:spPr>
          <a:xfrm>
            <a:off x="731520" y="2971800"/>
            <a:ext cx="1828800" cy="548640"/>
          </a:xfrm>
          <a:prstGeom prst="rect">
            <a:avLst/>
          </a:prstGeom>
          <a:noFill/>
          <a:ln/>
        </p:spPr>
        <p:txBody>
          <a:bodyPr wrap="square" lIns="0" tIns="0" rIns="0" bIns="0" rtlCol="0" anchor="ctr"/>
          <a:lstStyle/>
          <a:p>
            <a:pPr marL="0" indent="0" algn="ctr">
              <a:buNone/>
            </a:pPr>
            <a:endParaRPr lang="en-US" sz="1000" dirty="0"/>
          </a:p>
        </p:txBody>
      </p:sp>
      <p:sp>
        <p:nvSpPr>
          <p:cNvPr id="16" name="Text 11"/>
          <p:cNvSpPr/>
          <p:nvPr/>
        </p:nvSpPr>
        <p:spPr>
          <a:xfrm>
            <a:off x="3017520" y="2606040"/>
            <a:ext cx="1920240" cy="365760"/>
          </a:xfrm>
          <a:prstGeom prst="rect">
            <a:avLst/>
          </a:prstGeom>
          <a:noFill/>
          <a:ln/>
        </p:spPr>
        <p:txBody>
          <a:bodyPr wrap="square" lIns="0" tIns="0" rIns="0" bIns="0" rtlCol="0" anchor="ctr"/>
          <a:lstStyle/>
          <a:p>
            <a:pPr marL="0" indent="0" algn="ctr">
              <a:buNone/>
            </a:pPr>
            <a:endParaRPr lang="en-US" sz="1300" dirty="0"/>
          </a:p>
        </p:txBody>
      </p:sp>
      <p:sp>
        <p:nvSpPr>
          <p:cNvPr id="17" name="Text 12"/>
          <p:cNvSpPr/>
          <p:nvPr/>
        </p:nvSpPr>
        <p:spPr>
          <a:xfrm>
            <a:off x="3063240" y="2971800"/>
            <a:ext cx="1528011" cy="548640"/>
          </a:xfrm>
          <a:prstGeom prst="rect">
            <a:avLst/>
          </a:prstGeom>
          <a:noFill/>
          <a:ln/>
        </p:spPr>
        <p:txBody>
          <a:bodyPr wrap="square" lIns="0" tIns="0" rIns="0" bIns="0" rtlCol="0" anchor="ctr"/>
          <a:lstStyle/>
          <a:p>
            <a:pPr marL="0" indent="0" algn="ctr">
              <a:buNone/>
            </a:pPr>
            <a:endParaRPr lang="en-US" sz="1000" dirty="0"/>
          </a:p>
        </p:txBody>
      </p:sp>
      <p:sp>
        <p:nvSpPr>
          <p:cNvPr id="21" name="Text 15"/>
          <p:cNvSpPr/>
          <p:nvPr/>
        </p:nvSpPr>
        <p:spPr>
          <a:xfrm>
            <a:off x="5349240" y="2606040"/>
            <a:ext cx="1920240" cy="365760"/>
          </a:xfrm>
          <a:prstGeom prst="rect">
            <a:avLst/>
          </a:prstGeom>
          <a:noFill/>
          <a:ln/>
        </p:spPr>
        <p:txBody>
          <a:bodyPr wrap="square" lIns="0" tIns="0" rIns="0" bIns="0" rtlCol="0" anchor="ctr"/>
          <a:lstStyle/>
          <a:p>
            <a:pPr marL="0" indent="0" algn="ctr">
              <a:buNone/>
            </a:pPr>
            <a:endParaRPr lang="en-US" sz="1300" dirty="0"/>
          </a:p>
        </p:txBody>
      </p:sp>
      <p:sp>
        <p:nvSpPr>
          <p:cNvPr id="22" name="Text 16"/>
          <p:cNvSpPr/>
          <p:nvPr/>
        </p:nvSpPr>
        <p:spPr>
          <a:xfrm>
            <a:off x="5394960" y="2971800"/>
            <a:ext cx="1828800" cy="548640"/>
          </a:xfrm>
          <a:prstGeom prst="rect">
            <a:avLst/>
          </a:prstGeom>
          <a:noFill/>
          <a:ln/>
        </p:spPr>
        <p:txBody>
          <a:bodyPr wrap="square" lIns="0" tIns="0" rIns="0" bIns="0" rtlCol="0" anchor="ctr"/>
          <a:lstStyle/>
          <a:p>
            <a:pPr marL="0" indent="0" algn="ctr">
              <a:buNone/>
            </a:pPr>
            <a:endParaRPr lang="en-US" sz="1000" dirty="0"/>
          </a:p>
        </p:txBody>
      </p:sp>
      <p:sp>
        <p:nvSpPr>
          <p:cNvPr id="32" name="Text 24"/>
          <p:cNvSpPr/>
          <p:nvPr/>
        </p:nvSpPr>
        <p:spPr>
          <a:xfrm>
            <a:off x="10058400" y="2971800"/>
            <a:ext cx="1828800" cy="548640"/>
          </a:xfrm>
          <a:prstGeom prst="rect">
            <a:avLst/>
          </a:prstGeom>
          <a:noFill/>
          <a:ln/>
        </p:spPr>
        <p:txBody>
          <a:bodyPr wrap="square" lIns="0" tIns="0" rIns="0" bIns="0" rtlCol="0" anchor="ctr"/>
          <a:lstStyle/>
          <a:p>
            <a:pPr marL="0" indent="0" algn="ctr">
              <a:buNone/>
            </a:pPr>
            <a:endParaRPr lang="en-US" sz="1000" dirty="0"/>
          </a:p>
        </p:txBody>
      </p:sp>
      <p:sp>
        <p:nvSpPr>
          <p:cNvPr id="33" name="Text 25"/>
          <p:cNvSpPr/>
          <p:nvPr/>
        </p:nvSpPr>
        <p:spPr>
          <a:xfrm>
            <a:off x="507733" y="3966796"/>
            <a:ext cx="10789920" cy="640080"/>
          </a:xfrm>
          <a:prstGeom prst="rect">
            <a:avLst/>
          </a:prstGeom>
          <a:noFill/>
          <a:ln/>
        </p:spPr>
        <p:txBody>
          <a:bodyPr wrap="square" lIns="0" tIns="0" rIns="0" bIns="0" rtlCol="0" anchor="ctr"/>
          <a:lstStyle/>
          <a:p>
            <a:pPr marL="0" indent="0">
              <a:buNone/>
            </a:pPr>
            <a:endParaRPr lang="en-US" sz="1250" dirty="0"/>
          </a:p>
        </p:txBody>
      </p:sp>
      <p:sp>
        <p:nvSpPr>
          <p:cNvPr id="35" name="TextBox 34">
            <a:extLst>
              <a:ext uri="{FF2B5EF4-FFF2-40B4-BE49-F238E27FC236}">
                <a16:creationId xmlns:a16="http://schemas.microsoft.com/office/drawing/2014/main" id="{6A016270-9AFB-3A3F-7110-83A5AA7D49B5}"/>
              </a:ext>
            </a:extLst>
          </p:cNvPr>
          <p:cNvSpPr txBox="1"/>
          <p:nvPr/>
        </p:nvSpPr>
        <p:spPr>
          <a:xfrm>
            <a:off x="463617" y="1295770"/>
            <a:ext cx="5632383" cy="1477328"/>
          </a:xfrm>
          <a:prstGeom prst="rect">
            <a:avLst/>
          </a:prstGeom>
          <a:noFill/>
        </p:spPr>
        <p:txBody>
          <a:bodyPr wrap="square" rtlCol="0">
            <a:spAutoFit/>
          </a:bodyPr>
          <a:lstStyle/>
          <a:p>
            <a:r>
              <a:rPr lang="en-US" b="1" dirty="0"/>
              <a:t>base.py</a:t>
            </a:r>
          </a:p>
          <a:p>
            <a:pPr marL="285750" indent="-285750">
              <a:buFont typeface="Arial" panose="020B0604020202020204" pitchFamily="34" charset="0"/>
              <a:buChar char="•"/>
            </a:pPr>
            <a:r>
              <a:rPr lang="en-US" dirty="0"/>
              <a:t>Creates the common </a:t>
            </a:r>
            <a:r>
              <a:rPr lang="en-US" b="1" dirty="0"/>
              <a:t>Declarative Base</a:t>
            </a:r>
            <a:r>
              <a:rPr lang="en-US" dirty="0"/>
              <a:t> class </a:t>
            </a:r>
          </a:p>
          <a:p>
            <a:pPr marL="285750" indent="-285750">
              <a:buFont typeface="Arial" panose="020B0604020202020204" pitchFamily="34" charset="0"/>
              <a:buChar char="•"/>
            </a:pPr>
            <a:r>
              <a:rPr lang="en-US" dirty="0"/>
              <a:t>Parent class for all ORM models </a:t>
            </a:r>
          </a:p>
          <a:p>
            <a:pPr marL="285750" indent="-285750">
              <a:buFont typeface="Arial" panose="020B0604020202020204" pitchFamily="34" charset="0"/>
              <a:buChar char="•"/>
            </a:pPr>
            <a:r>
              <a:rPr lang="en-US" dirty="0"/>
              <a:t>Enables Object Relational Mapping (ORM)</a:t>
            </a:r>
          </a:p>
          <a:p>
            <a:endParaRPr lang="en-IN" dirty="0"/>
          </a:p>
        </p:txBody>
      </p:sp>
      <p:sp>
        <p:nvSpPr>
          <p:cNvPr id="36" name="TextBox 35">
            <a:extLst>
              <a:ext uri="{FF2B5EF4-FFF2-40B4-BE49-F238E27FC236}">
                <a16:creationId xmlns:a16="http://schemas.microsoft.com/office/drawing/2014/main" id="{6330A58B-B40D-94A5-8811-0C744AC6DC3F}"/>
              </a:ext>
            </a:extLst>
          </p:cNvPr>
          <p:cNvSpPr txBox="1"/>
          <p:nvPr/>
        </p:nvSpPr>
        <p:spPr>
          <a:xfrm>
            <a:off x="457200" y="2622398"/>
            <a:ext cx="5853654" cy="1477328"/>
          </a:xfrm>
          <a:prstGeom prst="rect">
            <a:avLst/>
          </a:prstGeom>
          <a:noFill/>
        </p:spPr>
        <p:txBody>
          <a:bodyPr wrap="none" rtlCol="0">
            <a:spAutoFit/>
          </a:bodyPr>
          <a:lstStyle/>
          <a:p>
            <a:r>
              <a:rPr lang="en-US" b="1" dirty="0"/>
              <a:t>session.py</a:t>
            </a:r>
          </a:p>
          <a:p>
            <a:pPr marL="285750" indent="-285750">
              <a:buFont typeface="Arial" panose="020B0604020202020204" pitchFamily="34" charset="0"/>
              <a:buChar char="•"/>
            </a:pPr>
            <a:r>
              <a:rPr lang="en-US" dirty="0"/>
              <a:t>Creates reusable </a:t>
            </a:r>
            <a:r>
              <a:rPr lang="en-US" dirty="0" err="1"/>
              <a:t>SQLAlchemy</a:t>
            </a:r>
            <a:r>
              <a:rPr lang="en-US" dirty="0"/>
              <a:t> sessions using </a:t>
            </a:r>
            <a:r>
              <a:rPr lang="en-US" dirty="0" err="1"/>
              <a:t>SessionLocal</a:t>
            </a:r>
            <a:endParaRPr lang="en-US" dirty="0"/>
          </a:p>
          <a:p>
            <a:pPr marL="285750" indent="-285750">
              <a:buFont typeface="Arial" panose="020B0604020202020204" pitchFamily="34" charset="0"/>
              <a:buChar char="•"/>
            </a:pPr>
            <a:r>
              <a:rPr lang="en-US" dirty="0"/>
              <a:t>Manages database interaction efficiently </a:t>
            </a:r>
          </a:p>
          <a:p>
            <a:pPr marL="285750" indent="-285750">
              <a:buFont typeface="Arial" panose="020B0604020202020204" pitchFamily="34" charset="0"/>
              <a:buChar char="•"/>
            </a:pPr>
            <a:r>
              <a:rPr lang="en-US" dirty="0"/>
              <a:t>Connects application with the MySQL database engine</a:t>
            </a:r>
          </a:p>
          <a:p>
            <a:endParaRPr lang="en-IN" dirty="0"/>
          </a:p>
        </p:txBody>
      </p:sp>
      <p:sp>
        <p:nvSpPr>
          <p:cNvPr id="38" name="TextBox 37">
            <a:extLst>
              <a:ext uri="{FF2B5EF4-FFF2-40B4-BE49-F238E27FC236}">
                <a16:creationId xmlns:a16="http://schemas.microsoft.com/office/drawing/2014/main" id="{EA71EDDE-4974-D20A-DA0B-272B4869998D}"/>
              </a:ext>
            </a:extLst>
          </p:cNvPr>
          <p:cNvSpPr txBox="1"/>
          <p:nvPr/>
        </p:nvSpPr>
        <p:spPr>
          <a:xfrm>
            <a:off x="463616" y="3977004"/>
            <a:ext cx="5984397" cy="2308324"/>
          </a:xfrm>
          <a:prstGeom prst="rect">
            <a:avLst/>
          </a:prstGeom>
          <a:noFill/>
        </p:spPr>
        <p:txBody>
          <a:bodyPr wrap="square">
            <a:spAutoFit/>
          </a:bodyPr>
          <a:lstStyle/>
          <a:p>
            <a:pPr>
              <a:buNone/>
            </a:pPr>
            <a:r>
              <a:rPr lang="en-IN" b="1" dirty="0"/>
              <a:t>models.py</a:t>
            </a:r>
          </a:p>
          <a:p>
            <a:pPr>
              <a:buNone/>
            </a:pPr>
            <a:r>
              <a:rPr lang="en-IN" b="1" dirty="0"/>
              <a:t>Defines Database Schema using ORM Models</a:t>
            </a:r>
            <a:endParaRPr lang="en-IN" dirty="0"/>
          </a:p>
          <a:p>
            <a:pPr>
              <a:buFont typeface="Arial" panose="020B0604020202020204" pitchFamily="34" charset="0"/>
              <a:buChar char="•"/>
            </a:pPr>
            <a:r>
              <a:rPr lang="en-IN" b="1" dirty="0"/>
              <a:t>User</a:t>
            </a:r>
            <a:r>
              <a:rPr lang="en-IN" dirty="0"/>
              <a:t> – Stores login credentials, roles and account status </a:t>
            </a:r>
          </a:p>
          <a:p>
            <a:pPr>
              <a:buFont typeface="Arial" panose="020B0604020202020204" pitchFamily="34" charset="0"/>
              <a:buChar char="•"/>
            </a:pPr>
            <a:r>
              <a:rPr lang="en-IN" b="1" dirty="0" err="1"/>
              <a:t>TablePermission</a:t>
            </a:r>
            <a:r>
              <a:rPr lang="en-IN" dirty="0"/>
              <a:t> – Manages table-level CRUD permissions for each user </a:t>
            </a:r>
          </a:p>
          <a:p>
            <a:pPr>
              <a:buFont typeface="Arial" panose="020B0604020202020204" pitchFamily="34" charset="0"/>
              <a:buChar char="•"/>
            </a:pPr>
            <a:r>
              <a:rPr lang="en-IN" b="1" dirty="0" err="1"/>
              <a:t>AuditLog</a:t>
            </a:r>
            <a:r>
              <a:rPr lang="en-IN" dirty="0"/>
              <a:t> – Records every important database activity with timestamps and status </a:t>
            </a:r>
          </a:p>
          <a:p>
            <a:pPr>
              <a:buFont typeface="Arial" panose="020B0604020202020204" pitchFamily="34" charset="0"/>
              <a:buChar char="•"/>
            </a:pPr>
            <a:r>
              <a:rPr lang="en-IN" b="1" dirty="0"/>
              <a:t>Sample tables </a:t>
            </a:r>
            <a:r>
              <a:rPr lang="en-IN" dirty="0"/>
              <a:t>for business data</a:t>
            </a:r>
          </a:p>
        </p:txBody>
      </p:sp>
      <p:pic>
        <p:nvPicPr>
          <p:cNvPr id="40" name="Picture 39">
            <a:extLst>
              <a:ext uri="{FF2B5EF4-FFF2-40B4-BE49-F238E27FC236}">
                <a16:creationId xmlns:a16="http://schemas.microsoft.com/office/drawing/2014/main" id="{79877C9F-9649-9A2A-0181-CD14AD8B7458}"/>
              </a:ext>
            </a:extLst>
          </p:cNvPr>
          <p:cNvPicPr>
            <a:picLocks noChangeAspect="1"/>
          </p:cNvPicPr>
          <p:nvPr/>
        </p:nvPicPr>
        <p:blipFill>
          <a:blip r:embed="rId4"/>
          <a:stretch>
            <a:fillRect/>
          </a:stretch>
        </p:blipFill>
        <p:spPr>
          <a:xfrm>
            <a:off x="6578756" y="4606876"/>
            <a:ext cx="4204421" cy="2062794"/>
          </a:xfrm>
          <a:prstGeom prst="rect">
            <a:avLst/>
          </a:prstGeom>
        </p:spPr>
      </p:pic>
      <p:pic>
        <p:nvPicPr>
          <p:cNvPr id="42" name="Picture 41">
            <a:extLst>
              <a:ext uri="{FF2B5EF4-FFF2-40B4-BE49-F238E27FC236}">
                <a16:creationId xmlns:a16="http://schemas.microsoft.com/office/drawing/2014/main" id="{F7C3D46F-349C-8102-0BF5-C9CF03814452}"/>
              </a:ext>
            </a:extLst>
          </p:cNvPr>
          <p:cNvPicPr>
            <a:picLocks noChangeAspect="1"/>
          </p:cNvPicPr>
          <p:nvPr/>
        </p:nvPicPr>
        <p:blipFill>
          <a:blip r:embed="rId5"/>
          <a:stretch>
            <a:fillRect/>
          </a:stretch>
        </p:blipFill>
        <p:spPr>
          <a:xfrm>
            <a:off x="6526023" y="1321357"/>
            <a:ext cx="3680655" cy="1029610"/>
          </a:xfrm>
          <a:prstGeom prst="rect">
            <a:avLst/>
          </a:prstGeom>
        </p:spPr>
      </p:pic>
      <p:pic>
        <p:nvPicPr>
          <p:cNvPr id="44" name="Picture 43">
            <a:extLst>
              <a:ext uri="{FF2B5EF4-FFF2-40B4-BE49-F238E27FC236}">
                <a16:creationId xmlns:a16="http://schemas.microsoft.com/office/drawing/2014/main" id="{18B3FE69-1E80-CE9C-7638-E4DA109FB6C3}"/>
              </a:ext>
            </a:extLst>
          </p:cNvPr>
          <p:cNvPicPr>
            <a:picLocks noChangeAspect="1"/>
          </p:cNvPicPr>
          <p:nvPr/>
        </p:nvPicPr>
        <p:blipFill>
          <a:blip r:embed="rId6"/>
          <a:stretch>
            <a:fillRect/>
          </a:stretch>
        </p:blipFill>
        <p:spPr>
          <a:xfrm>
            <a:off x="6572407" y="2533847"/>
            <a:ext cx="2783349" cy="19274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a:extLst>
            <a:ext uri="{FF2B5EF4-FFF2-40B4-BE49-F238E27FC236}">
              <a16:creationId xmlns:a16="http://schemas.microsoft.com/office/drawing/2014/main" id="{6C14A620-728F-52C3-A1B3-03A6F7B4484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36278B6-6C77-6D17-A525-45FA68DCFBA7}"/>
              </a:ext>
            </a:extLst>
          </p:cNvPr>
          <p:cNvPicPr>
            <a:picLocks noChangeAspect="1"/>
          </p:cNvPicPr>
          <p:nvPr/>
        </p:nvPicPr>
        <p:blipFill>
          <a:blip r:embed="rId3"/>
          <a:stretch>
            <a:fillRect/>
          </a:stretch>
        </p:blipFill>
        <p:spPr>
          <a:xfrm>
            <a:off x="10744200" y="320040"/>
            <a:ext cx="960120" cy="443405"/>
          </a:xfrm>
          <a:prstGeom prst="rect">
            <a:avLst/>
          </a:prstGeom>
        </p:spPr>
      </p:pic>
      <p:sp>
        <p:nvSpPr>
          <p:cNvPr id="3" name="Text 0">
            <a:extLst>
              <a:ext uri="{FF2B5EF4-FFF2-40B4-BE49-F238E27FC236}">
                <a16:creationId xmlns:a16="http://schemas.microsoft.com/office/drawing/2014/main" id="{45305750-0D80-1868-7FC1-621556BBD9DA}"/>
              </a:ext>
            </a:extLst>
          </p:cNvPr>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a:extLst>
              <a:ext uri="{FF2B5EF4-FFF2-40B4-BE49-F238E27FC236}">
                <a16:creationId xmlns:a16="http://schemas.microsoft.com/office/drawing/2014/main" id="{3CF604F3-4571-82EC-BEA6-930A0D1CD366}"/>
              </a:ext>
            </a:extLst>
          </p:cNvPr>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8</a:t>
            </a:r>
            <a:endParaRPr lang="en-US" sz="950" dirty="0"/>
          </a:p>
        </p:txBody>
      </p:sp>
      <p:sp>
        <p:nvSpPr>
          <p:cNvPr id="5" name="Text 2">
            <a:extLst>
              <a:ext uri="{FF2B5EF4-FFF2-40B4-BE49-F238E27FC236}">
                <a16:creationId xmlns:a16="http://schemas.microsoft.com/office/drawing/2014/main" id="{244365C3-E87C-5CE4-5E64-099ECEA1BACC}"/>
              </a:ext>
            </a:extLst>
          </p:cNvPr>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Database Design</a:t>
            </a:r>
            <a:endParaRPr lang="en-US" sz="2800" dirty="0"/>
          </a:p>
        </p:txBody>
      </p:sp>
      <p:sp>
        <p:nvSpPr>
          <p:cNvPr id="6" name="Text 3">
            <a:extLst>
              <a:ext uri="{FF2B5EF4-FFF2-40B4-BE49-F238E27FC236}">
                <a16:creationId xmlns:a16="http://schemas.microsoft.com/office/drawing/2014/main" id="{AE0C541D-C326-8099-5690-01E9F204037A}"/>
              </a:ext>
            </a:extLst>
          </p:cNvPr>
          <p:cNvSpPr/>
          <p:nvPr/>
        </p:nvSpPr>
        <p:spPr>
          <a:xfrm>
            <a:off x="548640" y="763445"/>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Core tables powering the portal</a:t>
            </a:r>
            <a:endParaRPr lang="en-US" sz="1300" dirty="0"/>
          </a:p>
        </p:txBody>
      </p:sp>
      <p:sp>
        <p:nvSpPr>
          <p:cNvPr id="7" name="Shape 4">
            <a:extLst>
              <a:ext uri="{FF2B5EF4-FFF2-40B4-BE49-F238E27FC236}">
                <a16:creationId xmlns:a16="http://schemas.microsoft.com/office/drawing/2014/main" id="{00DB178F-C53F-9D69-A3A6-2F4F076904E3}"/>
              </a:ext>
            </a:extLst>
          </p:cNvPr>
          <p:cNvSpPr/>
          <p:nvPr/>
        </p:nvSpPr>
        <p:spPr>
          <a:xfrm>
            <a:off x="548640" y="1150135"/>
            <a:ext cx="502920" cy="41148"/>
          </a:xfrm>
          <a:prstGeom prst="rect">
            <a:avLst/>
          </a:prstGeom>
          <a:solidFill>
            <a:srgbClr val="F15B40"/>
          </a:solidFill>
          <a:ln/>
        </p:spPr>
      </p:sp>
      <p:sp>
        <p:nvSpPr>
          <p:cNvPr id="11" name="Text 7">
            <a:extLst>
              <a:ext uri="{FF2B5EF4-FFF2-40B4-BE49-F238E27FC236}">
                <a16:creationId xmlns:a16="http://schemas.microsoft.com/office/drawing/2014/main" id="{B16A43CF-6F85-FDA6-28B4-B7879C896B2B}"/>
              </a:ext>
            </a:extLst>
          </p:cNvPr>
          <p:cNvSpPr/>
          <p:nvPr/>
        </p:nvSpPr>
        <p:spPr>
          <a:xfrm>
            <a:off x="685800" y="2606040"/>
            <a:ext cx="1920240" cy="365760"/>
          </a:xfrm>
          <a:prstGeom prst="rect">
            <a:avLst/>
          </a:prstGeom>
          <a:noFill/>
          <a:ln/>
        </p:spPr>
        <p:txBody>
          <a:bodyPr wrap="square" lIns="0" tIns="0" rIns="0" bIns="0" rtlCol="0" anchor="ctr"/>
          <a:lstStyle/>
          <a:p>
            <a:pPr marL="0" indent="0" algn="ctr">
              <a:buNone/>
            </a:pPr>
            <a:endParaRPr lang="en-US" sz="1300" dirty="0"/>
          </a:p>
        </p:txBody>
      </p:sp>
      <p:sp>
        <p:nvSpPr>
          <p:cNvPr id="12" name="Text 8">
            <a:extLst>
              <a:ext uri="{FF2B5EF4-FFF2-40B4-BE49-F238E27FC236}">
                <a16:creationId xmlns:a16="http://schemas.microsoft.com/office/drawing/2014/main" id="{088C6683-8C62-4D60-28AF-88049C44C5E4}"/>
              </a:ext>
            </a:extLst>
          </p:cNvPr>
          <p:cNvSpPr/>
          <p:nvPr/>
        </p:nvSpPr>
        <p:spPr>
          <a:xfrm>
            <a:off x="731520" y="2971800"/>
            <a:ext cx="1828800" cy="548640"/>
          </a:xfrm>
          <a:prstGeom prst="rect">
            <a:avLst/>
          </a:prstGeom>
          <a:noFill/>
          <a:ln/>
        </p:spPr>
        <p:txBody>
          <a:bodyPr wrap="square" lIns="0" tIns="0" rIns="0" bIns="0" rtlCol="0" anchor="ctr"/>
          <a:lstStyle/>
          <a:p>
            <a:pPr marL="0" indent="0" algn="ctr">
              <a:buNone/>
            </a:pPr>
            <a:endParaRPr lang="en-US" sz="1000" dirty="0"/>
          </a:p>
        </p:txBody>
      </p:sp>
      <p:sp>
        <p:nvSpPr>
          <p:cNvPr id="16" name="Text 11">
            <a:extLst>
              <a:ext uri="{FF2B5EF4-FFF2-40B4-BE49-F238E27FC236}">
                <a16:creationId xmlns:a16="http://schemas.microsoft.com/office/drawing/2014/main" id="{5BC954C7-9646-389B-CC1D-F9D3606DE957}"/>
              </a:ext>
            </a:extLst>
          </p:cNvPr>
          <p:cNvSpPr/>
          <p:nvPr/>
        </p:nvSpPr>
        <p:spPr>
          <a:xfrm>
            <a:off x="3017520" y="2606040"/>
            <a:ext cx="1920240" cy="365760"/>
          </a:xfrm>
          <a:prstGeom prst="rect">
            <a:avLst/>
          </a:prstGeom>
          <a:noFill/>
          <a:ln/>
        </p:spPr>
        <p:txBody>
          <a:bodyPr wrap="square" lIns="0" tIns="0" rIns="0" bIns="0" rtlCol="0" anchor="ctr"/>
          <a:lstStyle/>
          <a:p>
            <a:pPr marL="0" indent="0" algn="ctr">
              <a:buNone/>
            </a:pPr>
            <a:endParaRPr lang="en-US" sz="1300" dirty="0"/>
          </a:p>
        </p:txBody>
      </p:sp>
      <p:sp>
        <p:nvSpPr>
          <p:cNvPr id="17" name="Text 12">
            <a:extLst>
              <a:ext uri="{FF2B5EF4-FFF2-40B4-BE49-F238E27FC236}">
                <a16:creationId xmlns:a16="http://schemas.microsoft.com/office/drawing/2014/main" id="{09FC3B69-9F63-B892-F084-EC4CE7053BDF}"/>
              </a:ext>
            </a:extLst>
          </p:cNvPr>
          <p:cNvSpPr/>
          <p:nvPr/>
        </p:nvSpPr>
        <p:spPr>
          <a:xfrm>
            <a:off x="3063240" y="2971800"/>
            <a:ext cx="1528011" cy="548640"/>
          </a:xfrm>
          <a:prstGeom prst="rect">
            <a:avLst/>
          </a:prstGeom>
          <a:noFill/>
          <a:ln/>
        </p:spPr>
        <p:txBody>
          <a:bodyPr wrap="square" lIns="0" tIns="0" rIns="0" bIns="0" rtlCol="0" anchor="ctr"/>
          <a:lstStyle/>
          <a:p>
            <a:pPr marL="0" indent="0" algn="ctr">
              <a:buNone/>
            </a:pPr>
            <a:endParaRPr lang="en-US" sz="1000" dirty="0"/>
          </a:p>
        </p:txBody>
      </p:sp>
      <p:sp>
        <p:nvSpPr>
          <p:cNvPr id="21" name="Text 15">
            <a:extLst>
              <a:ext uri="{FF2B5EF4-FFF2-40B4-BE49-F238E27FC236}">
                <a16:creationId xmlns:a16="http://schemas.microsoft.com/office/drawing/2014/main" id="{C6E477F4-B9F8-BC15-D477-F1018216BAC1}"/>
              </a:ext>
            </a:extLst>
          </p:cNvPr>
          <p:cNvSpPr/>
          <p:nvPr/>
        </p:nvSpPr>
        <p:spPr>
          <a:xfrm>
            <a:off x="5349240" y="2606040"/>
            <a:ext cx="1920240" cy="365760"/>
          </a:xfrm>
          <a:prstGeom prst="rect">
            <a:avLst/>
          </a:prstGeom>
          <a:noFill/>
          <a:ln/>
        </p:spPr>
        <p:txBody>
          <a:bodyPr wrap="square" lIns="0" tIns="0" rIns="0" bIns="0" rtlCol="0" anchor="ctr"/>
          <a:lstStyle/>
          <a:p>
            <a:pPr marL="0" indent="0" algn="ctr">
              <a:buNone/>
            </a:pPr>
            <a:endParaRPr lang="en-US" sz="1300" dirty="0"/>
          </a:p>
        </p:txBody>
      </p:sp>
      <p:sp>
        <p:nvSpPr>
          <p:cNvPr id="22" name="Text 16">
            <a:extLst>
              <a:ext uri="{FF2B5EF4-FFF2-40B4-BE49-F238E27FC236}">
                <a16:creationId xmlns:a16="http://schemas.microsoft.com/office/drawing/2014/main" id="{34A5E3EC-6461-0F0E-F7B4-1E09DDD4486E}"/>
              </a:ext>
            </a:extLst>
          </p:cNvPr>
          <p:cNvSpPr/>
          <p:nvPr/>
        </p:nvSpPr>
        <p:spPr>
          <a:xfrm>
            <a:off x="5394960" y="2971800"/>
            <a:ext cx="1828800" cy="548640"/>
          </a:xfrm>
          <a:prstGeom prst="rect">
            <a:avLst/>
          </a:prstGeom>
          <a:noFill/>
          <a:ln/>
        </p:spPr>
        <p:txBody>
          <a:bodyPr wrap="square" lIns="0" tIns="0" rIns="0" bIns="0" rtlCol="0" anchor="ctr"/>
          <a:lstStyle/>
          <a:p>
            <a:pPr marL="0" indent="0" algn="ctr">
              <a:buNone/>
            </a:pPr>
            <a:endParaRPr lang="en-US" sz="1000" dirty="0"/>
          </a:p>
        </p:txBody>
      </p:sp>
      <p:sp>
        <p:nvSpPr>
          <p:cNvPr id="32" name="Text 24">
            <a:extLst>
              <a:ext uri="{FF2B5EF4-FFF2-40B4-BE49-F238E27FC236}">
                <a16:creationId xmlns:a16="http://schemas.microsoft.com/office/drawing/2014/main" id="{EA9341D2-CC3D-593E-C42C-CBFBD8ED270B}"/>
              </a:ext>
            </a:extLst>
          </p:cNvPr>
          <p:cNvSpPr/>
          <p:nvPr/>
        </p:nvSpPr>
        <p:spPr>
          <a:xfrm>
            <a:off x="10058400" y="2971800"/>
            <a:ext cx="1828800" cy="548640"/>
          </a:xfrm>
          <a:prstGeom prst="rect">
            <a:avLst/>
          </a:prstGeom>
          <a:noFill/>
          <a:ln/>
        </p:spPr>
        <p:txBody>
          <a:bodyPr wrap="square" lIns="0" tIns="0" rIns="0" bIns="0" rtlCol="0" anchor="ctr"/>
          <a:lstStyle/>
          <a:p>
            <a:pPr marL="0" indent="0" algn="ctr">
              <a:buNone/>
            </a:pPr>
            <a:endParaRPr lang="en-US" sz="1000" dirty="0"/>
          </a:p>
        </p:txBody>
      </p:sp>
      <p:sp>
        <p:nvSpPr>
          <p:cNvPr id="33" name="Text 25">
            <a:extLst>
              <a:ext uri="{FF2B5EF4-FFF2-40B4-BE49-F238E27FC236}">
                <a16:creationId xmlns:a16="http://schemas.microsoft.com/office/drawing/2014/main" id="{03C76733-2C3C-1854-A945-91A0E7F0EF9B}"/>
              </a:ext>
            </a:extLst>
          </p:cNvPr>
          <p:cNvSpPr/>
          <p:nvPr/>
        </p:nvSpPr>
        <p:spPr>
          <a:xfrm>
            <a:off x="594360" y="3977640"/>
            <a:ext cx="10789920" cy="640080"/>
          </a:xfrm>
          <a:prstGeom prst="rect">
            <a:avLst/>
          </a:prstGeom>
          <a:noFill/>
          <a:ln/>
        </p:spPr>
        <p:txBody>
          <a:bodyPr wrap="square" lIns="0" tIns="0" rIns="0" bIns="0" rtlCol="0" anchor="ctr"/>
          <a:lstStyle/>
          <a:p>
            <a:pPr marL="0" indent="0">
              <a:buNone/>
            </a:pPr>
            <a:endParaRPr lang="en-US" sz="1250" dirty="0"/>
          </a:p>
        </p:txBody>
      </p:sp>
      <p:sp>
        <p:nvSpPr>
          <p:cNvPr id="35" name="TextBox 34">
            <a:extLst>
              <a:ext uri="{FF2B5EF4-FFF2-40B4-BE49-F238E27FC236}">
                <a16:creationId xmlns:a16="http://schemas.microsoft.com/office/drawing/2014/main" id="{B1237C63-43DD-B547-52F3-79EDB2DBFCCD}"/>
              </a:ext>
            </a:extLst>
          </p:cNvPr>
          <p:cNvSpPr txBox="1"/>
          <p:nvPr/>
        </p:nvSpPr>
        <p:spPr>
          <a:xfrm>
            <a:off x="463618" y="1295770"/>
            <a:ext cx="3723372" cy="1754326"/>
          </a:xfrm>
          <a:prstGeom prst="rect">
            <a:avLst/>
          </a:prstGeom>
          <a:noFill/>
        </p:spPr>
        <p:txBody>
          <a:bodyPr wrap="square" rtlCol="0">
            <a:spAutoFit/>
          </a:bodyPr>
          <a:lstStyle/>
          <a:p>
            <a:r>
              <a:rPr lang="en-US" b="1" dirty="0"/>
              <a:t>connection.py</a:t>
            </a:r>
          </a:p>
          <a:p>
            <a:pPr marL="285750" indent="-285750">
              <a:buFont typeface="Arial" panose="020B0604020202020204" pitchFamily="34" charset="0"/>
              <a:buChar char="•"/>
            </a:pPr>
            <a:r>
              <a:rPr lang="en-US" dirty="0"/>
              <a:t>Creates the </a:t>
            </a:r>
            <a:r>
              <a:rPr lang="en-US" dirty="0" err="1"/>
              <a:t>SQLAlchemy</a:t>
            </a:r>
            <a:r>
              <a:rPr lang="en-US" dirty="0"/>
              <a:t> Engine </a:t>
            </a:r>
          </a:p>
          <a:p>
            <a:pPr marL="285750" indent="-285750">
              <a:buFont typeface="Arial" panose="020B0604020202020204" pitchFamily="34" charset="0"/>
              <a:buChar char="•"/>
            </a:pPr>
            <a:r>
              <a:rPr lang="en-US" dirty="0"/>
              <a:t>Establishes secure connection with MySQL </a:t>
            </a:r>
          </a:p>
          <a:p>
            <a:pPr marL="285750" indent="-285750">
              <a:buFont typeface="Arial" panose="020B0604020202020204" pitchFamily="34" charset="0"/>
              <a:buChar char="•"/>
            </a:pPr>
            <a:r>
              <a:rPr lang="en-US" dirty="0"/>
              <a:t>Centralizes database configuration</a:t>
            </a:r>
          </a:p>
          <a:p>
            <a:endParaRPr lang="en-IN" dirty="0"/>
          </a:p>
        </p:txBody>
      </p:sp>
      <p:sp>
        <p:nvSpPr>
          <p:cNvPr id="36" name="TextBox 35">
            <a:extLst>
              <a:ext uri="{FF2B5EF4-FFF2-40B4-BE49-F238E27FC236}">
                <a16:creationId xmlns:a16="http://schemas.microsoft.com/office/drawing/2014/main" id="{66726665-87DF-4D4B-9597-185B085CB668}"/>
              </a:ext>
            </a:extLst>
          </p:cNvPr>
          <p:cNvSpPr txBox="1"/>
          <p:nvPr/>
        </p:nvSpPr>
        <p:spPr>
          <a:xfrm>
            <a:off x="4300087" y="1291382"/>
            <a:ext cx="3790750" cy="2308324"/>
          </a:xfrm>
          <a:prstGeom prst="rect">
            <a:avLst/>
          </a:prstGeom>
          <a:noFill/>
        </p:spPr>
        <p:txBody>
          <a:bodyPr wrap="square" rtlCol="0">
            <a:spAutoFit/>
          </a:bodyPr>
          <a:lstStyle/>
          <a:p>
            <a:r>
              <a:rPr lang="en-IN" b="1" dirty="0"/>
              <a:t>reflection.py</a:t>
            </a:r>
          </a:p>
          <a:p>
            <a:pPr marL="285750" indent="-285750">
              <a:buFont typeface="Arial" panose="020B0604020202020204" pitchFamily="34" charset="0"/>
              <a:buChar char="•"/>
            </a:pPr>
            <a:r>
              <a:rPr lang="en-IN" dirty="0"/>
              <a:t>Dynamically reflects existing database schema </a:t>
            </a:r>
          </a:p>
          <a:p>
            <a:pPr marL="285750" indent="-285750">
              <a:buFont typeface="Arial" panose="020B0604020202020204" pitchFamily="34" charset="0"/>
              <a:buChar char="•"/>
            </a:pPr>
            <a:r>
              <a:rPr lang="en-IN" dirty="0"/>
              <a:t>Retrieves tables, columns and primary keys </a:t>
            </a:r>
          </a:p>
          <a:p>
            <a:pPr marL="285750" indent="-285750">
              <a:buFont typeface="Arial" panose="020B0604020202020204" pitchFamily="34" charset="0"/>
              <a:buChar char="•"/>
            </a:pPr>
            <a:r>
              <a:rPr lang="en-IN" dirty="0"/>
              <a:t>Eliminates hardcoded database structures</a:t>
            </a:r>
          </a:p>
          <a:p>
            <a:endParaRPr lang="en-IN" dirty="0"/>
          </a:p>
        </p:txBody>
      </p:sp>
      <p:sp>
        <p:nvSpPr>
          <p:cNvPr id="38" name="TextBox 37">
            <a:extLst>
              <a:ext uri="{FF2B5EF4-FFF2-40B4-BE49-F238E27FC236}">
                <a16:creationId xmlns:a16="http://schemas.microsoft.com/office/drawing/2014/main" id="{084FA0E0-0261-AB58-6FD3-CF18A1EDD7A4}"/>
              </a:ext>
            </a:extLst>
          </p:cNvPr>
          <p:cNvSpPr txBox="1"/>
          <p:nvPr/>
        </p:nvSpPr>
        <p:spPr>
          <a:xfrm>
            <a:off x="7752001" y="1288071"/>
            <a:ext cx="3790749" cy="1754326"/>
          </a:xfrm>
          <a:prstGeom prst="rect">
            <a:avLst/>
          </a:prstGeom>
          <a:noFill/>
        </p:spPr>
        <p:txBody>
          <a:bodyPr wrap="square">
            <a:spAutoFit/>
          </a:bodyPr>
          <a:lstStyle/>
          <a:p>
            <a:r>
              <a:rPr lang="en-US" b="1" dirty="0"/>
              <a:t>create_admin.py</a:t>
            </a:r>
          </a:p>
          <a:p>
            <a:pPr marL="285750" indent="-285750">
              <a:buFont typeface="Arial" panose="020B0604020202020204" pitchFamily="34" charset="0"/>
              <a:buChar char="•"/>
            </a:pPr>
            <a:r>
              <a:rPr lang="en-US" dirty="0"/>
              <a:t>Creates the default </a:t>
            </a:r>
            <a:r>
              <a:rPr lang="en-US" b="1" dirty="0"/>
              <a:t>Admin</a:t>
            </a:r>
            <a:r>
              <a:rPr lang="en-US" dirty="0"/>
              <a:t> account </a:t>
            </a:r>
          </a:p>
          <a:p>
            <a:pPr marL="285750" indent="-285750">
              <a:buFont typeface="Arial" panose="020B0604020202020204" pitchFamily="34" charset="0"/>
              <a:buChar char="•"/>
            </a:pPr>
            <a:r>
              <a:rPr lang="en-US" dirty="0"/>
              <a:t>Initializes the application with administrator credentials </a:t>
            </a:r>
          </a:p>
          <a:p>
            <a:pPr marL="285750" indent="-285750">
              <a:buFont typeface="Arial" panose="020B0604020202020204" pitchFamily="34" charset="0"/>
              <a:buChar char="•"/>
            </a:pPr>
            <a:r>
              <a:rPr lang="en-US" dirty="0"/>
              <a:t>Ensures secure first-time access to the portal</a:t>
            </a:r>
          </a:p>
        </p:txBody>
      </p:sp>
      <p:sp>
        <p:nvSpPr>
          <p:cNvPr id="20" name="TextBox 19">
            <a:extLst>
              <a:ext uri="{FF2B5EF4-FFF2-40B4-BE49-F238E27FC236}">
                <a16:creationId xmlns:a16="http://schemas.microsoft.com/office/drawing/2014/main" id="{99D0FDF7-1124-0A29-649F-1DCB9CA9DC21}"/>
              </a:ext>
            </a:extLst>
          </p:cNvPr>
          <p:cNvSpPr txBox="1"/>
          <p:nvPr/>
        </p:nvSpPr>
        <p:spPr>
          <a:xfrm>
            <a:off x="539014" y="3716162"/>
            <a:ext cx="6362299" cy="1477328"/>
          </a:xfrm>
          <a:prstGeom prst="rect">
            <a:avLst/>
          </a:prstGeom>
          <a:noFill/>
        </p:spPr>
        <p:txBody>
          <a:bodyPr wrap="square">
            <a:spAutoFit/>
          </a:bodyPr>
          <a:lstStyle/>
          <a:p>
            <a:r>
              <a:rPr lang="en-IN" b="1" dirty="0"/>
              <a:t>Key Contributions:</a:t>
            </a:r>
          </a:p>
          <a:p>
            <a:r>
              <a:rPr lang="en-IN" dirty="0"/>
              <a:t>✔ Configured MySQL database connectivity</a:t>
            </a:r>
          </a:p>
          <a:p>
            <a:r>
              <a:rPr lang="en-IN" dirty="0"/>
              <a:t>✔ Implemented dynamic schema reflection</a:t>
            </a:r>
          </a:p>
          <a:p>
            <a:r>
              <a:rPr lang="en-IN" dirty="0"/>
              <a:t>✔ Automated admin account initialization</a:t>
            </a:r>
          </a:p>
          <a:p>
            <a:r>
              <a:rPr lang="en-IN" dirty="0"/>
              <a:t>✔ Enabled flexible and scalable database operations</a:t>
            </a:r>
          </a:p>
        </p:txBody>
      </p:sp>
    </p:spTree>
    <p:extLst>
      <p:ext uri="{BB962C8B-B14F-4D97-AF65-F5344CB8AC3E}">
        <p14:creationId xmlns:p14="http://schemas.microsoft.com/office/powerpoint/2010/main" val="3629242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9</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Authentication Module</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Secure login built on hashed credentials and session state</a:t>
            </a:r>
            <a:endParaRPr lang="en-US" sz="1300" dirty="0"/>
          </a:p>
        </p:txBody>
      </p:sp>
      <p:sp>
        <p:nvSpPr>
          <p:cNvPr id="7" name="Shape 4"/>
          <p:cNvSpPr/>
          <p:nvPr/>
        </p:nvSpPr>
        <p:spPr>
          <a:xfrm>
            <a:off x="548640" y="1371600"/>
            <a:ext cx="502920" cy="41148"/>
          </a:xfrm>
          <a:prstGeom prst="rect">
            <a:avLst/>
          </a:prstGeom>
          <a:solidFill>
            <a:srgbClr val="F15B40"/>
          </a:solidFill>
          <a:ln/>
        </p:spPr>
      </p:sp>
      <p:sp>
        <p:nvSpPr>
          <p:cNvPr id="8" name="Shape 5"/>
          <p:cNvSpPr/>
          <p:nvPr/>
        </p:nvSpPr>
        <p:spPr>
          <a:xfrm>
            <a:off x="640080" y="1737360"/>
            <a:ext cx="365760" cy="365760"/>
          </a:xfrm>
          <a:prstGeom prst="ellipse">
            <a:avLst/>
          </a:prstGeom>
          <a:solidFill>
            <a:srgbClr val="E7EEF5"/>
          </a:solidFill>
          <a:ln/>
        </p:spPr>
      </p:sp>
      <p:pic>
        <p:nvPicPr>
          <p:cNvPr id="9" name="Image 1" descr="preencoded.png"/>
          <p:cNvPicPr>
            <a:picLocks noChangeAspect="1"/>
          </p:cNvPicPr>
          <p:nvPr/>
        </p:nvPicPr>
        <p:blipFill>
          <a:blip r:embed="rId4"/>
          <a:stretch>
            <a:fillRect/>
          </a:stretch>
        </p:blipFill>
        <p:spPr>
          <a:xfrm>
            <a:off x="735178" y="1832458"/>
            <a:ext cx="175565" cy="175565"/>
          </a:xfrm>
          <a:prstGeom prst="rect">
            <a:avLst/>
          </a:prstGeom>
        </p:spPr>
      </p:pic>
      <p:sp>
        <p:nvSpPr>
          <p:cNvPr id="10" name="Text 6"/>
          <p:cNvSpPr/>
          <p:nvPr/>
        </p:nvSpPr>
        <p:spPr>
          <a:xfrm>
            <a:off x="1170432" y="1709928"/>
            <a:ext cx="4590288" cy="777240"/>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Login</a:t>
            </a:r>
            <a:endParaRPr lang="en-US" sz="1500" dirty="0"/>
          </a:p>
        </p:txBody>
      </p:sp>
      <p:sp>
        <p:nvSpPr>
          <p:cNvPr id="11" name="Shape 7"/>
          <p:cNvSpPr/>
          <p:nvPr/>
        </p:nvSpPr>
        <p:spPr>
          <a:xfrm>
            <a:off x="640080" y="2514600"/>
            <a:ext cx="365760" cy="365760"/>
          </a:xfrm>
          <a:prstGeom prst="ellipse">
            <a:avLst/>
          </a:prstGeom>
          <a:solidFill>
            <a:srgbClr val="E7EEF5"/>
          </a:solidFill>
          <a:ln/>
        </p:spPr>
      </p:sp>
      <p:pic>
        <p:nvPicPr>
          <p:cNvPr id="12" name="Image 2" descr="preencoded.png"/>
          <p:cNvPicPr>
            <a:picLocks noChangeAspect="1"/>
          </p:cNvPicPr>
          <p:nvPr/>
        </p:nvPicPr>
        <p:blipFill>
          <a:blip r:embed="rId4"/>
          <a:stretch>
            <a:fillRect/>
          </a:stretch>
        </p:blipFill>
        <p:spPr>
          <a:xfrm>
            <a:off x="735178" y="2609698"/>
            <a:ext cx="175565" cy="175565"/>
          </a:xfrm>
          <a:prstGeom prst="rect">
            <a:avLst/>
          </a:prstGeom>
        </p:spPr>
      </p:pic>
      <p:sp>
        <p:nvSpPr>
          <p:cNvPr id="13" name="Text 8"/>
          <p:cNvSpPr/>
          <p:nvPr/>
        </p:nvSpPr>
        <p:spPr>
          <a:xfrm>
            <a:off x="1170432" y="2487168"/>
            <a:ext cx="4590288" cy="777240"/>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Password Hashing</a:t>
            </a:r>
            <a:endParaRPr lang="en-US" sz="1500" dirty="0"/>
          </a:p>
        </p:txBody>
      </p:sp>
      <p:sp>
        <p:nvSpPr>
          <p:cNvPr id="14" name="Shape 9"/>
          <p:cNvSpPr/>
          <p:nvPr/>
        </p:nvSpPr>
        <p:spPr>
          <a:xfrm>
            <a:off x="640080" y="3291840"/>
            <a:ext cx="365760" cy="365760"/>
          </a:xfrm>
          <a:prstGeom prst="ellipse">
            <a:avLst/>
          </a:prstGeom>
          <a:solidFill>
            <a:srgbClr val="E7EEF5"/>
          </a:solidFill>
          <a:ln/>
        </p:spPr>
      </p:sp>
      <p:pic>
        <p:nvPicPr>
          <p:cNvPr id="15" name="Image 3" descr="preencoded.png"/>
          <p:cNvPicPr>
            <a:picLocks noChangeAspect="1"/>
          </p:cNvPicPr>
          <p:nvPr/>
        </p:nvPicPr>
        <p:blipFill>
          <a:blip r:embed="rId4"/>
          <a:stretch>
            <a:fillRect/>
          </a:stretch>
        </p:blipFill>
        <p:spPr>
          <a:xfrm>
            <a:off x="735178" y="3386938"/>
            <a:ext cx="175565" cy="175565"/>
          </a:xfrm>
          <a:prstGeom prst="rect">
            <a:avLst/>
          </a:prstGeom>
        </p:spPr>
      </p:pic>
      <p:sp>
        <p:nvSpPr>
          <p:cNvPr id="16" name="Text 10"/>
          <p:cNvSpPr/>
          <p:nvPr/>
        </p:nvSpPr>
        <p:spPr>
          <a:xfrm>
            <a:off x="1170432" y="3264408"/>
            <a:ext cx="4590288" cy="777240"/>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Session Management</a:t>
            </a:r>
            <a:endParaRPr lang="en-US" sz="1500" dirty="0"/>
          </a:p>
        </p:txBody>
      </p:sp>
      <p:sp>
        <p:nvSpPr>
          <p:cNvPr id="17" name="Shape 11"/>
          <p:cNvSpPr/>
          <p:nvPr/>
        </p:nvSpPr>
        <p:spPr>
          <a:xfrm>
            <a:off x="640080" y="4069080"/>
            <a:ext cx="365760" cy="365760"/>
          </a:xfrm>
          <a:prstGeom prst="ellipse">
            <a:avLst/>
          </a:prstGeom>
          <a:solidFill>
            <a:srgbClr val="E7EEF5"/>
          </a:solidFill>
          <a:ln/>
        </p:spPr>
      </p:sp>
      <p:pic>
        <p:nvPicPr>
          <p:cNvPr id="18" name="Image 4" descr="preencoded.png"/>
          <p:cNvPicPr>
            <a:picLocks noChangeAspect="1"/>
          </p:cNvPicPr>
          <p:nvPr/>
        </p:nvPicPr>
        <p:blipFill>
          <a:blip r:embed="rId4"/>
          <a:stretch>
            <a:fillRect/>
          </a:stretch>
        </p:blipFill>
        <p:spPr>
          <a:xfrm>
            <a:off x="735178" y="4164178"/>
            <a:ext cx="175565" cy="175565"/>
          </a:xfrm>
          <a:prstGeom prst="rect">
            <a:avLst/>
          </a:prstGeom>
        </p:spPr>
      </p:pic>
      <p:sp>
        <p:nvSpPr>
          <p:cNvPr id="19" name="Text 12"/>
          <p:cNvSpPr/>
          <p:nvPr/>
        </p:nvSpPr>
        <p:spPr>
          <a:xfrm>
            <a:off x="1170432" y="4041648"/>
            <a:ext cx="4590288" cy="777240"/>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Role Verification</a:t>
            </a:r>
            <a:endParaRPr lang="en-US" sz="1500" dirty="0"/>
          </a:p>
        </p:txBody>
      </p:sp>
      <p:sp>
        <p:nvSpPr>
          <p:cNvPr id="23" name="Text 15"/>
          <p:cNvSpPr/>
          <p:nvPr/>
        </p:nvSpPr>
        <p:spPr>
          <a:xfrm>
            <a:off x="6583680" y="3931920"/>
            <a:ext cx="4846320" cy="365760"/>
          </a:xfrm>
          <a:prstGeom prst="rect">
            <a:avLst/>
          </a:prstGeom>
          <a:noFill/>
          <a:ln/>
        </p:spPr>
        <p:txBody>
          <a:bodyPr wrap="square" lIns="0" tIns="0" rIns="0" bIns="0" rtlCol="0" anchor="ctr"/>
          <a:lstStyle/>
          <a:p>
            <a:pPr marL="0" indent="0" algn="ctr">
              <a:buNone/>
            </a:pP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10</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Role Based Access Control</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What each role can and cannot do</a:t>
            </a:r>
            <a:endParaRPr lang="en-US" sz="1300" dirty="0"/>
          </a:p>
        </p:txBody>
      </p:sp>
      <p:sp>
        <p:nvSpPr>
          <p:cNvPr id="7" name="Shape 4"/>
          <p:cNvSpPr/>
          <p:nvPr/>
        </p:nvSpPr>
        <p:spPr>
          <a:xfrm>
            <a:off x="548640" y="1371600"/>
            <a:ext cx="502920" cy="41148"/>
          </a:xfrm>
          <a:prstGeom prst="rect">
            <a:avLst/>
          </a:prstGeom>
          <a:solidFill>
            <a:srgbClr val="F15B40"/>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463040" y="1691640"/>
          <a:ext cx="9235440" cy="4572000"/>
        </p:xfrm>
        <a:graphic>
          <a:graphicData uri="http://schemas.openxmlformats.org/drawingml/2006/table">
            <a:tbl>
              <a:tblPr/>
              <a:tblGrid>
                <a:gridCol w="4206240">
                  <a:extLst>
                    <a:ext uri="{9D8B030D-6E8A-4147-A177-3AD203B41FA5}">
                      <a16:colId xmlns:a16="http://schemas.microsoft.com/office/drawing/2014/main" val="20000"/>
                    </a:ext>
                  </a:extLst>
                </a:gridCol>
                <a:gridCol w="1673352">
                  <a:extLst>
                    <a:ext uri="{9D8B030D-6E8A-4147-A177-3AD203B41FA5}">
                      <a16:colId xmlns:a16="http://schemas.microsoft.com/office/drawing/2014/main" val="20001"/>
                    </a:ext>
                  </a:extLst>
                </a:gridCol>
                <a:gridCol w="1673352">
                  <a:extLst>
                    <a:ext uri="{9D8B030D-6E8A-4147-A177-3AD203B41FA5}">
                      <a16:colId xmlns:a16="http://schemas.microsoft.com/office/drawing/2014/main" val="20002"/>
                    </a:ext>
                  </a:extLst>
                </a:gridCol>
                <a:gridCol w="1682496">
                  <a:extLst>
                    <a:ext uri="{9D8B030D-6E8A-4147-A177-3AD203B41FA5}">
                      <a16:colId xmlns:a16="http://schemas.microsoft.com/office/drawing/2014/main" val="20003"/>
                    </a:ext>
                  </a:extLst>
                </a:gridCol>
              </a:tblGrid>
              <a:tr h="50800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08234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Admin</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08234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Editor</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08234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Viewer</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082340"/>
                    </a:solidFill>
                  </a:tcPr>
                </a:tc>
                <a:extLst>
                  <a:ext uri="{0D108BD9-81ED-4DB2-BD59-A6C34878D82A}">
                    <a16:rowId xmlns:a16="http://schemas.microsoft.com/office/drawing/2014/main" val="10000"/>
                  </a:ext>
                </a:extLst>
              </a:tr>
              <a:tr h="508000">
                <a:tc>
                  <a:txBody>
                    <a:bodyPr/>
                    <a:lstStyle/>
                    <a:p>
                      <a:pPr marL="0" indent="0">
                        <a:buNone/>
                      </a:pPr>
                      <a:r>
                        <a:rPr lang="en-US" sz="1300" dirty="0">
                          <a:solidFill>
                            <a:srgbClr val="16232E"/>
                          </a:solidFill>
                          <a:latin typeface="Calibri" pitchFamily="34" charset="0"/>
                          <a:ea typeface="Calibri" pitchFamily="34" charset="-122"/>
                          <a:cs typeface="Calibri" pitchFamily="34" charset="-120"/>
                        </a:rPr>
                        <a:t>View Data</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8000">
                <a:tc>
                  <a:txBody>
                    <a:bodyPr/>
                    <a:lstStyle/>
                    <a:p>
                      <a:pPr marL="0" indent="0">
                        <a:buNone/>
                      </a:pPr>
                      <a:r>
                        <a:rPr lang="en-US" sz="1300" dirty="0">
                          <a:solidFill>
                            <a:srgbClr val="16232E"/>
                          </a:solidFill>
                          <a:latin typeface="Calibri" pitchFamily="34" charset="0"/>
                          <a:ea typeface="Calibri" pitchFamily="34" charset="-122"/>
                          <a:cs typeface="Calibri" pitchFamily="34" charset="-120"/>
                        </a:rPr>
                        <a:t>Insert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15B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8000">
                <a:tc>
                  <a:txBody>
                    <a:bodyPr/>
                    <a:lstStyle/>
                    <a:p>
                      <a:pPr marL="0" indent="0">
                        <a:buNone/>
                      </a:pPr>
                      <a:r>
                        <a:rPr lang="en-US" sz="1300" dirty="0">
                          <a:solidFill>
                            <a:srgbClr val="16232E"/>
                          </a:solidFill>
                          <a:latin typeface="Calibri" pitchFamily="34" charset="0"/>
                          <a:ea typeface="Calibri" pitchFamily="34" charset="-122"/>
                          <a:cs typeface="Calibri" pitchFamily="34" charset="-120"/>
                        </a:rPr>
                        <a:t>Update</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15B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8000">
                <a:tc>
                  <a:txBody>
                    <a:bodyPr/>
                    <a:lstStyle/>
                    <a:p>
                      <a:pPr marL="0" indent="0">
                        <a:buNone/>
                      </a:pPr>
                      <a:r>
                        <a:rPr lang="en-US" sz="1300" dirty="0">
                          <a:solidFill>
                            <a:srgbClr val="16232E"/>
                          </a:solidFill>
                          <a:latin typeface="Calibri" pitchFamily="34" charset="0"/>
                          <a:ea typeface="Calibri" pitchFamily="34" charset="-122"/>
                          <a:cs typeface="Calibri" pitchFamily="34" charset="-120"/>
                        </a:rPr>
                        <a:t>Delete</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15B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15B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8000">
                <a:tc>
                  <a:txBody>
                    <a:bodyPr/>
                    <a:lstStyle/>
                    <a:p>
                      <a:pPr marL="0" indent="0">
                        <a:buNone/>
                      </a:pPr>
                      <a:r>
                        <a:rPr lang="en-US" sz="1300" dirty="0">
                          <a:solidFill>
                            <a:srgbClr val="16232E"/>
                          </a:solidFill>
                          <a:latin typeface="Calibri" pitchFamily="34" charset="0"/>
                          <a:ea typeface="Calibri" pitchFamily="34" charset="-122"/>
                          <a:cs typeface="Calibri" pitchFamily="34" charset="-120"/>
                        </a:rPr>
                        <a:t>User Management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15B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15B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8000">
                <a:tc>
                  <a:txBody>
                    <a:bodyPr/>
                    <a:lstStyle/>
                    <a:p>
                      <a:pPr marL="0" indent="0">
                        <a:buNone/>
                      </a:pPr>
                      <a:r>
                        <a:rPr lang="en-US" sz="1300" dirty="0">
                          <a:solidFill>
                            <a:srgbClr val="16232E"/>
                          </a:solidFill>
                          <a:latin typeface="Calibri" pitchFamily="34" charset="0"/>
                          <a:ea typeface="Calibri" pitchFamily="34" charset="-122"/>
                          <a:cs typeface="Calibri" pitchFamily="34" charset="-120"/>
                        </a:rPr>
                        <a:t>Permission Management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15B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15B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8000">
                <a:tc>
                  <a:txBody>
                    <a:bodyPr/>
                    <a:lstStyle/>
                    <a:p>
                      <a:pPr marL="0" indent="0">
                        <a:buNone/>
                      </a:pPr>
                      <a:r>
                        <a:rPr lang="en-US" sz="1300" dirty="0">
                          <a:solidFill>
                            <a:srgbClr val="16232E"/>
                          </a:solidFill>
                          <a:latin typeface="Calibri" pitchFamily="34" charset="0"/>
                          <a:ea typeface="Calibri" pitchFamily="34" charset="-122"/>
                          <a:cs typeface="Calibri" pitchFamily="34" charset="-120"/>
                        </a:rPr>
                        <a:t>Audit Logs</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15B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15B4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8000">
                <a:tc>
                  <a:txBody>
                    <a:bodyPr/>
                    <a:lstStyle/>
                    <a:p>
                      <a:pPr marL="0" indent="0">
                        <a:buNone/>
                      </a:pPr>
                      <a:r>
                        <a:rPr lang="en-US" sz="1300" dirty="0">
                          <a:solidFill>
                            <a:srgbClr val="16232E"/>
                          </a:solidFill>
                          <a:latin typeface="Calibri" pitchFamily="34" charset="0"/>
                          <a:ea typeface="Calibri" pitchFamily="34" charset="-122"/>
                          <a:cs typeface="Calibri" pitchFamily="34" charset="-120"/>
                        </a:rPr>
                        <a:t>AI Analysis</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E7A4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11</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Dynamic Database Reflection</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No hardcoded tables — the portal adapts to your schema automatically</a:t>
            </a:r>
            <a:endParaRPr lang="en-US" sz="1300" dirty="0"/>
          </a:p>
        </p:txBody>
      </p:sp>
      <p:sp>
        <p:nvSpPr>
          <p:cNvPr id="7" name="Shape 4"/>
          <p:cNvSpPr/>
          <p:nvPr/>
        </p:nvSpPr>
        <p:spPr>
          <a:xfrm>
            <a:off x="548640" y="1371600"/>
            <a:ext cx="502920" cy="41148"/>
          </a:xfrm>
          <a:prstGeom prst="rect">
            <a:avLst/>
          </a:prstGeom>
          <a:solidFill>
            <a:srgbClr val="F15B40"/>
          </a:solidFill>
          <a:ln/>
        </p:spPr>
      </p:sp>
      <p:sp>
        <p:nvSpPr>
          <p:cNvPr id="8" name="Text 5"/>
          <p:cNvSpPr/>
          <p:nvPr/>
        </p:nvSpPr>
        <p:spPr>
          <a:xfrm>
            <a:off x="640080" y="1600200"/>
            <a:ext cx="5120640" cy="365760"/>
          </a:xfrm>
          <a:prstGeom prst="rect">
            <a:avLst/>
          </a:prstGeom>
          <a:noFill/>
          <a:ln/>
        </p:spPr>
        <p:txBody>
          <a:bodyPr wrap="square" lIns="0" tIns="0" rIns="0" bIns="0" rtlCol="0" anchor="ctr"/>
          <a:lstStyle/>
          <a:p>
            <a:pPr marL="0" indent="0">
              <a:buNone/>
            </a:pPr>
            <a:r>
              <a:rPr lang="en-US" sz="1600" b="1" dirty="0">
                <a:solidFill>
                  <a:srgbClr val="082340"/>
                </a:solidFill>
                <a:latin typeface="Calibri" pitchFamily="34" charset="0"/>
                <a:ea typeface="Calibri" pitchFamily="34" charset="-122"/>
                <a:cs typeface="Calibri" pitchFamily="34" charset="-120"/>
              </a:rPr>
              <a:t>Implemented Functions</a:t>
            </a:r>
            <a:endParaRPr lang="en-US" sz="1600" dirty="0"/>
          </a:p>
        </p:txBody>
      </p:sp>
      <p:sp>
        <p:nvSpPr>
          <p:cNvPr id="9" name="Shape 6"/>
          <p:cNvSpPr/>
          <p:nvPr/>
        </p:nvSpPr>
        <p:spPr>
          <a:xfrm>
            <a:off x="640080" y="2148840"/>
            <a:ext cx="365760" cy="365760"/>
          </a:xfrm>
          <a:prstGeom prst="ellipse">
            <a:avLst/>
          </a:prstGeom>
          <a:solidFill>
            <a:srgbClr val="E7EEF5"/>
          </a:solidFill>
          <a:ln/>
        </p:spPr>
      </p:sp>
      <p:pic>
        <p:nvPicPr>
          <p:cNvPr id="10" name="Image 1" descr="preencoded.png"/>
          <p:cNvPicPr>
            <a:picLocks noChangeAspect="1"/>
          </p:cNvPicPr>
          <p:nvPr/>
        </p:nvPicPr>
        <p:blipFill>
          <a:blip r:embed="rId4"/>
          <a:stretch>
            <a:fillRect/>
          </a:stretch>
        </p:blipFill>
        <p:spPr>
          <a:xfrm>
            <a:off x="735178" y="2243938"/>
            <a:ext cx="175565" cy="175565"/>
          </a:xfrm>
          <a:prstGeom prst="rect">
            <a:avLst/>
          </a:prstGeom>
        </p:spPr>
      </p:pic>
      <p:sp>
        <p:nvSpPr>
          <p:cNvPr id="11" name="Text 7"/>
          <p:cNvSpPr/>
          <p:nvPr/>
        </p:nvSpPr>
        <p:spPr>
          <a:xfrm>
            <a:off x="1170432" y="2121408"/>
            <a:ext cx="4590288" cy="658368"/>
          </a:xfrm>
          <a:prstGeom prst="rect">
            <a:avLst/>
          </a:prstGeom>
          <a:noFill/>
          <a:ln/>
        </p:spPr>
        <p:txBody>
          <a:bodyPr wrap="square" lIns="0" tIns="0" rIns="0" bIns="0" rtlCol="0" anchor="t"/>
          <a:lstStyle/>
          <a:p>
            <a:pPr marL="0" indent="0">
              <a:buNone/>
            </a:pPr>
            <a:r>
              <a:rPr lang="en-US" sz="1350" dirty="0">
                <a:solidFill>
                  <a:srgbClr val="16232E"/>
                </a:solidFill>
                <a:latin typeface="Calibri" pitchFamily="34" charset="0"/>
                <a:ea typeface="Calibri" pitchFamily="34" charset="-122"/>
                <a:cs typeface="Calibri" pitchFamily="34" charset="-120"/>
              </a:rPr>
              <a:t>Get All Tables</a:t>
            </a:r>
            <a:endParaRPr lang="en-US" sz="1350" dirty="0"/>
          </a:p>
        </p:txBody>
      </p:sp>
      <p:sp>
        <p:nvSpPr>
          <p:cNvPr id="12" name="Shape 8"/>
          <p:cNvSpPr/>
          <p:nvPr/>
        </p:nvSpPr>
        <p:spPr>
          <a:xfrm>
            <a:off x="640080" y="2807208"/>
            <a:ext cx="365760" cy="365760"/>
          </a:xfrm>
          <a:prstGeom prst="ellipse">
            <a:avLst/>
          </a:prstGeom>
          <a:solidFill>
            <a:srgbClr val="E7EEF5"/>
          </a:solidFill>
          <a:ln/>
        </p:spPr>
      </p:sp>
      <p:pic>
        <p:nvPicPr>
          <p:cNvPr id="13" name="Image 2" descr="preencoded.png"/>
          <p:cNvPicPr>
            <a:picLocks noChangeAspect="1"/>
          </p:cNvPicPr>
          <p:nvPr/>
        </p:nvPicPr>
        <p:blipFill>
          <a:blip r:embed="rId4"/>
          <a:stretch>
            <a:fillRect/>
          </a:stretch>
        </p:blipFill>
        <p:spPr>
          <a:xfrm>
            <a:off x="735178" y="2902306"/>
            <a:ext cx="175565" cy="175565"/>
          </a:xfrm>
          <a:prstGeom prst="rect">
            <a:avLst/>
          </a:prstGeom>
        </p:spPr>
      </p:pic>
      <p:sp>
        <p:nvSpPr>
          <p:cNvPr id="14" name="Text 9"/>
          <p:cNvSpPr/>
          <p:nvPr/>
        </p:nvSpPr>
        <p:spPr>
          <a:xfrm>
            <a:off x="1170432" y="2779776"/>
            <a:ext cx="4590288" cy="658368"/>
          </a:xfrm>
          <a:prstGeom prst="rect">
            <a:avLst/>
          </a:prstGeom>
          <a:noFill/>
          <a:ln/>
        </p:spPr>
        <p:txBody>
          <a:bodyPr wrap="square" lIns="0" tIns="0" rIns="0" bIns="0" rtlCol="0" anchor="t"/>
          <a:lstStyle/>
          <a:p>
            <a:pPr marL="0" indent="0">
              <a:buNone/>
            </a:pPr>
            <a:r>
              <a:rPr lang="en-US" sz="1350" dirty="0">
                <a:solidFill>
                  <a:srgbClr val="16232E"/>
                </a:solidFill>
                <a:latin typeface="Calibri" pitchFamily="34" charset="0"/>
                <a:ea typeface="Calibri" pitchFamily="34" charset="-122"/>
                <a:cs typeface="Calibri" pitchFamily="34" charset="-120"/>
              </a:rPr>
              <a:t>Get Table Object</a:t>
            </a:r>
            <a:endParaRPr lang="en-US" sz="1350" dirty="0"/>
          </a:p>
        </p:txBody>
      </p:sp>
      <p:sp>
        <p:nvSpPr>
          <p:cNvPr id="15" name="Shape 10"/>
          <p:cNvSpPr/>
          <p:nvPr/>
        </p:nvSpPr>
        <p:spPr>
          <a:xfrm>
            <a:off x="640080" y="3465576"/>
            <a:ext cx="365760" cy="365760"/>
          </a:xfrm>
          <a:prstGeom prst="ellipse">
            <a:avLst/>
          </a:prstGeom>
          <a:solidFill>
            <a:srgbClr val="E7EEF5"/>
          </a:solidFill>
          <a:ln/>
        </p:spPr>
      </p:sp>
      <p:pic>
        <p:nvPicPr>
          <p:cNvPr id="16" name="Image 3" descr="preencoded.png"/>
          <p:cNvPicPr>
            <a:picLocks noChangeAspect="1"/>
          </p:cNvPicPr>
          <p:nvPr/>
        </p:nvPicPr>
        <p:blipFill>
          <a:blip r:embed="rId4"/>
          <a:stretch>
            <a:fillRect/>
          </a:stretch>
        </p:blipFill>
        <p:spPr>
          <a:xfrm>
            <a:off x="735178" y="3560674"/>
            <a:ext cx="175565" cy="175565"/>
          </a:xfrm>
          <a:prstGeom prst="rect">
            <a:avLst/>
          </a:prstGeom>
        </p:spPr>
      </p:pic>
      <p:sp>
        <p:nvSpPr>
          <p:cNvPr id="17" name="Text 11"/>
          <p:cNvSpPr/>
          <p:nvPr/>
        </p:nvSpPr>
        <p:spPr>
          <a:xfrm>
            <a:off x="1170432" y="3438144"/>
            <a:ext cx="4590288" cy="658368"/>
          </a:xfrm>
          <a:prstGeom prst="rect">
            <a:avLst/>
          </a:prstGeom>
          <a:noFill/>
          <a:ln/>
        </p:spPr>
        <p:txBody>
          <a:bodyPr wrap="square" lIns="0" tIns="0" rIns="0" bIns="0" rtlCol="0" anchor="t"/>
          <a:lstStyle/>
          <a:p>
            <a:pPr marL="0" indent="0">
              <a:buNone/>
            </a:pPr>
            <a:r>
              <a:rPr lang="en-US" sz="1350" dirty="0">
                <a:solidFill>
                  <a:srgbClr val="16232E"/>
                </a:solidFill>
                <a:latin typeface="Calibri" pitchFamily="34" charset="0"/>
                <a:ea typeface="Calibri" pitchFamily="34" charset="-122"/>
                <a:cs typeface="Calibri" pitchFamily="34" charset="-120"/>
              </a:rPr>
              <a:t>Get Primary Key</a:t>
            </a:r>
            <a:endParaRPr lang="en-US" sz="1350" dirty="0"/>
          </a:p>
        </p:txBody>
      </p:sp>
      <p:sp>
        <p:nvSpPr>
          <p:cNvPr id="18" name="Shape 12"/>
          <p:cNvSpPr/>
          <p:nvPr/>
        </p:nvSpPr>
        <p:spPr>
          <a:xfrm>
            <a:off x="640080" y="4123944"/>
            <a:ext cx="365760" cy="365760"/>
          </a:xfrm>
          <a:prstGeom prst="ellipse">
            <a:avLst/>
          </a:prstGeom>
          <a:solidFill>
            <a:srgbClr val="E7EEF5"/>
          </a:solidFill>
          <a:ln/>
        </p:spPr>
      </p:sp>
      <p:pic>
        <p:nvPicPr>
          <p:cNvPr id="19" name="Image 4" descr="preencoded.png"/>
          <p:cNvPicPr>
            <a:picLocks noChangeAspect="1"/>
          </p:cNvPicPr>
          <p:nvPr/>
        </p:nvPicPr>
        <p:blipFill>
          <a:blip r:embed="rId4"/>
          <a:stretch>
            <a:fillRect/>
          </a:stretch>
        </p:blipFill>
        <p:spPr>
          <a:xfrm>
            <a:off x="735178" y="4219042"/>
            <a:ext cx="175565" cy="175565"/>
          </a:xfrm>
          <a:prstGeom prst="rect">
            <a:avLst/>
          </a:prstGeom>
        </p:spPr>
      </p:pic>
      <p:sp>
        <p:nvSpPr>
          <p:cNvPr id="20" name="Text 13"/>
          <p:cNvSpPr/>
          <p:nvPr/>
        </p:nvSpPr>
        <p:spPr>
          <a:xfrm>
            <a:off x="1170432" y="4096512"/>
            <a:ext cx="4590288" cy="658368"/>
          </a:xfrm>
          <a:prstGeom prst="rect">
            <a:avLst/>
          </a:prstGeom>
          <a:noFill/>
          <a:ln/>
        </p:spPr>
        <p:txBody>
          <a:bodyPr wrap="square" lIns="0" tIns="0" rIns="0" bIns="0" rtlCol="0" anchor="t"/>
          <a:lstStyle/>
          <a:p>
            <a:pPr marL="0" indent="0">
              <a:buNone/>
            </a:pPr>
            <a:r>
              <a:rPr lang="en-US" sz="1350" dirty="0">
                <a:solidFill>
                  <a:srgbClr val="16232E"/>
                </a:solidFill>
                <a:latin typeface="Calibri" pitchFamily="34" charset="0"/>
                <a:ea typeface="Calibri" pitchFamily="34" charset="-122"/>
                <a:cs typeface="Calibri" pitchFamily="34" charset="-120"/>
              </a:rPr>
              <a:t>Dynamic Schema Detection</a:t>
            </a:r>
            <a:endParaRPr lang="en-US" sz="1350" dirty="0"/>
          </a:p>
        </p:txBody>
      </p:sp>
      <p:sp>
        <p:nvSpPr>
          <p:cNvPr id="21" name="Text 14"/>
          <p:cNvSpPr/>
          <p:nvPr/>
        </p:nvSpPr>
        <p:spPr>
          <a:xfrm>
            <a:off x="6400800" y="1600200"/>
            <a:ext cx="5120640" cy="365760"/>
          </a:xfrm>
          <a:prstGeom prst="rect">
            <a:avLst/>
          </a:prstGeom>
          <a:noFill/>
          <a:ln/>
        </p:spPr>
        <p:txBody>
          <a:bodyPr wrap="square" lIns="0" tIns="0" rIns="0" bIns="0" rtlCol="0" anchor="ctr"/>
          <a:lstStyle/>
          <a:p>
            <a:pPr marL="0" indent="0">
              <a:buNone/>
            </a:pPr>
            <a:r>
              <a:rPr lang="en-US" sz="1600" b="1" dirty="0">
                <a:solidFill>
                  <a:srgbClr val="082340"/>
                </a:solidFill>
                <a:latin typeface="Calibri" pitchFamily="34" charset="0"/>
                <a:ea typeface="Calibri" pitchFamily="34" charset="-122"/>
                <a:cs typeface="Calibri" pitchFamily="34" charset="-120"/>
              </a:rPr>
              <a:t>Benefits</a:t>
            </a:r>
            <a:endParaRPr lang="en-US" sz="1600" dirty="0"/>
          </a:p>
        </p:txBody>
      </p:sp>
      <p:sp>
        <p:nvSpPr>
          <p:cNvPr id="22" name="Shape 15"/>
          <p:cNvSpPr/>
          <p:nvPr/>
        </p:nvSpPr>
        <p:spPr>
          <a:xfrm>
            <a:off x="6400800" y="2148840"/>
            <a:ext cx="365760" cy="365760"/>
          </a:xfrm>
          <a:prstGeom prst="ellipse">
            <a:avLst/>
          </a:prstGeom>
          <a:solidFill>
            <a:srgbClr val="E7EEF5"/>
          </a:solidFill>
          <a:ln/>
        </p:spPr>
      </p:sp>
      <p:pic>
        <p:nvPicPr>
          <p:cNvPr id="23" name="Image 5" descr="preencoded.png"/>
          <p:cNvPicPr>
            <a:picLocks noChangeAspect="1"/>
          </p:cNvPicPr>
          <p:nvPr/>
        </p:nvPicPr>
        <p:blipFill>
          <a:blip r:embed="rId5"/>
          <a:stretch>
            <a:fillRect/>
          </a:stretch>
        </p:blipFill>
        <p:spPr>
          <a:xfrm>
            <a:off x="6495898" y="2243938"/>
            <a:ext cx="175565" cy="175565"/>
          </a:xfrm>
          <a:prstGeom prst="rect">
            <a:avLst/>
          </a:prstGeom>
        </p:spPr>
      </p:pic>
      <p:sp>
        <p:nvSpPr>
          <p:cNvPr id="24" name="Text 16"/>
          <p:cNvSpPr/>
          <p:nvPr/>
        </p:nvSpPr>
        <p:spPr>
          <a:xfrm>
            <a:off x="6931152" y="2121408"/>
            <a:ext cx="4590288" cy="658368"/>
          </a:xfrm>
          <a:prstGeom prst="rect">
            <a:avLst/>
          </a:prstGeom>
          <a:noFill/>
          <a:ln/>
        </p:spPr>
        <p:txBody>
          <a:bodyPr wrap="square" lIns="0" tIns="0" rIns="0" bIns="0" rtlCol="0" anchor="t"/>
          <a:lstStyle/>
          <a:p>
            <a:pPr marL="0" indent="0">
              <a:buNone/>
            </a:pPr>
            <a:r>
              <a:rPr lang="en-US" sz="1350" dirty="0">
                <a:solidFill>
                  <a:srgbClr val="16232E"/>
                </a:solidFill>
                <a:latin typeface="Calibri" pitchFamily="34" charset="0"/>
                <a:ea typeface="Calibri" pitchFamily="34" charset="-122"/>
                <a:cs typeface="Calibri" pitchFamily="34" charset="-120"/>
              </a:rPr>
              <a:t>No hardcoded tables</a:t>
            </a:r>
            <a:endParaRPr lang="en-US" sz="1350" dirty="0"/>
          </a:p>
        </p:txBody>
      </p:sp>
      <p:sp>
        <p:nvSpPr>
          <p:cNvPr id="25" name="Shape 17"/>
          <p:cNvSpPr/>
          <p:nvPr/>
        </p:nvSpPr>
        <p:spPr>
          <a:xfrm>
            <a:off x="6400800" y="2807208"/>
            <a:ext cx="365760" cy="365760"/>
          </a:xfrm>
          <a:prstGeom prst="ellipse">
            <a:avLst/>
          </a:prstGeom>
          <a:solidFill>
            <a:srgbClr val="E7EEF5"/>
          </a:solidFill>
          <a:ln/>
        </p:spPr>
      </p:sp>
      <p:pic>
        <p:nvPicPr>
          <p:cNvPr id="26" name="Image 6" descr="preencoded.png"/>
          <p:cNvPicPr>
            <a:picLocks noChangeAspect="1"/>
          </p:cNvPicPr>
          <p:nvPr/>
        </p:nvPicPr>
        <p:blipFill>
          <a:blip r:embed="rId5"/>
          <a:stretch>
            <a:fillRect/>
          </a:stretch>
        </p:blipFill>
        <p:spPr>
          <a:xfrm>
            <a:off x="6495898" y="2902306"/>
            <a:ext cx="175565" cy="175565"/>
          </a:xfrm>
          <a:prstGeom prst="rect">
            <a:avLst/>
          </a:prstGeom>
        </p:spPr>
      </p:pic>
      <p:sp>
        <p:nvSpPr>
          <p:cNvPr id="27" name="Text 18"/>
          <p:cNvSpPr/>
          <p:nvPr/>
        </p:nvSpPr>
        <p:spPr>
          <a:xfrm>
            <a:off x="6931152" y="2779776"/>
            <a:ext cx="4590288" cy="658368"/>
          </a:xfrm>
          <a:prstGeom prst="rect">
            <a:avLst/>
          </a:prstGeom>
          <a:noFill/>
          <a:ln/>
        </p:spPr>
        <p:txBody>
          <a:bodyPr wrap="square" lIns="0" tIns="0" rIns="0" bIns="0" rtlCol="0" anchor="t"/>
          <a:lstStyle/>
          <a:p>
            <a:pPr marL="0" indent="0">
              <a:buNone/>
            </a:pPr>
            <a:r>
              <a:rPr lang="en-US" sz="1350" dirty="0">
                <a:solidFill>
                  <a:srgbClr val="16232E"/>
                </a:solidFill>
                <a:latin typeface="Calibri" pitchFamily="34" charset="0"/>
                <a:ea typeface="Calibri" pitchFamily="34" charset="-122"/>
                <a:cs typeface="Calibri" pitchFamily="34" charset="-120"/>
              </a:rPr>
              <a:t>Generic CRUD</a:t>
            </a:r>
            <a:endParaRPr lang="en-US" sz="1350" dirty="0"/>
          </a:p>
        </p:txBody>
      </p:sp>
      <p:sp>
        <p:nvSpPr>
          <p:cNvPr id="28" name="Shape 19"/>
          <p:cNvSpPr/>
          <p:nvPr/>
        </p:nvSpPr>
        <p:spPr>
          <a:xfrm>
            <a:off x="6400800" y="3465576"/>
            <a:ext cx="365760" cy="365760"/>
          </a:xfrm>
          <a:prstGeom prst="ellipse">
            <a:avLst/>
          </a:prstGeom>
          <a:solidFill>
            <a:srgbClr val="E7EEF5"/>
          </a:solidFill>
          <a:ln/>
        </p:spPr>
      </p:sp>
      <p:pic>
        <p:nvPicPr>
          <p:cNvPr id="29" name="Image 7" descr="preencoded.png"/>
          <p:cNvPicPr>
            <a:picLocks noChangeAspect="1"/>
          </p:cNvPicPr>
          <p:nvPr/>
        </p:nvPicPr>
        <p:blipFill>
          <a:blip r:embed="rId5"/>
          <a:stretch>
            <a:fillRect/>
          </a:stretch>
        </p:blipFill>
        <p:spPr>
          <a:xfrm>
            <a:off x="6495898" y="3560674"/>
            <a:ext cx="175565" cy="175565"/>
          </a:xfrm>
          <a:prstGeom prst="rect">
            <a:avLst/>
          </a:prstGeom>
        </p:spPr>
      </p:pic>
      <p:sp>
        <p:nvSpPr>
          <p:cNvPr id="30" name="Text 20"/>
          <p:cNvSpPr/>
          <p:nvPr/>
        </p:nvSpPr>
        <p:spPr>
          <a:xfrm>
            <a:off x="6931152" y="3438144"/>
            <a:ext cx="4590288" cy="658368"/>
          </a:xfrm>
          <a:prstGeom prst="rect">
            <a:avLst/>
          </a:prstGeom>
          <a:noFill/>
          <a:ln/>
        </p:spPr>
        <p:txBody>
          <a:bodyPr wrap="square" lIns="0" tIns="0" rIns="0" bIns="0" rtlCol="0" anchor="t"/>
          <a:lstStyle/>
          <a:p>
            <a:pPr marL="0" indent="0">
              <a:buNone/>
            </a:pPr>
            <a:r>
              <a:rPr lang="en-US" sz="1350" dirty="0">
                <a:solidFill>
                  <a:srgbClr val="16232E"/>
                </a:solidFill>
                <a:latin typeface="Calibri" pitchFamily="34" charset="0"/>
                <a:ea typeface="Calibri" pitchFamily="34" charset="-122"/>
                <a:cs typeface="Calibri" pitchFamily="34" charset="-120"/>
              </a:rPr>
              <a:t>Supports new tables automatically</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12</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CRUD Operations</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Generic operations that work on any reflected table</a:t>
            </a:r>
            <a:endParaRPr lang="en-US" sz="1300" dirty="0"/>
          </a:p>
        </p:txBody>
      </p:sp>
      <p:sp>
        <p:nvSpPr>
          <p:cNvPr id="7" name="Shape 4"/>
          <p:cNvSpPr/>
          <p:nvPr/>
        </p:nvSpPr>
        <p:spPr>
          <a:xfrm>
            <a:off x="548640" y="1371600"/>
            <a:ext cx="502920" cy="41148"/>
          </a:xfrm>
          <a:prstGeom prst="rect">
            <a:avLst/>
          </a:prstGeom>
          <a:solidFill>
            <a:srgbClr val="F15B40"/>
          </a:solidFill>
          <a:ln/>
        </p:spPr>
      </p:sp>
      <p:sp>
        <p:nvSpPr>
          <p:cNvPr id="8" name="Shape 5"/>
          <p:cNvSpPr/>
          <p:nvPr/>
        </p:nvSpPr>
        <p:spPr>
          <a:xfrm>
            <a:off x="640080" y="1737360"/>
            <a:ext cx="2606040" cy="3291840"/>
          </a:xfrm>
          <a:prstGeom prst="roundRect">
            <a:avLst>
              <a:gd name="adj" fmla="val 3509"/>
            </a:avLst>
          </a:prstGeom>
          <a:solidFill>
            <a:srgbClr val="082340"/>
          </a:solidFill>
          <a:ln w="12700">
            <a:solidFill>
              <a:srgbClr val="082340"/>
            </a:solidFill>
            <a:prstDash val="solid"/>
          </a:ln>
          <a:effectLst>
            <a:outerShdw blurRad="76200" dist="25400" dir="2700000" algn="bl" rotWithShape="0">
              <a:srgbClr val="000000">
                <a:alpha val="10000"/>
              </a:srgbClr>
            </a:outerShdw>
          </a:effectLst>
        </p:spPr>
      </p:sp>
      <p:sp>
        <p:nvSpPr>
          <p:cNvPr id="9" name="Shape 6"/>
          <p:cNvSpPr/>
          <p:nvPr/>
        </p:nvSpPr>
        <p:spPr>
          <a:xfrm>
            <a:off x="1623060" y="2057400"/>
            <a:ext cx="640080" cy="640080"/>
          </a:xfrm>
          <a:prstGeom prst="ellipse">
            <a:avLst/>
          </a:prstGeom>
          <a:solidFill>
            <a:srgbClr val="FFFFFF"/>
          </a:solidFill>
          <a:ln/>
        </p:spPr>
      </p:sp>
      <p:pic>
        <p:nvPicPr>
          <p:cNvPr id="10" name="Image 1" descr="preencoded.png"/>
          <p:cNvPicPr>
            <a:picLocks noChangeAspect="1"/>
          </p:cNvPicPr>
          <p:nvPr/>
        </p:nvPicPr>
        <p:blipFill>
          <a:blip r:embed="rId4"/>
          <a:stretch>
            <a:fillRect/>
          </a:stretch>
        </p:blipFill>
        <p:spPr>
          <a:xfrm>
            <a:off x="1789481" y="2223821"/>
            <a:ext cx="307238" cy="307238"/>
          </a:xfrm>
          <a:prstGeom prst="rect">
            <a:avLst/>
          </a:prstGeom>
        </p:spPr>
      </p:pic>
      <p:sp>
        <p:nvSpPr>
          <p:cNvPr id="11" name="Text 7"/>
          <p:cNvSpPr/>
          <p:nvPr/>
        </p:nvSpPr>
        <p:spPr>
          <a:xfrm>
            <a:off x="640080" y="2926080"/>
            <a:ext cx="260604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Create</a:t>
            </a:r>
            <a:endParaRPr lang="en-US" sz="1700" dirty="0"/>
          </a:p>
        </p:txBody>
      </p:sp>
      <p:sp>
        <p:nvSpPr>
          <p:cNvPr id="12" name="Text 8"/>
          <p:cNvSpPr/>
          <p:nvPr/>
        </p:nvSpPr>
        <p:spPr>
          <a:xfrm>
            <a:off x="822960" y="3429000"/>
            <a:ext cx="2240280" cy="548640"/>
          </a:xfrm>
          <a:prstGeom prst="rect">
            <a:avLst/>
          </a:prstGeom>
          <a:noFill/>
          <a:ln/>
        </p:spPr>
        <p:txBody>
          <a:bodyPr wrap="square" lIns="0" tIns="0" rIns="0" bIns="0" rtlCol="0" anchor="ctr"/>
          <a:lstStyle/>
          <a:p>
            <a:pPr marL="0" indent="0" algn="ctr">
              <a:buNone/>
            </a:pPr>
            <a:r>
              <a:rPr lang="en-US" sz="1200" dirty="0">
                <a:solidFill>
                  <a:srgbClr val="CFE0F0"/>
                </a:solidFill>
                <a:latin typeface="Calibri" pitchFamily="34" charset="0"/>
                <a:ea typeface="Calibri" pitchFamily="34" charset="-122"/>
                <a:cs typeface="Calibri" pitchFamily="34" charset="-120"/>
              </a:rPr>
              <a:t>Dynamic Forms</a:t>
            </a:r>
            <a:endParaRPr lang="en-US" sz="1200" dirty="0"/>
          </a:p>
        </p:txBody>
      </p:sp>
      <p:sp>
        <p:nvSpPr>
          <p:cNvPr id="13" name="Shape 9"/>
          <p:cNvSpPr/>
          <p:nvPr/>
        </p:nvSpPr>
        <p:spPr>
          <a:xfrm>
            <a:off x="868680" y="4114800"/>
            <a:ext cx="2148840" cy="685800"/>
          </a:xfrm>
          <a:prstGeom prst="roundRect">
            <a:avLst>
              <a:gd name="adj" fmla="val 8000"/>
            </a:avLst>
          </a:prstGeom>
          <a:solidFill>
            <a:srgbClr val="0E3A63"/>
          </a:solidFill>
          <a:ln w="12700">
            <a:solidFill>
              <a:srgbClr val="0E3A63"/>
            </a:solidFill>
            <a:prstDash val="dash"/>
          </a:ln>
        </p:spPr>
      </p:sp>
      <p:sp>
        <p:nvSpPr>
          <p:cNvPr id="14" name="Text 10"/>
          <p:cNvSpPr/>
          <p:nvPr/>
        </p:nvSpPr>
        <p:spPr>
          <a:xfrm>
            <a:off x="868680" y="4343400"/>
            <a:ext cx="2148840" cy="274320"/>
          </a:xfrm>
          <a:prstGeom prst="rect">
            <a:avLst/>
          </a:prstGeom>
          <a:noFill/>
          <a:ln/>
        </p:spPr>
        <p:txBody>
          <a:bodyPr wrap="square" lIns="0" tIns="0" rIns="0" bIns="0" rtlCol="0" anchor="ctr"/>
          <a:lstStyle/>
          <a:p>
            <a:pPr marL="0" indent="0" algn="ctr">
              <a:buNone/>
            </a:pPr>
            <a:r>
              <a:rPr lang="en-US" sz="950" i="1" dirty="0">
                <a:solidFill>
                  <a:srgbClr val="CFE0F0"/>
                </a:solidFill>
                <a:latin typeface="Calibri" pitchFamily="34" charset="0"/>
                <a:ea typeface="Calibri" pitchFamily="34" charset="-122"/>
                <a:cs typeface="Calibri" pitchFamily="34" charset="-120"/>
              </a:rPr>
              <a:t>screenshot</a:t>
            </a:r>
            <a:endParaRPr lang="en-US" sz="950" dirty="0"/>
          </a:p>
        </p:txBody>
      </p:sp>
      <p:sp>
        <p:nvSpPr>
          <p:cNvPr id="15" name="Shape 11"/>
          <p:cNvSpPr/>
          <p:nvPr/>
        </p:nvSpPr>
        <p:spPr>
          <a:xfrm>
            <a:off x="3474720" y="1737360"/>
            <a:ext cx="2606040" cy="3291840"/>
          </a:xfrm>
          <a:prstGeom prst="roundRect">
            <a:avLst>
              <a:gd name="adj" fmla="val 3509"/>
            </a:avLst>
          </a:prstGeom>
          <a:solidFill>
            <a:srgbClr val="FFFFFF"/>
          </a:solidFill>
          <a:ln w="12700">
            <a:solidFill>
              <a:srgbClr val="E1E7EE"/>
            </a:solidFill>
            <a:prstDash val="solid"/>
          </a:ln>
          <a:effectLst>
            <a:outerShdw blurRad="76200" dist="25400" dir="2700000" algn="bl" rotWithShape="0">
              <a:srgbClr val="000000">
                <a:alpha val="10000"/>
              </a:srgbClr>
            </a:outerShdw>
          </a:effectLst>
        </p:spPr>
      </p:sp>
      <p:sp>
        <p:nvSpPr>
          <p:cNvPr id="16" name="Shape 12"/>
          <p:cNvSpPr/>
          <p:nvPr/>
        </p:nvSpPr>
        <p:spPr>
          <a:xfrm>
            <a:off x="4457700" y="2057400"/>
            <a:ext cx="640080" cy="640080"/>
          </a:xfrm>
          <a:prstGeom prst="ellipse">
            <a:avLst/>
          </a:prstGeom>
          <a:solidFill>
            <a:srgbClr val="E7EEF5"/>
          </a:solidFill>
          <a:ln/>
        </p:spPr>
      </p:sp>
      <p:pic>
        <p:nvPicPr>
          <p:cNvPr id="17" name="Image 2" descr="preencoded.png"/>
          <p:cNvPicPr>
            <a:picLocks noChangeAspect="1"/>
          </p:cNvPicPr>
          <p:nvPr/>
        </p:nvPicPr>
        <p:blipFill>
          <a:blip r:embed="rId5"/>
          <a:stretch>
            <a:fillRect/>
          </a:stretch>
        </p:blipFill>
        <p:spPr>
          <a:xfrm>
            <a:off x="4624121" y="2223821"/>
            <a:ext cx="307238" cy="307238"/>
          </a:xfrm>
          <a:prstGeom prst="rect">
            <a:avLst/>
          </a:prstGeom>
        </p:spPr>
      </p:pic>
      <p:sp>
        <p:nvSpPr>
          <p:cNvPr id="18" name="Text 13"/>
          <p:cNvSpPr/>
          <p:nvPr/>
        </p:nvSpPr>
        <p:spPr>
          <a:xfrm>
            <a:off x="3474720" y="2926080"/>
            <a:ext cx="2606040" cy="411480"/>
          </a:xfrm>
          <a:prstGeom prst="rect">
            <a:avLst/>
          </a:prstGeom>
          <a:noFill/>
          <a:ln/>
        </p:spPr>
        <p:txBody>
          <a:bodyPr wrap="square" lIns="0" tIns="0" rIns="0" bIns="0" rtlCol="0" anchor="ctr"/>
          <a:lstStyle/>
          <a:p>
            <a:pPr marL="0" indent="0" algn="ctr">
              <a:buNone/>
            </a:pPr>
            <a:r>
              <a:rPr lang="en-US" sz="1700" b="1" dirty="0">
                <a:solidFill>
                  <a:srgbClr val="082340"/>
                </a:solidFill>
                <a:latin typeface="Calibri" pitchFamily="34" charset="0"/>
                <a:ea typeface="Calibri" pitchFamily="34" charset="-122"/>
                <a:cs typeface="Calibri" pitchFamily="34" charset="-120"/>
              </a:rPr>
              <a:t>Read</a:t>
            </a:r>
            <a:endParaRPr lang="en-US" sz="1700" dirty="0"/>
          </a:p>
        </p:txBody>
      </p:sp>
      <p:sp>
        <p:nvSpPr>
          <p:cNvPr id="19" name="Text 14"/>
          <p:cNvSpPr/>
          <p:nvPr/>
        </p:nvSpPr>
        <p:spPr>
          <a:xfrm>
            <a:off x="3657600" y="3429000"/>
            <a:ext cx="2240280" cy="548640"/>
          </a:xfrm>
          <a:prstGeom prst="rect">
            <a:avLst/>
          </a:prstGeom>
          <a:noFill/>
          <a:ln/>
        </p:spPr>
        <p:txBody>
          <a:bodyPr wrap="square" lIns="0" tIns="0" rIns="0" bIns="0" rtlCol="0" anchor="ctr"/>
          <a:lstStyle/>
          <a:p>
            <a:pPr marL="0" indent="0" algn="ctr">
              <a:buNone/>
            </a:pPr>
            <a:r>
              <a:rPr lang="en-US" sz="1200" dirty="0">
                <a:solidFill>
                  <a:srgbClr val="5A6B7A"/>
                </a:solidFill>
                <a:latin typeface="Calibri" pitchFamily="34" charset="0"/>
                <a:ea typeface="Calibri" pitchFamily="34" charset="-122"/>
                <a:cs typeface="Calibri" pitchFamily="34" charset="-120"/>
              </a:rPr>
              <a:t>Dynamic Data Viewer</a:t>
            </a:r>
            <a:endParaRPr lang="en-US" sz="1200" dirty="0"/>
          </a:p>
        </p:txBody>
      </p:sp>
      <p:sp>
        <p:nvSpPr>
          <p:cNvPr id="20" name="Shape 15"/>
          <p:cNvSpPr/>
          <p:nvPr/>
        </p:nvSpPr>
        <p:spPr>
          <a:xfrm>
            <a:off x="3703320" y="4114800"/>
            <a:ext cx="2148840" cy="685800"/>
          </a:xfrm>
          <a:prstGeom prst="roundRect">
            <a:avLst>
              <a:gd name="adj" fmla="val 8000"/>
            </a:avLst>
          </a:prstGeom>
          <a:solidFill>
            <a:srgbClr val="F7F9FB"/>
          </a:solidFill>
          <a:ln w="12700">
            <a:solidFill>
              <a:srgbClr val="E1E7EE"/>
            </a:solidFill>
            <a:prstDash val="dash"/>
          </a:ln>
        </p:spPr>
      </p:sp>
      <p:sp>
        <p:nvSpPr>
          <p:cNvPr id="21" name="Text 16"/>
          <p:cNvSpPr/>
          <p:nvPr/>
        </p:nvSpPr>
        <p:spPr>
          <a:xfrm>
            <a:off x="3703320" y="4343400"/>
            <a:ext cx="2148840" cy="274320"/>
          </a:xfrm>
          <a:prstGeom prst="rect">
            <a:avLst/>
          </a:prstGeom>
          <a:noFill/>
          <a:ln/>
        </p:spPr>
        <p:txBody>
          <a:bodyPr wrap="square" lIns="0" tIns="0" rIns="0" bIns="0" rtlCol="0" anchor="ctr"/>
          <a:lstStyle/>
          <a:p>
            <a:pPr marL="0" indent="0" algn="ctr">
              <a:buNone/>
            </a:pPr>
            <a:r>
              <a:rPr lang="en-US" sz="950" i="1" dirty="0">
                <a:solidFill>
                  <a:srgbClr val="5A6B7A"/>
                </a:solidFill>
                <a:latin typeface="Calibri" pitchFamily="34" charset="0"/>
                <a:ea typeface="Calibri" pitchFamily="34" charset="-122"/>
                <a:cs typeface="Calibri" pitchFamily="34" charset="-120"/>
              </a:rPr>
              <a:t>screenshot</a:t>
            </a:r>
            <a:endParaRPr lang="en-US" sz="950" dirty="0"/>
          </a:p>
        </p:txBody>
      </p:sp>
      <p:sp>
        <p:nvSpPr>
          <p:cNvPr id="22" name="Shape 17"/>
          <p:cNvSpPr/>
          <p:nvPr/>
        </p:nvSpPr>
        <p:spPr>
          <a:xfrm>
            <a:off x="6309360" y="1737360"/>
            <a:ext cx="2606040" cy="3291840"/>
          </a:xfrm>
          <a:prstGeom prst="roundRect">
            <a:avLst>
              <a:gd name="adj" fmla="val 3509"/>
            </a:avLst>
          </a:prstGeom>
          <a:solidFill>
            <a:srgbClr val="FFFFFF"/>
          </a:solidFill>
          <a:ln w="12700">
            <a:solidFill>
              <a:srgbClr val="E1E7EE"/>
            </a:solidFill>
            <a:prstDash val="solid"/>
          </a:ln>
          <a:effectLst>
            <a:outerShdw blurRad="76200" dist="25400" dir="2700000" algn="bl" rotWithShape="0">
              <a:srgbClr val="000000">
                <a:alpha val="10000"/>
              </a:srgbClr>
            </a:outerShdw>
          </a:effectLst>
        </p:spPr>
      </p:sp>
      <p:sp>
        <p:nvSpPr>
          <p:cNvPr id="23" name="Shape 18"/>
          <p:cNvSpPr/>
          <p:nvPr/>
        </p:nvSpPr>
        <p:spPr>
          <a:xfrm>
            <a:off x="7292340" y="2057400"/>
            <a:ext cx="640080" cy="640080"/>
          </a:xfrm>
          <a:prstGeom prst="ellipse">
            <a:avLst/>
          </a:prstGeom>
          <a:solidFill>
            <a:srgbClr val="E7EEF5"/>
          </a:solidFill>
          <a:ln/>
        </p:spPr>
      </p:sp>
      <p:pic>
        <p:nvPicPr>
          <p:cNvPr id="24" name="Image 3" descr="preencoded.png"/>
          <p:cNvPicPr>
            <a:picLocks noChangeAspect="1"/>
          </p:cNvPicPr>
          <p:nvPr/>
        </p:nvPicPr>
        <p:blipFill>
          <a:blip r:embed="rId6"/>
          <a:stretch>
            <a:fillRect/>
          </a:stretch>
        </p:blipFill>
        <p:spPr>
          <a:xfrm>
            <a:off x="7458761" y="2223821"/>
            <a:ext cx="307238" cy="307238"/>
          </a:xfrm>
          <a:prstGeom prst="rect">
            <a:avLst/>
          </a:prstGeom>
        </p:spPr>
      </p:pic>
      <p:sp>
        <p:nvSpPr>
          <p:cNvPr id="25" name="Text 19"/>
          <p:cNvSpPr/>
          <p:nvPr/>
        </p:nvSpPr>
        <p:spPr>
          <a:xfrm>
            <a:off x="6309360" y="2926080"/>
            <a:ext cx="2606040" cy="411480"/>
          </a:xfrm>
          <a:prstGeom prst="rect">
            <a:avLst/>
          </a:prstGeom>
          <a:noFill/>
          <a:ln/>
        </p:spPr>
        <p:txBody>
          <a:bodyPr wrap="square" lIns="0" tIns="0" rIns="0" bIns="0" rtlCol="0" anchor="ctr"/>
          <a:lstStyle/>
          <a:p>
            <a:pPr marL="0" indent="0" algn="ctr">
              <a:buNone/>
            </a:pPr>
            <a:r>
              <a:rPr lang="en-US" sz="1700" b="1" dirty="0">
                <a:solidFill>
                  <a:srgbClr val="082340"/>
                </a:solidFill>
                <a:latin typeface="Calibri" pitchFamily="34" charset="0"/>
                <a:ea typeface="Calibri" pitchFamily="34" charset="-122"/>
                <a:cs typeface="Calibri" pitchFamily="34" charset="-120"/>
              </a:rPr>
              <a:t>Update</a:t>
            </a:r>
            <a:endParaRPr lang="en-US" sz="1700" dirty="0"/>
          </a:p>
        </p:txBody>
      </p:sp>
      <p:sp>
        <p:nvSpPr>
          <p:cNvPr id="26" name="Text 20"/>
          <p:cNvSpPr/>
          <p:nvPr/>
        </p:nvSpPr>
        <p:spPr>
          <a:xfrm>
            <a:off x="6492240" y="3429000"/>
            <a:ext cx="2240280" cy="548640"/>
          </a:xfrm>
          <a:prstGeom prst="rect">
            <a:avLst/>
          </a:prstGeom>
          <a:noFill/>
          <a:ln/>
        </p:spPr>
        <p:txBody>
          <a:bodyPr wrap="square" lIns="0" tIns="0" rIns="0" bIns="0" rtlCol="0" anchor="ctr"/>
          <a:lstStyle/>
          <a:p>
            <a:pPr marL="0" indent="0" algn="ctr">
              <a:buNone/>
            </a:pPr>
            <a:r>
              <a:rPr lang="en-US" sz="1200" dirty="0">
                <a:solidFill>
                  <a:srgbClr val="5A6B7A"/>
                </a:solidFill>
                <a:latin typeface="Calibri" pitchFamily="34" charset="0"/>
                <a:ea typeface="Calibri" pitchFamily="34" charset="-122"/>
                <a:cs typeface="Calibri" pitchFamily="34" charset="-120"/>
              </a:rPr>
              <a:t>Load Record</a:t>
            </a:r>
            <a:endParaRPr lang="en-US" sz="1200" dirty="0"/>
          </a:p>
        </p:txBody>
      </p:sp>
      <p:sp>
        <p:nvSpPr>
          <p:cNvPr id="27" name="Shape 21"/>
          <p:cNvSpPr/>
          <p:nvPr/>
        </p:nvSpPr>
        <p:spPr>
          <a:xfrm>
            <a:off x="6537960" y="4114800"/>
            <a:ext cx="2148840" cy="685800"/>
          </a:xfrm>
          <a:prstGeom prst="roundRect">
            <a:avLst>
              <a:gd name="adj" fmla="val 8000"/>
            </a:avLst>
          </a:prstGeom>
          <a:solidFill>
            <a:srgbClr val="F7F9FB"/>
          </a:solidFill>
          <a:ln w="12700">
            <a:solidFill>
              <a:srgbClr val="E1E7EE"/>
            </a:solidFill>
            <a:prstDash val="dash"/>
          </a:ln>
        </p:spPr>
      </p:sp>
      <p:sp>
        <p:nvSpPr>
          <p:cNvPr id="28" name="Text 22"/>
          <p:cNvSpPr/>
          <p:nvPr/>
        </p:nvSpPr>
        <p:spPr>
          <a:xfrm>
            <a:off x="6537960" y="4343400"/>
            <a:ext cx="2148840" cy="274320"/>
          </a:xfrm>
          <a:prstGeom prst="rect">
            <a:avLst/>
          </a:prstGeom>
          <a:noFill/>
          <a:ln/>
        </p:spPr>
        <p:txBody>
          <a:bodyPr wrap="square" lIns="0" tIns="0" rIns="0" bIns="0" rtlCol="0" anchor="ctr"/>
          <a:lstStyle/>
          <a:p>
            <a:pPr marL="0" indent="0" algn="ctr">
              <a:buNone/>
            </a:pPr>
            <a:r>
              <a:rPr lang="en-US" sz="950" i="1" dirty="0">
                <a:solidFill>
                  <a:srgbClr val="5A6B7A"/>
                </a:solidFill>
                <a:latin typeface="Calibri" pitchFamily="34" charset="0"/>
                <a:ea typeface="Calibri" pitchFamily="34" charset="-122"/>
                <a:cs typeface="Calibri" pitchFamily="34" charset="-120"/>
              </a:rPr>
              <a:t>screenshot</a:t>
            </a:r>
            <a:endParaRPr lang="en-US" sz="950" dirty="0"/>
          </a:p>
        </p:txBody>
      </p:sp>
      <p:sp>
        <p:nvSpPr>
          <p:cNvPr id="29" name="Shape 23"/>
          <p:cNvSpPr/>
          <p:nvPr/>
        </p:nvSpPr>
        <p:spPr>
          <a:xfrm>
            <a:off x="9144000" y="1737360"/>
            <a:ext cx="2606040" cy="3291840"/>
          </a:xfrm>
          <a:prstGeom prst="roundRect">
            <a:avLst>
              <a:gd name="adj" fmla="val 3509"/>
            </a:avLst>
          </a:prstGeom>
          <a:solidFill>
            <a:srgbClr val="FFFFFF"/>
          </a:solidFill>
          <a:ln w="12700">
            <a:solidFill>
              <a:srgbClr val="E1E7EE"/>
            </a:solidFill>
            <a:prstDash val="solid"/>
          </a:ln>
          <a:effectLst>
            <a:outerShdw blurRad="76200" dist="25400" dir="2700000" algn="bl" rotWithShape="0">
              <a:srgbClr val="000000">
                <a:alpha val="10000"/>
              </a:srgbClr>
            </a:outerShdw>
          </a:effectLst>
        </p:spPr>
      </p:sp>
      <p:sp>
        <p:nvSpPr>
          <p:cNvPr id="30" name="Shape 24"/>
          <p:cNvSpPr/>
          <p:nvPr/>
        </p:nvSpPr>
        <p:spPr>
          <a:xfrm>
            <a:off x="10126980" y="2057400"/>
            <a:ext cx="640080" cy="640080"/>
          </a:xfrm>
          <a:prstGeom prst="ellipse">
            <a:avLst/>
          </a:prstGeom>
          <a:solidFill>
            <a:srgbClr val="E7EEF5"/>
          </a:solidFill>
          <a:ln/>
        </p:spPr>
      </p:sp>
      <p:pic>
        <p:nvPicPr>
          <p:cNvPr id="31" name="Image 4" descr="preencoded.png"/>
          <p:cNvPicPr>
            <a:picLocks noChangeAspect="1"/>
          </p:cNvPicPr>
          <p:nvPr/>
        </p:nvPicPr>
        <p:blipFill>
          <a:blip r:embed="rId7"/>
          <a:stretch>
            <a:fillRect/>
          </a:stretch>
        </p:blipFill>
        <p:spPr>
          <a:xfrm>
            <a:off x="10293401" y="2223821"/>
            <a:ext cx="307238" cy="307238"/>
          </a:xfrm>
          <a:prstGeom prst="rect">
            <a:avLst/>
          </a:prstGeom>
        </p:spPr>
      </p:pic>
      <p:sp>
        <p:nvSpPr>
          <p:cNvPr id="32" name="Text 25"/>
          <p:cNvSpPr/>
          <p:nvPr/>
        </p:nvSpPr>
        <p:spPr>
          <a:xfrm>
            <a:off x="9144000" y="2926080"/>
            <a:ext cx="2606040" cy="411480"/>
          </a:xfrm>
          <a:prstGeom prst="rect">
            <a:avLst/>
          </a:prstGeom>
          <a:noFill/>
          <a:ln/>
        </p:spPr>
        <p:txBody>
          <a:bodyPr wrap="square" lIns="0" tIns="0" rIns="0" bIns="0" rtlCol="0" anchor="ctr"/>
          <a:lstStyle/>
          <a:p>
            <a:pPr marL="0" indent="0" algn="ctr">
              <a:buNone/>
            </a:pPr>
            <a:r>
              <a:rPr lang="en-US" sz="1700" b="1" dirty="0">
                <a:solidFill>
                  <a:srgbClr val="082340"/>
                </a:solidFill>
                <a:latin typeface="Calibri" pitchFamily="34" charset="0"/>
                <a:ea typeface="Calibri" pitchFamily="34" charset="-122"/>
                <a:cs typeface="Calibri" pitchFamily="34" charset="-120"/>
              </a:rPr>
              <a:t>Delete</a:t>
            </a:r>
            <a:endParaRPr lang="en-US" sz="1700" dirty="0"/>
          </a:p>
        </p:txBody>
      </p:sp>
      <p:sp>
        <p:nvSpPr>
          <p:cNvPr id="33" name="Text 26"/>
          <p:cNvSpPr/>
          <p:nvPr/>
        </p:nvSpPr>
        <p:spPr>
          <a:xfrm>
            <a:off x="9326880" y="3429000"/>
            <a:ext cx="2240280" cy="548640"/>
          </a:xfrm>
          <a:prstGeom prst="rect">
            <a:avLst/>
          </a:prstGeom>
          <a:noFill/>
          <a:ln/>
        </p:spPr>
        <p:txBody>
          <a:bodyPr wrap="square" lIns="0" tIns="0" rIns="0" bIns="0" rtlCol="0" anchor="ctr"/>
          <a:lstStyle/>
          <a:p>
            <a:pPr marL="0" indent="0" algn="ctr">
              <a:buNone/>
            </a:pPr>
            <a:r>
              <a:rPr lang="en-US" sz="1200" dirty="0">
                <a:solidFill>
                  <a:srgbClr val="5A6B7A"/>
                </a:solidFill>
                <a:latin typeface="Calibri" pitchFamily="34" charset="0"/>
                <a:ea typeface="Calibri" pitchFamily="34" charset="-122"/>
                <a:cs typeface="Calibri" pitchFamily="34" charset="-120"/>
              </a:rPr>
              <a:t>Delete by Primary Key</a:t>
            </a:r>
            <a:endParaRPr lang="en-US" sz="1200" dirty="0"/>
          </a:p>
        </p:txBody>
      </p:sp>
      <p:sp>
        <p:nvSpPr>
          <p:cNvPr id="34" name="Shape 27"/>
          <p:cNvSpPr/>
          <p:nvPr/>
        </p:nvSpPr>
        <p:spPr>
          <a:xfrm>
            <a:off x="9372600" y="4114800"/>
            <a:ext cx="2148840" cy="685800"/>
          </a:xfrm>
          <a:prstGeom prst="roundRect">
            <a:avLst>
              <a:gd name="adj" fmla="val 8000"/>
            </a:avLst>
          </a:prstGeom>
          <a:solidFill>
            <a:srgbClr val="F7F9FB"/>
          </a:solidFill>
          <a:ln w="12700">
            <a:solidFill>
              <a:srgbClr val="E1E7EE"/>
            </a:solidFill>
            <a:prstDash val="dash"/>
          </a:ln>
        </p:spPr>
      </p:sp>
      <p:sp>
        <p:nvSpPr>
          <p:cNvPr id="35" name="Text 28"/>
          <p:cNvSpPr/>
          <p:nvPr/>
        </p:nvSpPr>
        <p:spPr>
          <a:xfrm>
            <a:off x="9372600" y="4343400"/>
            <a:ext cx="2148840" cy="274320"/>
          </a:xfrm>
          <a:prstGeom prst="rect">
            <a:avLst/>
          </a:prstGeom>
          <a:noFill/>
          <a:ln/>
        </p:spPr>
        <p:txBody>
          <a:bodyPr wrap="square" lIns="0" tIns="0" rIns="0" bIns="0" rtlCol="0" anchor="ctr"/>
          <a:lstStyle/>
          <a:p>
            <a:pPr marL="0" indent="0" algn="ctr">
              <a:buNone/>
            </a:pPr>
            <a:r>
              <a:rPr lang="en-US" sz="950" i="1" dirty="0">
                <a:solidFill>
                  <a:srgbClr val="5A6B7A"/>
                </a:solidFill>
                <a:latin typeface="Calibri" pitchFamily="34" charset="0"/>
                <a:ea typeface="Calibri" pitchFamily="34" charset="-122"/>
                <a:cs typeface="Calibri" pitchFamily="34" charset="-120"/>
              </a:rPr>
              <a:t>screenshot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13</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User &amp; Permission Management</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What an Admin can do</a:t>
            </a:r>
            <a:endParaRPr lang="en-US" sz="1300" dirty="0"/>
          </a:p>
        </p:txBody>
      </p:sp>
      <p:sp>
        <p:nvSpPr>
          <p:cNvPr id="7" name="Shape 4"/>
          <p:cNvSpPr/>
          <p:nvPr/>
        </p:nvSpPr>
        <p:spPr>
          <a:xfrm>
            <a:off x="548640" y="1371600"/>
            <a:ext cx="502920" cy="41148"/>
          </a:xfrm>
          <a:prstGeom prst="rect">
            <a:avLst/>
          </a:prstGeom>
          <a:solidFill>
            <a:srgbClr val="F15B40"/>
          </a:solidFill>
          <a:ln/>
        </p:spPr>
      </p:sp>
      <p:sp>
        <p:nvSpPr>
          <p:cNvPr id="8" name="Shape 5"/>
          <p:cNvSpPr/>
          <p:nvPr/>
        </p:nvSpPr>
        <p:spPr>
          <a:xfrm>
            <a:off x="640080" y="1737360"/>
            <a:ext cx="365760" cy="365760"/>
          </a:xfrm>
          <a:prstGeom prst="ellipse">
            <a:avLst/>
          </a:prstGeom>
          <a:solidFill>
            <a:srgbClr val="E7EEF5"/>
          </a:solidFill>
          <a:ln/>
        </p:spPr>
      </p:sp>
      <p:pic>
        <p:nvPicPr>
          <p:cNvPr id="9" name="Image 1" descr="preencoded.png"/>
          <p:cNvPicPr>
            <a:picLocks noChangeAspect="1"/>
          </p:cNvPicPr>
          <p:nvPr/>
        </p:nvPicPr>
        <p:blipFill>
          <a:blip r:embed="rId4"/>
          <a:stretch>
            <a:fillRect/>
          </a:stretch>
        </p:blipFill>
        <p:spPr>
          <a:xfrm>
            <a:off x="735178" y="1832458"/>
            <a:ext cx="175565" cy="175565"/>
          </a:xfrm>
          <a:prstGeom prst="rect">
            <a:avLst/>
          </a:prstGeom>
        </p:spPr>
      </p:pic>
      <p:sp>
        <p:nvSpPr>
          <p:cNvPr id="10" name="Text 6"/>
          <p:cNvSpPr/>
          <p:nvPr/>
        </p:nvSpPr>
        <p:spPr>
          <a:xfrm>
            <a:off x="1170432" y="1709928"/>
            <a:ext cx="4956048" cy="777240"/>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Create Users</a:t>
            </a:r>
            <a:endParaRPr lang="en-US" sz="1500" dirty="0"/>
          </a:p>
        </p:txBody>
      </p:sp>
      <p:sp>
        <p:nvSpPr>
          <p:cNvPr id="11" name="Shape 7"/>
          <p:cNvSpPr/>
          <p:nvPr/>
        </p:nvSpPr>
        <p:spPr>
          <a:xfrm>
            <a:off x="640080" y="2514600"/>
            <a:ext cx="365760" cy="365760"/>
          </a:xfrm>
          <a:prstGeom prst="ellipse">
            <a:avLst/>
          </a:prstGeom>
          <a:solidFill>
            <a:srgbClr val="E7EEF5"/>
          </a:solidFill>
          <a:ln/>
        </p:spPr>
      </p:sp>
      <p:pic>
        <p:nvPicPr>
          <p:cNvPr id="12" name="Image 2" descr="preencoded.png"/>
          <p:cNvPicPr>
            <a:picLocks noChangeAspect="1"/>
          </p:cNvPicPr>
          <p:nvPr/>
        </p:nvPicPr>
        <p:blipFill>
          <a:blip r:embed="rId4"/>
          <a:stretch>
            <a:fillRect/>
          </a:stretch>
        </p:blipFill>
        <p:spPr>
          <a:xfrm>
            <a:off x="735178" y="2609698"/>
            <a:ext cx="175565" cy="175565"/>
          </a:xfrm>
          <a:prstGeom prst="rect">
            <a:avLst/>
          </a:prstGeom>
        </p:spPr>
      </p:pic>
      <p:sp>
        <p:nvSpPr>
          <p:cNvPr id="13" name="Text 8"/>
          <p:cNvSpPr/>
          <p:nvPr/>
        </p:nvSpPr>
        <p:spPr>
          <a:xfrm>
            <a:off x="1170432" y="2487168"/>
            <a:ext cx="4956048" cy="777240"/>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Delete Users</a:t>
            </a:r>
            <a:endParaRPr lang="en-US" sz="1500" dirty="0"/>
          </a:p>
        </p:txBody>
      </p:sp>
      <p:sp>
        <p:nvSpPr>
          <p:cNvPr id="14" name="Shape 9"/>
          <p:cNvSpPr/>
          <p:nvPr/>
        </p:nvSpPr>
        <p:spPr>
          <a:xfrm>
            <a:off x="640080" y="3291840"/>
            <a:ext cx="365760" cy="365760"/>
          </a:xfrm>
          <a:prstGeom prst="ellipse">
            <a:avLst/>
          </a:prstGeom>
          <a:solidFill>
            <a:srgbClr val="E7EEF5"/>
          </a:solidFill>
          <a:ln/>
        </p:spPr>
      </p:sp>
      <p:pic>
        <p:nvPicPr>
          <p:cNvPr id="15" name="Image 3" descr="preencoded.png"/>
          <p:cNvPicPr>
            <a:picLocks noChangeAspect="1"/>
          </p:cNvPicPr>
          <p:nvPr/>
        </p:nvPicPr>
        <p:blipFill>
          <a:blip r:embed="rId4"/>
          <a:stretch>
            <a:fillRect/>
          </a:stretch>
        </p:blipFill>
        <p:spPr>
          <a:xfrm>
            <a:off x="735178" y="3386938"/>
            <a:ext cx="175565" cy="175565"/>
          </a:xfrm>
          <a:prstGeom prst="rect">
            <a:avLst/>
          </a:prstGeom>
        </p:spPr>
      </p:pic>
      <p:sp>
        <p:nvSpPr>
          <p:cNvPr id="16" name="Text 10"/>
          <p:cNvSpPr/>
          <p:nvPr/>
        </p:nvSpPr>
        <p:spPr>
          <a:xfrm>
            <a:off x="1170432" y="3264408"/>
            <a:ext cx="4956048" cy="777240"/>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Activate / Deactivate Users</a:t>
            </a:r>
            <a:endParaRPr lang="en-US" sz="1500" dirty="0"/>
          </a:p>
        </p:txBody>
      </p:sp>
      <p:sp>
        <p:nvSpPr>
          <p:cNvPr id="17" name="Shape 11"/>
          <p:cNvSpPr/>
          <p:nvPr/>
        </p:nvSpPr>
        <p:spPr>
          <a:xfrm>
            <a:off x="640080" y="4069080"/>
            <a:ext cx="365760" cy="365760"/>
          </a:xfrm>
          <a:prstGeom prst="ellipse">
            <a:avLst/>
          </a:prstGeom>
          <a:solidFill>
            <a:srgbClr val="E7EEF5"/>
          </a:solidFill>
          <a:ln/>
        </p:spPr>
      </p:sp>
      <p:pic>
        <p:nvPicPr>
          <p:cNvPr id="18" name="Image 4" descr="preencoded.png"/>
          <p:cNvPicPr>
            <a:picLocks noChangeAspect="1"/>
          </p:cNvPicPr>
          <p:nvPr/>
        </p:nvPicPr>
        <p:blipFill>
          <a:blip r:embed="rId4"/>
          <a:stretch>
            <a:fillRect/>
          </a:stretch>
        </p:blipFill>
        <p:spPr>
          <a:xfrm>
            <a:off x="735178" y="4164178"/>
            <a:ext cx="175565" cy="175565"/>
          </a:xfrm>
          <a:prstGeom prst="rect">
            <a:avLst/>
          </a:prstGeom>
        </p:spPr>
      </p:pic>
      <p:sp>
        <p:nvSpPr>
          <p:cNvPr id="19" name="Text 12"/>
          <p:cNvSpPr/>
          <p:nvPr/>
        </p:nvSpPr>
        <p:spPr>
          <a:xfrm>
            <a:off x="1170432" y="4041648"/>
            <a:ext cx="4956048" cy="777240"/>
          </a:xfrm>
          <a:prstGeom prst="rect">
            <a:avLst/>
          </a:prstGeom>
          <a:noFill/>
          <a:ln/>
        </p:spPr>
        <p:txBody>
          <a:bodyPr wrap="square" lIns="0" tIns="0" rIns="0" bIns="0" rtlCol="0" anchor="t"/>
          <a:lstStyle/>
          <a:p>
            <a:pPr marL="0" indent="0">
              <a:buNone/>
            </a:pPr>
            <a:r>
              <a:rPr lang="en-US" sz="1500" dirty="0">
                <a:solidFill>
                  <a:srgbClr val="16232E"/>
                </a:solidFill>
                <a:latin typeface="Calibri" pitchFamily="34" charset="0"/>
                <a:ea typeface="Calibri" pitchFamily="34" charset="-122"/>
                <a:cs typeface="Calibri" pitchFamily="34" charset="-120"/>
              </a:rPr>
              <a:t>Assign Permissions</a:t>
            </a:r>
            <a:endParaRPr lang="en-US" sz="1500" dirty="0"/>
          </a:p>
        </p:txBody>
      </p:sp>
      <p:sp>
        <p:nvSpPr>
          <p:cNvPr id="20" name="Shape 13"/>
          <p:cNvSpPr/>
          <p:nvPr/>
        </p:nvSpPr>
        <p:spPr>
          <a:xfrm>
            <a:off x="6492240" y="1737360"/>
            <a:ext cx="5120640" cy="3291840"/>
          </a:xfrm>
          <a:prstGeom prst="roundRect">
            <a:avLst>
              <a:gd name="adj" fmla="val 2778"/>
            </a:avLst>
          </a:prstGeom>
          <a:solidFill>
            <a:srgbClr val="082340"/>
          </a:solidFill>
          <a:ln/>
        </p:spPr>
      </p:sp>
      <p:sp>
        <p:nvSpPr>
          <p:cNvPr id="21" name="Shape 14"/>
          <p:cNvSpPr/>
          <p:nvPr/>
        </p:nvSpPr>
        <p:spPr>
          <a:xfrm>
            <a:off x="6766560" y="2011680"/>
            <a:ext cx="548640" cy="548640"/>
          </a:xfrm>
          <a:prstGeom prst="ellipse">
            <a:avLst/>
          </a:prstGeom>
          <a:solidFill>
            <a:srgbClr val="0E3A63"/>
          </a:solidFill>
          <a:ln/>
        </p:spPr>
      </p:sp>
      <p:pic>
        <p:nvPicPr>
          <p:cNvPr id="22" name="Image 5" descr="preencoded.png"/>
          <p:cNvPicPr>
            <a:picLocks noChangeAspect="1"/>
          </p:cNvPicPr>
          <p:nvPr/>
        </p:nvPicPr>
        <p:blipFill>
          <a:blip r:embed="rId5"/>
          <a:stretch>
            <a:fillRect/>
          </a:stretch>
        </p:blipFill>
        <p:spPr>
          <a:xfrm>
            <a:off x="6909206" y="2154326"/>
            <a:ext cx="263347" cy="263347"/>
          </a:xfrm>
          <a:prstGeom prst="rect">
            <a:avLst/>
          </a:prstGeom>
        </p:spPr>
      </p:pic>
      <p:sp>
        <p:nvSpPr>
          <p:cNvPr id="23" name="Text 15"/>
          <p:cNvSpPr/>
          <p:nvPr/>
        </p:nvSpPr>
        <p:spPr>
          <a:xfrm>
            <a:off x="7452360" y="2084832"/>
            <a:ext cx="393192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Table-Level Permissions</a:t>
            </a:r>
            <a:endParaRPr lang="en-US" sz="1500" dirty="0"/>
          </a:p>
        </p:txBody>
      </p:sp>
      <p:sp>
        <p:nvSpPr>
          <p:cNvPr id="24" name="Text 16"/>
          <p:cNvSpPr/>
          <p:nvPr/>
        </p:nvSpPr>
        <p:spPr>
          <a:xfrm>
            <a:off x="6766560" y="2743200"/>
            <a:ext cx="4572000" cy="2103120"/>
          </a:xfrm>
          <a:prstGeom prst="rect">
            <a:avLst/>
          </a:prstGeom>
          <a:noFill/>
          <a:ln/>
        </p:spPr>
        <p:txBody>
          <a:bodyPr wrap="square" lIns="0" tIns="0" rIns="0" bIns="0" rtlCol="0" anchor="ctr"/>
          <a:lstStyle/>
          <a:p>
            <a:pPr marL="0" indent="0">
              <a:buNone/>
            </a:pPr>
            <a:r>
              <a:rPr lang="en-US" sz="1250" dirty="0">
                <a:solidFill>
                  <a:srgbClr val="CFE0F0"/>
                </a:solidFill>
                <a:latin typeface="Calibri" pitchFamily="34" charset="0"/>
                <a:ea typeface="Calibri" pitchFamily="34" charset="-122"/>
                <a:cs typeface="Calibri" pitchFamily="34" charset="-120"/>
              </a:rPr>
              <a:t>Permissions aren't just role-wide — an Admin can grant or revoke access to specific tables for a specific user, so an Editor can be scoped to only the tables they should touch.</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14</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Audit Logging</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A complete, tamper-evident trail of activity</a:t>
            </a:r>
            <a:endParaRPr lang="en-US" sz="1300" dirty="0"/>
          </a:p>
        </p:txBody>
      </p:sp>
      <p:sp>
        <p:nvSpPr>
          <p:cNvPr id="7" name="Shape 4"/>
          <p:cNvSpPr/>
          <p:nvPr/>
        </p:nvSpPr>
        <p:spPr>
          <a:xfrm>
            <a:off x="548640" y="1371600"/>
            <a:ext cx="502920" cy="41148"/>
          </a:xfrm>
          <a:prstGeom prst="rect">
            <a:avLst/>
          </a:prstGeom>
          <a:solidFill>
            <a:srgbClr val="F15B40"/>
          </a:solidFill>
          <a:ln/>
        </p:spPr>
      </p:sp>
      <p:sp>
        <p:nvSpPr>
          <p:cNvPr id="8" name="Text 5"/>
          <p:cNvSpPr/>
          <p:nvPr/>
        </p:nvSpPr>
        <p:spPr>
          <a:xfrm>
            <a:off x="640080" y="1600200"/>
            <a:ext cx="5120640" cy="365760"/>
          </a:xfrm>
          <a:prstGeom prst="rect">
            <a:avLst/>
          </a:prstGeom>
          <a:noFill/>
          <a:ln/>
        </p:spPr>
        <p:txBody>
          <a:bodyPr wrap="square" lIns="0" tIns="0" rIns="0" bIns="0" rtlCol="0" anchor="ctr"/>
          <a:lstStyle/>
          <a:p>
            <a:pPr marL="0" indent="0">
              <a:buNone/>
            </a:pPr>
            <a:r>
              <a:rPr lang="en-US" sz="1600" b="1" dirty="0">
                <a:solidFill>
                  <a:srgbClr val="082340"/>
                </a:solidFill>
                <a:latin typeface="Calibri" pitchFamily="34" charset="0"/>
                <a:ea typeface="Calibri" pitchFamily="34" charset="-122"/>
                <a:cs typeface="Calibri" pitchFamily="34" charset="-120"/>
              </a:rPr>
              <a:t>Tracks</a:t>
            </a:r>
            <a:endParaRPr lang="en-US" sz="1600" dirty="0"/>
          </a:p>
        </p:txBody>
      </p:sp>
      <p:sp>
        <p:nvSpPr>
          <p:cNvPr id="9" name="Shape 6"/>
          <p:cNvSpPr/>
          <p:nvPr/>
        </p:nvSpPr>
        <p:spPr>
          <a:xfrm>
            <a:off x="640080" y="2148840"/>
            <a:ext cx="365760" cy="365760"/>
          </a:xfrm>
          <a:prstGeom prst="ellipse">
            <a:avLst/>
          </a:prstGeom>
          <a:solidFill>
            <a:srgbClr val="E7EEF5"/>
          </a:solidFill>
          <a:ln/>
        </p:spPr>
      </p:sp>
      <p:pic>
        <p:nvPicPr>
          <p:cNvPr id="10" name="Image 1" descr="preencoded.png"/>
          <p:cNvPicPr>
            <a:picLocks noChangeAspect="1"/>
          </p:cNvPicPr>
          <p:nvPr/>
        </p:nvPicPr>
        <p:blipFill>
          <a:blip r:embed="rId4"/>
          <a:stretch>
            <a:fillRect/>
          </a:stretch>
        </p:blipFill>
        <p:spPr>
          <a:xfrm>
            <a:off x="735178" y="2243938"/>
            <a:ext cx="175565" cy="175565"/>
          </a:xfrm>
          <a:prstGeom prst="rect">
            <a:avLst/>
          </a:prstGeom>
        </p:spPr>
      </p:pic>
      <p:sp>
        <p:nvSpPr>
          <p:cNvPr id="11" name="Text 7"/>
          <p:cNvSpPr/>
          <p:nvPr/>
        </p:nvSpPr>
        <p:spPr>
          <a:xfrm>
            <a:off x="1170432" y="2121408"/>
            <a:ext cx="4590288" cy="621792"/>
          </a:xfrm>
          <a:prstGeom prst="rect">
            <a:avLst/>
          </a:prstGeom>
          <a:noFill/>
          <a:ln/>
        </p:spPr>
        <p:txBody>
          <a:bodyPr wrap="square" lIns="0" tIns="0" rIns="0" bIns="0" rtlCol="0" anchor="t"/>
          <a:lstStyle/>
          <a:p>
            <a:pPr marL="0" indent="0">
              <a:buNone/>
            </a:pPr>
            <a:r>
              <a:rPr lang="en-US" sz="1400" dirty="0">
                <a:solidFill>
                  <a:srgbClr val="16232E"/>
                </a:solidFill>
                <a:latin typeface="Calibri" pitchFamily="34" charset="0"/>
                <a:ea typeface="Calibri" pitchFamily="34" charset="-122"/>
                <a:cs typeface="Calibri" pitchFamily="34" charset="-120"/>
              </a:rPr>
              <a:t>Login</a:t>
            </a:r>
            <a:endParaRPr lang="en-US" sz="1400" dirty="0"/>
          </a:p>
        </p:txBody>
      </p:sp>
      <p:sp>
        <p:nvSpPr>
          <p:cNvPr id="12" name="Shape 8"/>
          <p:cNvSpPr/>
          <p:nvPr/>
        </p:nvSpPr>
        <p:spPr>
          <a:xfrm>
            <a:off x="640080" y="2770632"/>
            <a:ext cx="365760" cy="365760"/>
          </a:xfrm>
          <a:prstGeom prst="ellipse">
            <a:avLst/>
          </a:prstGeom>
          <a:solidFill>
            <a:srgbClr val="E7EEF5"/>
          </a:solidFill>
          <a:ln/>
        </p:spPr>
      </p:sp>
      <p:pic>
        <p:nvPicPr>
          <p:cNvPr id="13" name="Image 2" descr="preencoded.png"/>
          <p:cNvPicPr>
            <a:picLocks noChangeAspect="1"/>
          </p:cNvPicPr>
          <p:nvPr/>
        </p:nvPicPr>
        <p:blipFill>
          <a:blip r:embed="rId4"/>
          <a:stretch>
            <a:fillRect/>
          </a:stretch>
        </p:blipFill>
        <p:spPr>
          <a:xfrm>
            <a:off x="735178" y="2865730"/>
            <a:ext cx="175565" cy="175565"/>
          </a:xfrm>
          <a:prstGeom prst="rect">
            <a:avLst/>
          </a:prstGeom>
        </p:spPr>
      </p:pic>
      <p:sp>
        <p:nvSpPr>
          <p:cNvPr id="14" name="Text 9"/>
          <p:cNvSpPr/>
          <p:nvPr/>
        </p:nvSpPr>
        <p:spPr>
          <a:xfrm>
            <a:off x="1170432" y="2743200"/>
            <a:ext cx="4590288" cy="621792"/>
          </a:xfrm>
          <a:prstGeom prst="rect">
            <a:avLst/>
          </a:prstGeom>
          <a:noFill/>
          <a:ln/>
        </p:spPr>
        <p:txBody>
          <a:bodyPr wrap="square" lIns="0" tIns="0" rIns="0" bIns="0" rtlCol="0" anchor="t"/>
          <a:lstStyle/>
          <a:p>
            <a:pPr marL="0" indent="0">
              <a:buNone/>
            </a:pPr>
            <a:r>
              <a:rPr lang="en-US" sz="1400" dirty="0">
                <a:solidFill>
                  <a:srgbClr val="16232E"/>
                </a:solidFill>
                <a:latin typeface="Calibri" pitchFamily="34" charset="0"/>
                <a:ea typeface="Calibri" pitchFamily="34" charset="-122"/>
                <a:cs typeface="Calibri" pitchFamily="34" charset="-120"/>
              </a:rPr>
              <a:t>Insert</a:t>
            </a:r>
            <a:endParaRPr lang="en-US" sz="1400" dirty="0"/>
          </a:p>
        </p:txBody>
      </p:sp>
      <p:sp>
        <p:nvSpPr>
          <p:cNvPr id="15" name="Shape 10"/>
          <p:cNvSpPr/>
          <p:nvPr/>
        </p:nvSpPr>
        <p:spPr>
          <a:xfrm>
            <a:off x="640080" y="3392424"/>
            <a:ext cx="365760" cy="365760"/>
          </a:xfrm>
          <a:prstGeom prst="ellipse">
            <a:avLst/>
          </a:prstGeom>
          <a:solidFill>
            <a:srgbClr val="E7EEF5"/>
          </a:solidFill>
          <a:ln/>
        </p:spPr>
      </p:sp>
      <p:pic>
        <p:nvPicPr>
          <p:cNvPr id="16" name="Image 3" descr="preencoded.png"/>
          <p:cNvPicPr>
            <a:picLocks noChangeAspect="1"/>
          </p:cNvPicPr>
          <p:nvPr/>
        </p:nvPicPr>
        <p:blipFill>
          <a:blip r:embed="rId4"/>
          <a:stretch>
            <a:fillRect/>
          </a:stretch>
        </p:blipFill>
        <p:spPr>
          <a:xfrm>
            <a:off x="735178" y="3487522"/>
            <a:ext cx="175565" cy="175565"/>
          </a:xfrm>
          <a:prstGeom prst="rect">
            <a:avLst/>
          </a:prstGeom>
        </p:spPr>
      </p:pic>
      <p:sp>
        <p:nvSpPr>
          <p:cNvPr id="17" name="Text 11"/>
          <p:cNvSpPr/>
          <p:nvPr/>
        </p:nvSpPr>
        <p:spPr>
          <a:xfrm>
            <a:off x="1170432" y="3364992"/>
            <a:ext cx="4590288" cy="621792"/>
          </a:xfrm>
          <a:prstGeom prst="rect">
            <a:avLst/>
          </a:prstGeom>
          <a:noFill/>
          <a:ln/>
        </p:spPr>
        <p:txBody>
          <a:bodyPr wrap="square" lIns="0" tIns="0" rIns="0" bIns="0" rtlCol="0" anchor="t"/>
          <a:lstStyle/>
          <a:p>
            <a:pPr marL="0" indent="0">
              <a:buNone/>
            </a:pPr>
            <a:r>
              <a:rPr lang="en-US" sz="1400" dirty="0">
                <a:solidFill>
                  <a:srgbClr val="16232E"/>
                </a:solidFill>
                <a:latin typeface="Calibri" pitchFamily="34" charset="0"/>
                <a:ea typeface="Calibri" pitchFamily="34" charset="-122"/>
                <a:cs typeface="Calibri" pitchFamily="34" charset="-120"/>
              </a:rPr>
              <a:t>Update</a:t>
            </a:r>
            <a:endParaRPr lang="en-US" sz="1400" dirty="0"/>
          </a:p>
        </p:txBody>
      </p:sp>
      <p:sp>
        <p:nvSpPr>
          <p:cNvPr id="18" name="Shape 12"/>
          <p:cNvSpPr/>
          <p:nvPr/>
        </p:nvSpPr>
        <p:spPr>
          <a:xfrm>
            <a:off x="640080" y="4014216"/>
            <a:ext cx="365760" cy="365760"/>
          </a:xfrm>
          <a:prstGeom prst="ellipse">
            <a:avLst/>
          </a:prstGeom>
          <a:solidFill>
            <a:srgbClr val="E7EEF5"/>
          </a:solidFill>
          <a:ln/>
        </p:spPr>
      </p:sp>
      <p:pic>
        <p:nvPicPr>
          <p:cNvPr id="19" name="Image 4" descr="preencoded.png"/>
          <p:cNvPicPr>
            <a:picLocks noChangeAspect="1"/>
          </p:cNvPicPr>
          <p:nvPr/>
        </p:nvPicPr>
        <p:blipFill>
          <a:blip r:embed="rId4"/>
          <a:stretch>
            <a:fillRect/>
          </a:stretch>
        </p:blipFill>
        <p:spPr>
          <a:xfrm>
            <a:off x="735178" y="4109314"/>
            <a:ext cx="175565" cy="175565"/>
          </a:xfrm>
          <a:prstGeom prst="rect">
            <a:avLst/>
          </a:prstGeom>
        </p:spPr>
      </p:pic>
      <p:sp>
        <p:nvSpPr>
          <p:cNvPr id="20" name="Text 13"/>
          <p:cNvSpPr/>
          <p:nvPr/>
        </p:nvSpPr>
        <p:spPr>
          <a:xfrm>
            <a:off x="1170432" y="3986784"/>
            <a:ext cx="4590288" cy="621792"/>
          </a:xfrm>
          <a:prstGeom prst="rect">
            <a:avLst/>
          </a:prstGeom>
          <a:noFill/>
          <a:ln/>
        </p:spPr>
        <p:txBody>
          <a:bodyPr wrap="square" lIns="0" tIns="0" rIns="0" bIns="0" rtlCol="0" anchor="t"/>
          <a:lstStyle/>
          <a:p>
            <a:pPr marL="0" indent="0">
              <a:buNone/>
            </a:pPr>
            <a:r>
              <a:rPr lang="en-US" sz="1400" dirty="0">
                <a:solidFill>
                  <a:srgbClr val="16232E"/>
                </a:solidFill>
                <a:latin typeface="Calibri" pitchFamily="34" charset="0"/>
                <a:ea typeface="Calibri" pitchFamily="34" charset="-122"/>
                <a:cs typeface="Calibri" pitchFamily="34" charset="-120"/>
              </a:rPr>
              <a:t>Delete</a:t>
            </a:r>
            <a:endParaRPr lang="en-US" sz="1400" dirty="0"/>
          </a:p>
        </p:txBody>
      </p:sp>
      <p:sp>
        <p:nvSpPr>
          <p:cNvPr id="21" name="Text 14"/>
          <p:cNvSpPr/>
          <p:nvPr/>
        </p:nvSpPr>
        <p:spPr>
          <a:xfrm>
            <a:off x="640080" y="4663440"/>
            <a:ext cx="5120640" cy="365760"/>
          </a:xfrm>
          <a:prstGeom prst="rect">
            <a:avLst/>
          </a:prstGeom>
          <a:noFill/>
          <a:ln/>
        </p:spPr>
        <p:txBody>
          <a:bodyPr wrap="square" lIns="0" tIns="0" rIns="0" bIns="0" rtlCol="0" anchor="ctr"/>
          <a:lstStyle/>
          <a:p>
            <a:pPr marL="0" indent="0">
              <a:buNone/>
            </a:pPr>
            <a:r>
              <a:rPr lang="en-US" sz="1600" b="1" dirty="0">
                <a:solidFill>
                  <a:srgbClr val="082340"/>
                </a:solidFill>
                <a:latin typeface="Calibri" pitchFamily="34" charset="0"/>
                <a:ea typeface="Calibri" pitchFamily="34" charset="-122"/>
                <a:cs typeface="Calibri" pitchFamily="34" charset="-120"/>
              </a:rPr>
              <a:t>Benefits</a:t>
            </a:r>
            <a:endParaRPr lang="en-US" sz="1600" dirty="0"/>
          </a:p>
        </p:txBody>
      </p:sp>
      <p:sp>
        <p:nvSpPr>
          <p:cNvPr id="22" name="Shape 15"/>
          <p:cNvSpPr/>
          <p:nvPr/>
        </p:nvSpPr>
        <p:spPr>
          <a:xfrm>
            <a:off x="640080" y="5166360"/>
            <a:ext cx="0" cy="0"/>
          </a:xfrm>
          <a:prstGeom prst="roundRect">
            <a:avLst/>
          </a:prstGeom>
          <a:noFill/>
          <a:ln/>
        </p:spPr>
      </p:sp>
      <p:sp>
        <p:nvSpPr>
          <p:cNvPr id="23" name="Shape 16"/>
          <p:cNvSpPr/>
          <p:nvPr/>
        </p:nvSpPr>
        <p:spPr>
          <a:xfrm>
            <a:off x="640080" y="5166360"/>
            <a:ext cx="0" cy="0"/>
          </a:xfrm>
          <a:prstGeom prst="roundRect">
            <a:avLst/>
          </a:prstGeom>
          <a:noFill/>
          <a:ln/>
        </p:spPr>
      </p:sp>
      <p:sp>
        <p:nvSpPr>
          <p:cNvPr id="24" name="Shape 17"/>
          <p:cNvSpPr/>
          <p:nvPr/>
        </p:nvSpPr>
        <p:spPr>
          <a:xfrm>
            <a:off x="640080" y="5166360"/>
            <a:ext cx="0" cy="0"/>
          </a:xfrm>
          <a:prstGeom prst="roundRect">
            <a:avLst/>
          </a:prstGeom>
          <a:noFill/>
          <a:ln/>
        </p:spPr>
      </p:sp>
      <p:sp>
        <p:nvSpPr>
          <p:cNvPr id="25" name="Shape 18"/>
          <p:cNvSpPr/>
          <p:nvPr/>
        </p:nvSpPr>
        <p:spPr>
          <a:xfrm>
            <a:off x="640080" y="5120640"/>
            <a:ext cx="1188720" cy="411480"/>
          </a:xfrm>
          <a:prstGeom prst="roundRect">
            <a:avLst>
              <a:gd name="adj" fmla="val 48889"/>
            </a:avLst>
          </a:prstGeom>
          <a:solidFill>
            <a:srgbClr val="E7EEF5"/>
          </a:solidFill>
          <a:ln/>
        </p:spPr>
      </p:sp>
      <p:sp>
        <p:nvSpPr>
          <p:cNvPr id="26" name="Text 19"/>
          <p:cNvSpPr/>
          <p:nvPr/>
        </p:nvSpPr>
        <p:spPr>
          <a:xfrm>
            <a:off x="640080" y="5120640"/>
            <a:ext cx="1188720" cy="411480"/>
          </a:xfrm>
          <a:prstGeom prst="rect">
            <a:avLst/>
          </a:prstGeom>
          <a:noFill/>
          <a:ln/>
        </p:spPr>
        <p:txBody>
          <a:bodyPr wrap="square" lIns="0" tIns="0" rIns="0" bIns="0" rtlCol="0" anchor="ctr"/>
          <a:lstStyle/>
          <a:p>
            <a:pPr marL="0" indent="0" algn="ctr">
              <a:buNone/>
            </a:pPr>
            <a:r>
              <a:rPr lang="en-US" sz="1150" b="1" dirty="0">
                <a:solidFill>
                  <a:srgbClr val="082340"/>
                </a:solidFill>
                <a:latin typeface="Calibri" pitchFamily="34" charset="0"/>
                <a:ea typeface="Calibri" pitchFamily="34" charset="-122"/>
                <a:cs typeface="Calibri" pitchFamily="34" charset="-120"/>
              </a:rPr>
              <a:t>Security</a:t>
            </a:r>
            <a:endParaRPr lang="en-US" sz="1150" dirty="0"/>
          </a:p>
        </p:txBody>
      </p:sp>
      <p:sp>
        <p:nvSpPr>
          <p:cNvPr id="27" name="Shape 20"/>
          <p:cNvSpPr/>
          <p:nvPr/>
        </p:nvSpPr>
        <p:spPr>
          <a:xfrm>
            <a:off x="2011680" y="5120640"/>
            <a:ext cx="1737360" cy="411480"/>
          </a:xfrm>
          <a:prstGeom prst="roundRect">
            <a:avLst>
              <a:gd name="adj" fmla="val 48889"/>
            </a:avLst>
          </a:prstGeom>
          <a:solidFill>
            <a:srgbClr val="E7EEF5"/>
          </a:solidFill>
          <a:ln/>
        </p:spPr>
      </p:sp>
      <p:sp>
        <p:nvSpPr>
          <p:cNvPr id="28" name="Text 21"/>
          <p:cNvSpPr/>
          <p:nvPr/>
        </p:nvSpPr>
        <p:spPr>
          <a:xfrm>
            <a:off x="2011680" y="5120640"/>
            <a:ext cx="1737360" cy="411480"/>
          </a:xfrm>
          <a:prstGeom prst="rect">
            <a:avLst/>
          </a:prstGeom>
          <a:noFill/>
          <a:ln/>
        </p:spPr>
        <p:txBody>
          <a:bodyPr wrap="square" lIns="0" tIns="0" rIns="0" bIns="0" rtlCol="0" anchor="ctr"/>
          <a:lstStyle/>
          <a:p>
            <a:pPr marL="0" indent="0" algn="ctr">
              <a:buNone/>
            </a:pPr>
            <a:r>
              <a:rPr lang="en-US" sz="1150" b="1" dirty="0">
                <a:solidFill>
                  <a:srgbClr val="082340"/>
                </a:solidFill>
                <a:latin typeface="Calibri" pitchFamily="34" charset="0"/>
                <a:ea typeface="Calibri" pitchFamily="34" charset="-122"/>
                <a:cs typeface="Calibri" pitchFamily="34" charset="-120"/>
              </a:rPr>
              <a:t>Accountability</a:t>
            </a:r>
            <a:endParaRPr lang="en-US" sz="1150" dirty="0"/>
          </a:p>
        </p:txBody>
      </p:sp>
      <p:sp>
        <p:nvSpPr>
          <p:cNvPr id="29" name="Shape 22"/>
          <p:cNvSpPr/>
          <p:nvPr/>
        </p:nvSpPr>
        <p:spPr>
          <a:xfrm>
            <a:off x="3931920" y="5120640"/>
            <a:ext cx="1371600" cy="411480"/>
          </a:xfrm>
          <a:prstGeom prst="roundRect">
            <a:avLst>
              <a:gd name="adj" fmla="val 48889"/>
            </a:avLst>
          </a:prstGeom>
          <a:solidFill>
            <a:srgbClr val="E7EEF5"/>
          </a:solidFill>
          <a:ln/>
        </p:spPr>
      </p:sp>
      <p:sp>
        <p:nvSpPr>
          <p:cNvPr id="30" name="Text 23"/>
          <p:cNvSpPr/>
          <p:nvPr/>
        </p:nvSpPr>
        <p:spPr>
          <a:xfrm>
            <a:off x="3931920" y="5120640"/>
            <a:ext cx="1371600" cy="411480"/>
          </a:xfrm>
          <a:prstGeom prst="rect">
            <a:avLst/>
          </a:prstGeom>
          <a:noFill/>
          <a:ln/>
        </p:spPr>
        <p:txBody>
          <a:bodyPr wrap="square" lIns="0" tIns="0" rIns="0" bIns="0" rtlCol="0" anchor="ctr"/>
          <a:lstStyle/>
          <a:p>
            <a:pPr marL="0" indent="0" algn="ctr">
              <a:buNone/>
            </a:pPr>
            <a:r>
              <a:rPr lang="en-US" sz="1150" b="1" dirty="0">
                <a:solidFill>
                  <a:srgbClr val="082340"/>
                </a:solidFill>
                <a:latin typeface="Calibri" pitchFamily="34" charset="0"/>
                <a:ea typeface="Calibri" pitchFamily="34" charset="-122"/>
                <a:cs typeface="Calibri" pitchFamily="34" charset="-120"/>
              </a:rPr>
              <a:t>Monitoring</a:t>
            </a:r>
            <a:endParaRPr lang="en-US" sz="1150" dirty="0"/>
          </a:p>
        </p:txBody>
      </p:sp>
      <p:sp>
        <p:nvSpPr>
          <p:cNvPr id="31" name="Shape 24"/>
          <p:cNvSpPr/>
          <p:nvPr/>
        </p:nvSpPr>
        <p:spPr>
          <a:xfrm>
            <a:off x="6400800" y="1737360"/>
            <a:ext cx="5212080" cy="3794760"/>
          </a:xfrm>
          <a:prstGeom prst="roundRect">
            <a:avLst>
              <a:gd name="adj" fmla="val 2410"/>
            </a:avLst>
          </a:prstGeom>
          <a:solidFill>
            <a:srgbClr val="F7F9FB"/>
          </a:solidFill>
          <a:ln w="19050">
            <a:solidFill>
              <a:srgbClr val="E1E7EE"/>
            </a:solidFill>
            <a:prstDash val="dash"/>
          </a:ln>
        </p:spPr>
      </p:sp>
      <p:sp>
        <p:nvSpPr>
          <p:cNvPr id="32" name="Shape 25"/>
          <p:cNvSpPr/>
          <p:nvPr/>
        </p:nvSpPr>
        <p:spPr>
          <a:xfrm>
            <a:off x="8686800" y="3017520"/>
            <a:ext cx="640080" cy="640080"/>
          </a:xfrm>
          <a:prstGeom prst="ellipse">
            <a:avLst/>
          </a:prstGeom>
          <a:solidFill>
            <a:srgbClr val="FFFFFF"/>
          </a:solidFill>
          <a:ln/>
        </p:spPr>
      </p:sp>
      <p:pic>
        <p:nvPicPr>
          <p:cNvPr id="33" name="Image 5" descr="preencoded.png"/>
          <p:cNvPicPr>
            <a:picLocks noChangeAspect="1"/>
          </p:cNvPicPr>
          <p:nvPr/>
        </p:nvPicPr>
        <p:blipFill>
          <a:blip r:embed="rId5"/>
          <a:stretch>
            <a:fillRect/>
          </a:stretch>
        </p:blipFill>
        <p:spPr>
          <a:xfrm>
            <a:off x="8853221" y="3183941"/>
            <a:ext cx="307238" cy="307238"/>
          </a:xfrm>
          <a:prstGeom prst="rect">
            <a:avLst/>
          </a:prstGeom>
        </p:spPr>
      </p:pic>
      <p:sp>
        <p:nvSpPr>
          <p:cNvPr id="34" name="Text 26"/>
          <p:cNvSpPr/>
          <p:nvPr/>
        </p:nvSpPr>
        <p:spPr>
          <a:xfrm>
            <a:off x="6583680" y="3794760"/>
            <a:ext cx="4846320" cy="365760"/>
          </a:xfrm>
          <a:prstGeom prst="rect">
            <a:avLst/>
          </a:prstGeom>
          <a:noFill/>
          <a:ln/>
        </p:spPr>
        <p:txBody>
          <a:bodyPr wrap="square" lIns="0" tIns="0" rIns="0" bIns="0" rtlCol="0" anchor="ctr"/>
          <a:lstStyle/>
          <a:p>
            <a:pPr marL="0" indent="0" algn="ctr">
              <a:buNone/>
            </a:pPr>
            <a:r>
              <a:rPr lang="en-US" sz="1300" b="1" dirty="0">
                <a:solidFill>
                  <a:srgbClr val="5A6B7A"/>
                </a:solidFill>
                <a:latin typeface="Calibri" pitchFamily="34" charset="0"/>
                <a:ea typeface="Calibri" pitchFamily="34" charset="-122"/>
                <a:cs typeface="Calibri" pitchFamily="34" charset="-120"/>
              </a:rPr>
              <a:t>Audit Log Screenshot</a:t>
            </a:r>
            <a:endParaRPr lang="en-US" sz="1300" dirty="0"/>
          </a:p>
        </p:txBody>
      </p:sp>
      <p:sp>
        <p:nvSpPr>
          <p:cNvPr id="35" name="Text 27"/>
          <p:cNvSpPr/>
          <p:nvPr/>
        </p:nvSpPr>
        <p:spPr>
          <a:xfrm>
            <a:off x="6583680" y="4160520"/>
            <a:ext cx="4846320" cy="365760"/>
          </a:xfrm>
          <a:prstGeom prst="rect">
            <a:avLst/>
          </a:prstGeom>
          <a:noFill/>
          <a:ln/>
        </p:spPr>
        <p:txBody>
          <a:bodyPr wrap="square" lIns="0" tIns="0" rIns="0" bIns="0" rtlCol="0" anchor="ctr"/>
          <a:lstStyle/>
          <a:p>
            <a:pPr marL="0" indent="0" algn="ctr">
              <a:buNone/>
            </a:pPr>
            <a:r>
              <a:rPr lang="en-US" sz="1050" i="1" dirty="0">
                <a:solidFill>
                  <a:srgbClr val="5A6B7A"/>
                </a:solidFill>
                <a:latin typeface="Calibri" pitchFamily="34" charset="0"/>
                <a:ea typeface="Calibri" pitchFamily="34" charset="-122"/>
                <a:cs typeface="Calibri" pitchFamily="34" charset="-120"/>
              </a:rPr>
              <a:t>(placeholder — insert product screenshot here)</a:t>
            </a:r>
            <a:endParaRPr lang="en-US" sz="1050" dirty="0"/>
          </a:p>
        </p:txBody>
      </p:sp>
      <p:pic>
        <p:nvPicPr>
          <p:cNvPr id="37" name="Picture 36">
            <a:extLst>
              <a:ext uri="{FF2B5EF4-FFF2-40B4-BE49-F238E27FC236}">
                <a16:creationId xmlns:a16="http://schemas.microsoft.com/office/drawing/2014/main" id="{2BF22E1D-18B7-BB87-4669-4273910890AA}"/>
              </a:ext>
            </a:extLst>
          </p:cNvPr>
          <p:cNvPicPr>
            <a:picLocks noChangeAspect="1"/>
          </p:cNvPicPr>
          <p:nvPr/>
        </p:nvPicPr>
        <p:blipFill>
          <a:blip r:embed="rId6"/>
          <a:stretch>
            <a:fillRect/>
          </a:stretch>
        </p:blipFill>
        <p:spPr>
          <a:xfrm>
            <a:off x="5988394" y="1736497"/>
            <a:ext cx="6036892" cy="37947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15</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AI Data Analyst</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Ask questions in plain English — get validated SQL and real answers</a:t>
            </a:r>
            <a:endParaRPr lang="en-US" sz="1300" dirty="0"/>
          </a:p>
        </p:txBody>
      </p:sp>
      <p:sp>
        <p:nvSpPr>
          <p:cNvPr id="7" name="Shape 4"/>
          <p:cNvSpPr/>
          <p:nvPr/>
        </p:nvSpPr>
        <p:spPr>
          <a:xfrm>
            <a:off x="548640" y="1371600"/>
            <a:ext cx="502920" cy="41148"/>
          </a:xfrm>
          <a:prstGeom prst="rect">
            <a:avLst/>
          </a:prstGeom>
          <a:solidFill>
            <a:srgbClr val="F15B40"/>
          </a:solidFill>
          <a:ln/>
        </p:spPr>
      </p:sp>
      <p:sp>
        <p:nvSpPr>
          <p:cNvPr id="8" name="Shape 5"/>
          <p:cNvSpPr/>
          <p:nvPr/>
        </p:nvSpPr>
        <p:spPr>
          <a:xfrm>
            <a:off x="3931920" y="1417320"/>
            <a:ext cx="4297680" cy="457200"/>
          </a:xfrm>
          <a:prstGeom prst="roundRect">
            <a:avLst>
              <a:gd name="adj" fmla="val 16000"/>
            </a:avLst>
          </a:prstGeom>
          <a:solidFill>
            <a:srgbClr val="F15B40"/>
          </a:solidFill>
          <a:ln/>
          <a:effectLst>
            <a:outerShdw blurRad="50800" dist="12700" dir="2700000" algn="bl" rotWithShape="0">
              <a:srgbClr val="000000">
                <a:alpha val="12000"/>
              </a:srgbClr>
            </a:outerShdw>
          </a:effectLst>
        </p:spPr>
      </p:sp>
      <p:sp>
        <p:nvSpPr>
          <p:cNvPr id="9" name="Text 6"/>
          <p:cNvSpPr/>
          <p:nvPr/>
        </p:nvSpPr>
        <p:spPr>
          <a:xfrm>
            <a:off x="3931920" y="1417320"/>
            <a:ext cx="42976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User asks a question</a:t>
            </a:r>
            <a:endParaRPr lang="en-US" sz="1250" dirty="0"/>
          </a:p>
        </p:txBody>
      </p:sp>
      <p:sp>
        <p:nvSpPr>
          <p:cNvPr id="10" name="Shape 7"/>
          <p:cNvSpPr/>
          <p:nvPr/>
        </p:nvSpPr>
        <p:spPr>
          <a:xfrm>
            <a:off x="6007608" y="1879092"/>
            <a:ext cx="146304" cy="91440"/>
          </a:xfrm>
          <a:prstGeom prst="downArrow">
            <a:avLst/>
          </a:prstGeom>
          <a:solidFill>
            <a:srgbClr val="5A6B7A"/>
          </a:solidFill>
          <a:ln/>
        </p:spPr>
      </p:sp>
      <p:sp>
        <p:nvSpPr>
          <p:cNvPr id="11" name="Shape 8"/>
          <p:cNvSpPr/>
          <p:nvPr/>
        </p:nvSpPr>
        <p:spPr>
          <a:xfrm>
            <a:off x="3931920" y="1975104"/>
            <a:ext cx="4297680" cy="457200"/>
          </a:xfrm>
          <a:prstGeom prst="roundRect">
            <a:avLst>
              <a:gd name="adj" fmla="val 16000"/>
            </a:avLst>
          </a:prstGeom>
          <a:solidFill>
            <a:srgbClr val="082340"/>
          </a:solidFill>
          <a:ln/>
          <a:effectLst>
            <a:outerShdw blurRad="50800" dist="12700" dir="2700000" algn="bl" rotWithShape="0">
              <a:srgbClr val="000000">
                <a:alpha val="12000"/>
              </a:srgbClr>
            </a:outerShdw>
          </a:effectLst>
        </p:spPr>
      </p:sp>
      <p:sp>
        <p:nvSpPr>
          <p:cNvPr id="12" name="Text 9"/>
          <p:cNvSpPr/>
          <p:nvPr/>
        </p:nvSpPr>
        <p:spPr>
          <a:xfrm>
            <a:off x="3931920" y="1975104"/>
            <a:ext cx="42976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Schema sent to AI</a:t>
            </a:r>
            <a:endParaRPr lang="en-US" sz="1250" dirty="0"/>
          </a:p>
        </p:txBody>
      </p:sp>
      <p:sp>
        <p:nvSpPr>
          <p:cNvPr id="13" name="Shape 10"/>
          <p:cNvSpPr/>
          <p:nvPr/>
        </p:nvSpPr>
        <p:spPr>
          <a:xfrm>
            <a:off x="6007608" y="2436876"/>
            <a:ext cx="146304" cy="91440"/>
          </a:xfrm>
          <a:prstGeom prst="downArrow">
            <a:avLst/>
          </a:prstGeom>
          <a:solidFill>
            <a:srgbClr val="5A6B7A"/>
          </a:solidFill>
          <a:ln/>
        </p:spPr>
      </p:sp>
      <p:sp>
        <p:nvSpPr>
          <p:cNvPr id="14" name="Shape 11"/>
          <p:cNvSpPr/>
          <p:nvPr/>
        </p:nvSpPr>
        <p:spPr>
          <a:xfrm>
            <a:off x="3931920" y="2532888"/>
            <a:ext cx="4297680" cy="457200"/>
          </a:xfrm>
          <a:prstGeom prst="roundRect">
            <a:avLst>
              <a:gd name="adj" fmla="val 16000"/>
            </a:avLst>
          </a:prstGeom>
          <a:solidFill>
            <a:srgbClr val="082340"/>
          </a:solidFill>
          <a:ln/>
          <a:effectLst>
            <a:outerShdw blurRad="50800" dist="12700" dir="2700000" algn="bl" rotWithShape="0">
              <a:srgbClr val="000000">
                <a:alpha val="12000"/>
              </a:srgbClr>
            </a:outerShdw>
          </a:effectLst>
        </p:spPr>
      </p:sp>
      <p:sp>
        <p:nvSpPr>
          <p:cNvPr id="15" name="Text 12"/>
          <p:cNvSpPr/>
          <p:nvPr/>
        </p:nvSpPr>
        <p:spPr>
          <a:xfrm>
            <a:off x="3931920" y="2532888"/>
            <a:ext cx="42976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SQL Generated</a:t>
            </a:r>
            <a:endParaRPr lang="en-US" sz="1250" dirty="0"/>
          </a:p>
        </p:txBody>
      </p:sp>
      <p:sp>
        <p:nvSpPr>
          <p:cNvPr id="16" name="Shape 13"/>
          <p:cNvSpPr/>
          <p:nvPr/>
        </p:nvSpPr>
        <p:spPr>
          <a:xfrm>
            <a:off x="6007608" y="2994660"/>
            <a:ext cx="146304" cy="91440"/>
          </a:xfrm>
          <a:prstGeom prst="downArrow">
            <a:avLst/>
          </a:prstGeom>
          <a:solidFill>
            <a:srgbClr val="5A6B7A"/>
          </a:solidFill>
          <a:ln/>
        </p:spPr>
      </p:sp>
      <p:sp>
        <p:nvSpPr>
          <p:cNvPr id="17" name="Shape 14"/>
          <p:cNvSpPr/>
          <p:nvPr/>
        </p:nvSpPr>
        <p:spPr>
          <a:xfrm>
            <a:off x="3931920" y="3090672"/>
            <a:ext cx="4297680" cy="457200"/>
          </a:xfrm>
          <a:prstGeom prst="roundRect">
            <a:avLst>
              <a:gd name="adj" fmla="val 16000"/>
            </a:avLst>
          </a:prstGeom>
          <a:solidFill>
            <a:srgbClr val="082340"/>
          </a:solidFill>
          <a:ln/>
          <a:effectLst>
            <a:outerShdw blurRad="50800" dist="12700" dir="2700000" algn="bl" rotWithShape="0">
              <a:srgbClr val="000000">
                <a:alpha val="12000"/>
              </a:srgbClr>
            </a:outerShdw>
          </a:effectLst>
        </p:spPr>
      </p:sp>
      <p:sp>
        <p:nvSpPr>
          <p:cNvPr id="18" name="Text 15"/>
          <p:cNvSpPr/>
          <p:nvPr/>
        </p:nvSpPr>
        <p:spPr>
          <a:xfrm>
            <a:off x="3931920" y="3090672"/>
            <a:ext cx="42976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SQL Validated</a:t>
            </a:r>
            <a:endParaRPr lang="en-US" sz="1250" dirty="0"/>
          </a:p>
        </p:txBody>
      </p:sp>
      <p:sp>
        <p:nvSpPr>
          <p:cNvPr id="19" name="Shape 16"/>
          <p:cNvSpPr/>
          <p:nvPr/>
        </p:nvSpPr>
        <p:spPr>
          <a:xfrm>
            <a:off x="6007608" y="3552444"/>
            <a:ext cx="146304" cy="91440"/>
          </a:xfrm>
          <a:prstGeom prst="downArrow">
            <a:avLst/>
          </a:prstGeom>
          <a:solidFill>
            <a:srgbClr val="5A6B7A"/>
          </a:solidFill>
          <a:ln/>
        </p:spPr>
      </p:sp>
      <p:sp>
        <p:nvSpPr>
          <p:cNvPr id="20" name="Shape 17"/>
          <p:cNvSpPr/>
          <p:nvPr/>
        </p:nvSpPr>
        <p:spPr>
          <a:xfrm>
            <a:off x="3931920" y="3648456"/>
            <a:ext cx="4297680" cy="457200"/>
          </a:xfrm>
          <a:prstGeom prst="roundRect">
            <a:avLst>
              <a:gd name="adj" fmla="val 16000"/>
            </a:avLst>
          </a:prstGeom>
          <a:solidFill>
            <a:srgbClr val="082340"/>
          </a:solidFill>
          <a:ln/>
          <a:effectLst>
            <a:outerShdw blurRad="50800" dist="12700" dir="2700000" algn="bl" rotWithShape="0">
              <a:srgbClr val="000000">
                <a:alpha val="12000"/>
              </a:srgbClr>
            </a:outerShdw>
          </a:effectLst>
        </p:spPr>
      </p:sp>
      <p:sp>
        <p:nvSpPr>
          <p:cNvPr id="21" name="Text 18"/>
          <p:cNvSpPr/>
          <p:nvPr/>
        </p:nvSpPr>
        <p:spPr>
          <a:xfrm>
            <a:off x="3931920" y="3648456"/>
            <a:ext cx="42976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Query runs on Database</a:t>
            </a:r>
            <a:endParaRPr lang="en-US" sz="1250" dirty="0"/>
          </a:p>
        </p:txBody>
      </p:sp>
      <p:sp>
        <p:nvSpPr>
          <p:cNvPr id="22" name="Shape 19"/>
          <p:cNvSpPr/>
          <p:nvPr/>
        </p:nvSpPr>
        <p:spPr>
          <a:xfrm>
            <a:off x="6007608" y="4110228"/>
            <a:ext cx="146304" cy="91440"/>
          </a:xfrm>
          <a:prstGeom prst="downArrow">
            <a:avLst/>
          </a:prstGeom>
          <a:solidFill>
            <a:srgbClr val="5A6B7A"/>
          </a:solidFill>
          <a:ln/>
        </p:spPr>
      </p:sp>
      <p:sp>
        <p:nvSpPr>
          <p:cNvPr id="23" name="Shape 20"/>
          <p:cNvSpPr/>
          <p:nvPr/>
        </p:nvSpPr>
        <p:spPr>
          <a:xfrm>
            <a:off x="3931920" y="4206240"/>
            <a:ext cx="4297680" cy="457200"/>
          </a:xfrm>
          <a:prstGeom prst="roundRect">
            <a:avLst>
              <a:gd name="adj" fmla="val 16000"/>
            </a:avLst>
          </a:prstGeom>
          <a:solidFill>
            <a:srgbClr val="082340"/>
          </a:solidFill>
          <a:ln/>
          <a:effectLst>
            <a:outerShdw blurRad="50800" dist="12700" dir="2700000" algn="bl" rotWithShape="0">
              <a:srgbClr val="000000">
                <a:alpha val="12000"/>
              </a:srgbClr>
            </a:outerShdw>
          </a:effectLst>
        </p:spPr>
      </p:sp>
      <p:sp>
        <p:nvSpPr>
          <p:cNvPr id="24" name="Text 21"/>
          <p:cNvSpPr/>
          <p:nvPr/>
        </p:nvSpPr>
        <p:spPr>
          <a:xfrm>
            <a:off x="3931920" y="4206240"/>
            <a:ext cx="42976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Results returned</a:t>
            </a:r>
            <a:endParaRPr lang="en-US" sz="1250" dirty="0"/>
          </a:p>
        </p:txBody>
      </p:sp>
      <p:sp>
        <p:nvSpPr>
          <p:cNvPr id="25" name="Shape 22"/>
          <p:cNvSpPr/>
          <p:nvPr/>
        </p:nvSpPr>
        <p:spPr>
          <a:xfrm>
            <a:off x="6007608" y="4668012"/>
            <a:ext cx="146304" cy="91440"/>
          </a:xfrm>
          <a:prstGeom prst="downArrow">
            <a:avLst/>
          </a:prstGeom>
          <a:solidFill>
            <a:srgbClr val="5A6B7A"/>
          </a:solidFill>
          <a:ln/>
        </p:spPr>
      </p:sp>
      <p:sp>
        <p:nvSpPr>
          <p:cNvPr id="26" name="Shape 23"/>
          <p:cNvSpPr/>
          <p:nvPr/>
        </p:nvSpPr>
        <p:spPr>
          <a:xfrm>
            <a:off x="3931920" y="4764024"/>
            <a:ext cx="4297680" cy="457200"/>
          </a:xfrm>
          <a:prstGeom prst="roundRect">
            <a:avLst>
              <a:gd name="adj" fmla="val 16000"/>
            </a:avLst>
          </a:prstGeom>
          <a:solidFill>
            <a:srgbClr val="F15B40"/>
          </a:solidFill>
          <a:ln/>
          <a:effectLst>
            <a:outerShdw blurRad="50800" dist="12700" dir="2700000" algn="bl" rotWithShape="0">
              <a:srgbClr val="000000">
                <a:alpha val="12000"/>
              </a:srgbClr>
            </a:outerShdw>
          </a:effectLst>
        </p:spPr>
      </p:sp>
      <p:sp>
        <p:nvSpPr>
          <p:cNvPr id="27" name="Text 24"/>
          <p:cNvSpPr/>
          <p:nvPr/>
        </p:nvSpPr>
        <p:spPr>
          <a:xfrm>
            <a:off x="3931920" y="4764024"/>
            <a:ext cx="429768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AI Explanation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16</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AI Security</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Every AI-generated query passes through a strict SQL validator</a:t>
            </a:r>
            <a:endParaRPr lang="en-US" sz="1300" dirty="0"/>
          </a:p>
        </p:txBody>
      </p:sp>
      <p:sp>
        <p:nvSpPr>
          <p:cNvPr id="7" name="Shape 4"/>
          <p:cNvSpPr/>
          <p:nvPr/>
        </p:nvSpPr>
        <p:spPr>
          <a:xfrm>
            <a:off x="548640" y="1371600"/>
            <a:ext cx="502920" cy="41148"/>
          </a:xfrm>
          <a:prstGeom prst="rect">
            <a:avLst/>
          </a:prstGeom>
          <a:solidFill>
            <a:srgbClr val="F15B40"/>
          </a:solidFill>
          <a:ln/>
        </p:spPr>
      </p:sp>
      <p:sp>
        <p:nvSpPr>
          <p:cNvPr id="8" name="Shape 5"/>
          <p:cNvSpPr/>
          <p:nvPr/>
        </p:nvSpPr>
        <p:spPr>
          <a:xfrm>
            <a:off x="640080" y="1691640"/>
            <a:ext cx="5257800" cy="4206240"/>
          </a:xfrm>
          <a:prstGeom prst="roundRect">
            <a:avLst>
              <a:gd name="adj" fmla="val 2174"/>
            </a:avLst>
          </a:prstGeom>
          <a:solidFill>
            <a:srgbClr val="082340"/>
          </a:solidFill>
          <a:ln/>
        </p:spPr>
      </p:sp>
      <p:sp>
        <p:nvSpPr>
          <p:cNvPr id="9" name="Shape 6"/>
          <p:cNvSpPr/>
          <p:nvPr/>
        </p:nvSpPr>
        <p:spPr>
          <a:xfrm>
            <a:off x="2903220" y="2011680"/>
            <a:ext cx="731520" cy="731520"/>
          </a:xfrm>
          <a:prstGeom prst="ellipse">
            <a:avLst/>
          </a:prstGeom>
          <a:solidFill>
            <a:srgbClr val="0E3A63"/>
          </a:solidFill>
          <a:ln/>
        </p:spPr>
      </p:sp>
      <p:pic>
        <p:nvPicPr>
          <p:cNvPr id="10" name="Image 1" descr="preencoded.png"/>
          <p:cNvPicPr>
            <a:picLocks noChangeAspect="1"/>
          </p:cNvPicPr>
          <p:nvPr/>
        </p:nvPicPr>
        <p:blipFill>
          <a:blip r:embed="rId4"/>
          <a:stretch>
            <a:fillRect/>
          </a:stretch>
        </p:blipFill>
        <p:spPr>
          <a:xfrm>
            <a:off x="3093415" y="2201875"/>
            <a:ext cx="351130" cy="351130"/>
          </a:xfrm>
          <a:prstGeom prst="rect">
            <a:avLst/>
          </a:prstGeom>
        </p:spPr>
      </p:pic>
      <p:sp>
        <p:nvSpPr>
          <p:cNvPr id="11" name="Text 7"/>
          <p:cNvSpPr/>
          <p:nvPr/>
        </p:nvSpPr>
        <p:spPr>
          <a:xfrm>
            <a:off x="640080" y="2926080"/>
            <a:ext cx="525780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Only Allows</a:t>
            </a:r>
            <a:endParaRPr lang="en-US" sz="1700" dirty="0"/>
          </a:p>
        </p:txBody>
      </p:sp>
      <p:sp>
        <p:nvSpPr>
          <p:cNvPr id="12" name="Text 8"/>
          <p:cNvSpPr/>
          <p:nvPr/>
        </p:nvSpPr>
        <p:spPr>
          <a:xfrm>
            <a:off x="640080" y="3474720"/>
            <a:ext cx="5257800" cy="548640"/>
          </a:xfrm>
          <a:prstGeom prst="rect">
            <a:avLst/>
          </a:prstGeom>
          <a:noFill/>
          <a:ln/>
        </p:spPr>
        <p:txBody>
          <a:bodyPr wrap="square" lIns="0" tIns="0" rIns="0" bIns="0" rtlCol="0" anchor="ctr"/>
          <a:lstStyle/>
          <a:p>
            <a:pPr marL="0" indent="0" algn="ctr">
              <a:buNone/>
            </a:pPr>
            <a:r>
              <a:rPr lang="en-US" sz="2600" b="1" dirty="0">
                <a:solidFill>
                  <a:srgbClr val="CFE0F0"/>
                </a:solidFill>
                <a:latin typeface="Courier New" pitchFamily="34" charset="0"/>
                <a:ea typeface="Courier New" pitchFamily="34" charset="-122"/>
                <a:cs typeface="Courier New" pitchFamily="34" charset="-120"/>
              </a:rPr>
              <a:t>SELECT</a:t>
            </a:r>
            <a:endParaRPr lang="en-US" sz="2600" dirty="0"/>
          </a:p>
        </p:txBody>
      </p:sp>
      <p:sp>
        <p:nvSpPr>
          <p:cNvPr id="13" name="Text 9"/>
          <p:cNvSpPr/>
          <p:nvPr/>
        </p:nvSpPr>
        <p:spPr>
          <a:xfrm>
            <a:off x="1097280" y="4251960"/>
            <a:ext cx="4343400" cy="822960"/>
          </a:xfrm>
          <a:prstGeom prst="rect">
            <a:avLst/>
          </a:prstGeom>
          <a:noFill/>
          <a:ln/>
        </p:spPr>
        <p:txBody>
          <a:bodyPr wrap="square" lIns="0" tIns="0" rIns="0" bIns="0" rtlCol="0" anchor="ctr"/>
          <a:lstStyle/>
          <a:p>
            <a:pPr marL="0" indent="0" algn="ctr">
              <a:buNone/>
            </a:pPr>
            <a:r>
              <a:rPr lang="en-US" sz="1200" dirty="0">
                <a:solidFill>
                  <a:srgbClr val="CFE0F0"/>
                </a:solidFill>
                <a:latin typeface="Calibri" pitchFamily="34" charset="0"/>
                <a:ea typeface="Calibri" pitchFamily="34" charset="-122"/>
                <a:cs typeface="Calibri" pitchFamily="34" charset="-120"/>
              </a:rPr>
              <a:t>Read-only access ensures the AI can analyze data but never change it.</a:t>
            </a:r>
            <a:endParaRPr lang="en-US" sz="1200" dirty="0"/>
          </a:p>
        </p:txBody>
      </p:sp>
      <p:sp>
        <p:nvSpPr>
          <p:cNvPr id="14" name="Shape 10"/>
          <p:cNvSpPr/>
          <p:nvPr/>
        </p:nvSpPr>
        <p:spPr>
          <a:xfrm>
            <a:off x="6355080" y="1691640"/>
            <a:ext cx="5257800" cy="4206240"/>
          </a:xfrm>
          <a:prstGeom prst="roundRect">
            <a:avLst>
              <a:gd name="adj" fmla="val 2174"/>
            </a:avLst>
          </a:prstGeom>
          <a:solidFill>
            <a:srgbClr val="FFFFFF"/>
          </a:solidFill>
          <a:ln w="19050">
            <a:solidFill>
              <a:srgbClr val="F15B40"/>
            </a:solidFill>
            <a:prstDash val="solid"/>
          </a:ln>
        </p:spPr>
      </p:sp>
      <p:sp>
        <p:nvSpPr>
          <p:cNvPr id="15" name="Shape 11"/>
          <p:cNvSpPr/>
          <p:nvPr/>
        </p:nvSpPr>
        <p:spPr>
          <a:xfrm>
            <a:off x="8618220" y="2011680"/>
            <a:ext cx="731520" cy="731520"/>
          </a:xfrm>
          <a:prstGeom prst="ellipse">
            <a:avLst/>
          </a:prstGeom>
          <a:solidFill>
            <a:srgbClr val="FDEAE6"/>
          </a:solidFill>
          <a:ln/>
        </p:spPr>
      </p:sp>
      <p:pic>
        <p:nvPicPr>
          <p:cNvPr id="16" name="Image 2" descr="preencoded.png"/>
          <p:cNvPicPr>
            <a:picLocks noChangeAspect="1"/>
          </p:cNvPicPr>
          <p:nvPr/>
        </p:nvPicPr>
        <p:blipFill>
          <a:blip r:embed="rId5"/>
          <a:stretch>
            <a:fillRect/>
          </a:stretch>
        </p:blipFill>
        <p:spPr>
          <a:xfrm>
            <a:off x="8808415" y="2201875"/>
            <a:ext cx="351130" cy="351130"/>
          </a:xfrm>
          <a:prstGeom prst="rect">
            <a:avLst/>
          </a:prstGeom>
        </p:spPr>
      </p:pic>
      <p:sp>
        <p:nvSpPr>
          <p:cNvPr id="17" name="Text 12"/>
          <p:cNvSpPr/>
          <p:nvPr/>
        </p:nvSpPr>
        <p:spPr>
          <a:xfrm>
            <a:off x="6355080" y="2926080"/>
            <a:ext cx="5257800" cy="411480"/>
          </a:xfrm>
          <a:prstGeom prst="rect">
            <a:avLst/>
          </a:prstGeom>
          <a:noFill/>
          <a:ln/>
        </p:spPr>
        <p:txBody>
          <a:bodyPr wrap="square" lIns="0" tIns="0" rIns="0" bIns="0" rtlCol="0" anchor="ctr"/>
          <a:lstStyle/>
          <a:p>
            <a:pPr marL="0" indent="0" algn="ctr">
              <a:buNone/>
            </a:pPr>
            <a:r>
              <a:rPr lang="en-US" sz="1700" b="1" dirty="0">
                <a:solidFill>
                  <a:srgbClr val="082340"/>
                </a:solidFill>
                <a:latin typeface="Calibri" pitchFamily="34" charset="0"/>
                <a:ea typeface="Calibri" pitchFamily="34" charset="-122"/>
                <a:cs typeface="Calibri" pitchFamily="34" charset="-120"/>
              </a:rPr>
              <a:t>Blocks</a:t>
            </a:r>
            <a:endParaRPr lang="en-US" sz="1700" dirty="0"/>
          </a:p>
        </p:txBody>
      </p:sp>
      <p:sp>
        <p:nvSpPr>
          <p:cNvPr id="18" name="Text 13"/>
          <p:cNvSpPr/>
          <p:nvPr/>
        </p:nvSpPr>
        <p:spPr>
          <a:xfrm>
            <a:off x="6629400" y="3520440"/>
            <a:ext cx="4709160" cy="1463040"/>
          </a:xfrm>
          <a:prstGeom prst="rect">
            <a:avLst/>
          </a:prstGeom>
          <a:noFill/>
          <a:ln/>
        </p:spPr>
        <p:txBody>
          <a:bodyPr wrap="square" lIns="0" tIns="0" rIns="0" bIns="0" rtlCol="0" anchor="ctr"/>
          <a:lstStyle/>
          <a:p>
            <a:pPr marL="0" indent="0" algn="ctr">
              <a:buNone/>
            </a:pPr>
            <a:r>
              <a:rPr lang="en-US" sz="1300" b="1" dirty="0">
                <a:solidFill>
                  <a:srgbClr val="F15B40"/>
                </a:solidFill>
                <a:latin typeface="Courier New" pitchFamily="34" charset="0"/>
                <a:ea typeface="Courier New" pitchFamily="34" charset="-122"/>
                <a:cs typeface="Courier New" pitchFamily="34" charset="-120"/>
              </a:rPr>
              <a:t>INSERT   •   UPDATE   •   DELETE   •   DROP   •   ALTER   •   TRUNCATE   •   CREATE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17</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Live Example</a:t>
            </a:r>
            <a:endParaRPr lang="en-US" sz="2800" dirty="0"/>
          </a:p>
        </p:txBody>
      </p:sp>
      <p:sp>
        <p:nvSpPr>
          <p:cNvPr id="6" name="Shape 3"/>
          <p:cNvSpPr/>
          <p:nvPr/>
        </p:nvSpPr>
        <p:spPr>
          <a:xfrm>
            <a:off x="548640" y="1051560"/>
            <a:ext cx="502920" cy="41148"/>
          </a:xfrm>
          <a:prstGeom prst="rect">
            <a:avLst/>
          </a:prstGeom>
          <a:solidFill>
            <a:srgbClr val="F15B40"/>
          </a:solidFill>
          <a:ln/>
        </p:spPr>
      </p:sp>
      <p:sp>
        <p:nvSpPr>
          <p:cNvPr id="7" name="Text 4"/>
          <p:cNvSpPr/>
          <p:nvPr/>
        </p:nvSpPr>
        <p:spPr>
          <a:xfrm>
            <a:off x="640080" y="1463040"/>
            <a:ext cx="5120640" cy="320040"/>
          </a:xfrm>
          <a:prstGeom prst="rect">
            <a:avLst/>
          </a:prstGeom>
          <a:noFill/>
          <a:ln/>
        </p:spPr>
        <p:txBody>
          <a:bodyPr wrap="square" lIns="0" tIns="0" rIns="0" bIns="0" rtlCol="0" anchor="ctr"/>
          <a:lstStyle/>
          <a:p>
            <a:pPr marL="0" indent="0">
              <a:buNone/>
            </a:pPr>
            <a:r>
              <a:rPr lang="en-US" sz="1400" b="1" dirty="0">
                <a:solidFill>
                  <a:srgbClr val="082340"/>
                </a:solidFill>
                <a:latin typeface="Calibri" pitchFamily="34" charset="0"/>
                <a:ea typeface="Calibri" pitchFamily="34" charset="-122"/>
                <a:cs typeface="Calibri" pitchFamily="34" charset="-120"/>
              </a:rPr>
              <a:t>User Question</a:t>
            </a:r>
            <a:endParaRPr lang="en-US" sz="1400" dirty="0"/>
          </a:p>
        </p:txBody>
      </p:sp>
      <p:sp>
        <p:nvSpPr>
          <p:cNvPr id="8" name="Shape 5"/>
          <p:cNvSpPr/>
          <p:nvPr/>
        </p:nvSpPr>
        <p:spPr>
          <a:xfrm>
            <a:off x="640080" y="1810512"/>
            <a:ext cx="5394960" cy="640080"/>
          </a:xfrm>
          <a:prstGeom prst="roundRect">
            <a:avLst>
              <a:gd name="adj" fmla="val 11429"/>
            </a:avLst>
          </a:prstGeom>
          <a:solidFill>
            <a:srgbClr val="E7EEF5"/>
          </a:solidFill>
          <a:ln/>
        </p:spPr>
      </p:sp>
      <p:sp>
        <p:nvSpPr>
          <p:cNvPr id="9" name="Text 6"/>
          <p:cNvSpPr/>
          <p:nvPr/>
        </p:nvSpPr>
        <p:spPr>
          <a:xfrm>
            <a:off x="822960" y="1810512"/>
            <a:ext cx="5029200" cy="640080"/>
          </a:xfrm>
          <a:prstGeom prst="rect">
            <a:avLst/>
          </a:prstGeom>
          <a:noFill/>
          <a:ln/>
        </p:spPr>
        <p:txBody>
          <a:bodyPr wrap="square" lIns="0" tIns="0" rIns="0" bIns="0" rtlCol="0" anchor="ctr"/>
          <a:lstStyle/>
          <a:p>
            <a:pPr marL="0" indent="0">
              <a:buNone/>
            </a:pPr>
            <a:r>
              <a:rPr lang="en-US" sz="1300" i="1" dirty="0">
                <a:solidFill>
                  <a:srgbClr val="16232E"/>
                </a:solidFill>
                <a:latin typeface="Calibri" pitchFamily="34" charset="0"/>
                <a:ea typeface="Calibri" pitchFamily="34" charset="-122"/>
                <a:cs typeface="Calibri" pitchFamily="34" charset="-120"/>
              </a:rPr>
              <a:t>“Show top 5 highest salary employees”</a:t>
            </a:r>
            <a:endParaRPr lang="en-US" sz="1300" dirty="0"/>
          </a:p>
        </p:txBody>
      </p:sp>
      <p:sp>
        <p:nvSpPr>
          <p:cNvPr id="10" name="Text 7"/>
          <p:cNvSpPr/>
          <p:nvPr/>
        </p:nvSpPr>
        <p:spPr>
          <a:xfrm>
            <a:off x="640080" y="2651760"/>
            <a:ext cx="5120640" cy="320040"/>
          </a:xfrm>
          <a:prstGeom prst="rect">
            <a:avLst/>
          </a:prstGeom>
          <a:noFill/>
          <a:ln/>
        </p:spPr>
        <p:txBody>
          <a:bodyPr wrap="square" lIns="0" tIns="0" rIns="0" bIns="0" rtlCol="0" anchor="ctr"/>
          <a:lstStyle/>
          <a:p>
            <a:pPr marL="0" indent="0">
              <a:buNone/>
            </a:pPr>
            <a:r>
              <a:rPr lang="en-US" sz="1400" b="1" dirty="0">
                <a:solidFill>
                  <a:srgbClr val="082340"/>
                </a:solidFill>
                <a:latin typeface="Calibri" pitchFamily="34" charset="0"/>
                <a:ea typeface="Calibri" pitchFamily="34" charset="-122"/>
                <a:cs typeface="Calibri" pitchFamily="34" charset="-120"/>
              </a:rPr>
              <a:t>Generated SQL</a:t>
            </a:r>
            <a:endParaRPr lang="en-US" sz="1400" dirty="0"/>
          </a:p>
        </p:txBody>
      </p:sp>
      <p:sp>
        <p:nvSpPr>
          <p:cNvPr id="11" name="Shape 8"/>
          <p:cNvSpPr/>
          <p:nvPr/>
        </p:nvSpPr>
        <p:spPr>
          <a:xfrm>
            <a:off x="640080" y="2999232"/>
            <a:ext cx="5394960" cy="1188720"/>
          </a:xfrm>
          <a:prstGeom prst="roundRect">
            <a:avLst>
              <a:gd name="adj" fmla="val 6154"/>
            </a:avLst>
          </a:prstGeom>
          <a:solidFill>
            <a:srgbClr val="082340"/>
          </a:solidFill>
          <a:ln/>
        </p:spPr>
      </p:sp>
      <p:sp>
        <p:nvSpPr>
          <p:cNvPr id="12" name="Text 9"/>
          <p:cNvSpPr/>
          <p:nvPr/>
        </p:nvSpPr>
        <p:spPr>
          <a:xfrm>
            <a:off x="868680" y="3108960"/>
            <a:ext cx="4937760" cy="1005840"/>
          </a:xfrm>
          <a:prstGeom prst="rect">
            <a:avLst/>
          </a:prstGeom>
          <a:noFill/>
          <a:ln/>
        </p:spPr>
        <p:txBody>
          <a:bodyPr wrap="square" lIns="0" tIns="0" rIns="0" bIns="0" rtlCol="0" anchor="t"/>
          <a:lstStyle/>
          <a:p>
            <a:pPr marL="0" indent="0">
              <a:buNone/>
            </a:pPr>
            <a:r>
              <a:rPr lang="en-US" sz="1250" dirty="0">
                <a:solidFill>
                  <a:srgbClr val="9EE6B8"/>
                </a:solidFill>
                <a:latin typeface="Courier New" pitchFamily="34" charset="0"/>
                <a:ea typeface="Courier New" pitchFamily="34" charset="-122"/>
                <a:cs typeface="Courier New" pitchFamily="34" charset="-120"/>
              </a:rPr>
              <a:t>SELECT *</a:t>
            </a:r>
            <a:endParaRPr lang="en-US" sz="1250" dirty="0"/>
          </a:p>
          <a:p>
            <a:pPr marL="0" indent="0">
              <a:buNone/>
            </a:pPr>
            <a:r>
              <a:rPr lang="en-US" sz="1250" dirty="0">
                <a:solidFill>
                  <a:srgbClr val="9EE6B8"/>
                </a:solidFill>
                <a:latin typeface="Courier New" pitchFamily="34" charset="0"/>
                <a:ea typeface="Courier New" pitchFamily="34" charset="-122"/>
                <a:cs typeface="Courier New" pitchFamily="34" charset="-120"/>
              </a:rPr>
              <a:t>FROM employees</a:t>
            </a:r>
            <a:endParaRPr lang="en-US" sz="1250" dirty="0"/>
          </a:p>
          <a:p>
            <a:pPr marL="0" indent="0">
              <a:buNone/>
            </a:pPr>
            <a:r>
              <a:rPr lang="en-US" sz="1250" dirty="0">
                <a:solidFill>
                  <a:srgbClr val="9EE6B8"/>
                </a:solidFill>
                <a:latin typeface="Courier New" pitchFamily="34" charset="0"/>
                <a:ea typeface="Courier New" pitchFamily="34" charset="-122"/>
                <a:cs typeface="Courier New" pitchFamily="34" charset="-120"/>
              </a:rPr>
              <a:t>ORDER BY salary DESC</a:t>
            </a:r>
            <a:endParaRPr lang="en-US" sz="1250" dirty="0"/>
          </a:p>
          <a:p>
            <a:pPr marL="0" indent="0">
              <a:buNone/>
            </a:pPr>
            <a:r>
              <a:rPr lang="en-US" sz="1250" dirty="0">
                <a:solidFill>
                  <a:srgbClr val="9EE6B8"/>
                </a:solidFill>
                <a:latin typeface="Courier New" pitchFamily="34" charset="0"/>
                <a:ea typeface="Courier New" pitchFamily="34" charset="-122"/>
                <a:cs typeface="Courier New" pitchFamily="34" charset="-120"/>
              </a:rPr>
              <a:t>LIMIT 5;</a:t>
            </a:r>
            <a:endParaRPr lang="en-US" sz="1250" dirty="0"/>
          </a:p>
        </p:txBody>
      </p:sp>
      <p:sp>
        <p:nvSpPr>
          <p:cNvPr id="13" name="Text 10"/>
          <p:cNvSpPr/>
          <p:nvPr/>
        </p:nvSpPr>
        <p:spPr>
          <a:xfrm>
            <a:off x="640080" y="4434840"/>
            <a:ext cx="5120640" cy="320040"/>
          </a:xfrm>
          <a:prstGeom prst="rect">
            <a:avLst/>
          </a:prstGeom>
          <a:noFill/>
          <a:ln/>
        </p:spPr>
        <p:txBody>
          <a:bodyPr wrap="square" lIns="0" tIns="0" rIns="0" bIns="0" rtlCol="0" anchor="ctr"/>
          <a:lstStyle/>
          <a:p>
            <a:pPr marL="0" indent="0">
              <a:buNone/>
            </a:pPr>
            <a:r>
              <a:rPr lang="en-US" sz="1400" b="1" dirty="0">
                <a:solidFill>
                  <a:srgbClr val="082340"/>
                </a:solidFill>
                <a:latin typeface="Calibri" pitchFamily="34" charset="0"/>
                <a:ea typeface="Calibri" pitchFamily="34" charset="-122"/>
                <a:cs typeface="Calibri" pitchFamily="34" charset="-120"/>
              </a:rPr>
              <a:t>AI Explanation</a:t>
            </a:r>
            <a:endParaRPr lang="en-US" sz="1400" dirty="0"/>
          </a:p>
        </p:txBody>
      </p:sp>
      <p:sp>
        <p:nvSpPr>
          <p:cNvPr id="14" name="Text 11"/>
          <p:cNvSpPr/>
          <p:nvPr/>
        </p:nvSpPr>
        <p:spPr>
          <a:xfrm>
            <a:off x="640080" y="4773168"/>
            <a:ext cx="5394960" cy="822960"/>
          </a:xfrm>
          <a:prstGeom prst="rect">
            <a:avLst/>
          </a:prstGeom>
          <a:noFill/>
          <a:ln/>
        </p:spPr>
        <p:txBody>
          <a:bodyPr wrap="square" lIns="0" tIns="0" rIns="0" bIns="0" rtlCol="0" anchor="ctr"/>
          <a:lstStyle/>
          <a:p>
            <a:pPr marL="0" indent="0">
              <a:buNone/>
            </a:pPr>
            <a:r>
              <a:rPr lang="en-US" sz="1200" dirty="0">
                <a:solidFill>
                  <a:srgbClr val="5A6B7A"/>
                </a:solidFill>
                <a:latin typeface="Calibri" pitchFamily="34" charset="0"/>
                <a:ea typeface="Calibri" pitchFamily="34" charset="-122"/>
                <a:cs typeface="Calibri" pitchFamily="34" charset="-120"/>
              </a:rPr>
              <a:t>The query retrieves all employee records sorted by salary in descending order and returns only the top 5, directly answering the user's question.</a:t>
            </a:r>
            <a:endParaRPr lang="en-US" sz="1200" dirty="0"/>
          </a:p>
        </p:txBody>
      </p:sp>
      <p:sp>
        <p:nvSpPr>
          <p:cNvPr id="15" name="Text 12"/>
          <p:cNvSpPr/>
          <p:nvPr/>
        </p:nvSpPr>
        <p:spPr>
          <a:xfrm>
            <a:off x="6492240" y="1463040"/>
            <a:ext cx="5029200" cy="320040"/>
          </a:xfrm>
          <a:prstGeom prst="rect">
            <a:avLst/>
          </a:prstGeom>
          <a:noFill/>
          <a:ln/>
        </p:spPr>
        <p:txBody>
          <a:bodyPr wrap="square" lIns="0" tIns="0" rIns="0" bIns="0" rtlCol="0" anchor="ctr"/>
          <a:lstStyle/>
          <a:p>
            <a:pPr marL="0" indent="0">
              <a:buNone/>
            </a:pPr>
            <a:r>
              <a:rPr lang="en-US" sz="1400" b="1" dirty="0">
                <a:solidFill>
                  <a:srgbClr val="082340"/>
                </a:solidFill>
                <a:latin typeface="Calibri" pitchFamily="34" charset="0"/>
                <a:ea typeface="Calibri" pitchFamily="34" charset="-122"/>
                <a:cs typeface="Calibri" pitchFamily="34" charset="-120"/>
              </a:rPr>
              <a:t>Output Table</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92240" y="1828800"/>
          <a:ext cx="5029200" cy="1554480"/>
        </p:xfrm>
        <a:graphic>
          <a:graphicData uri="http://schemas.openxmlformats.org/drawingml/2006/table">
            <a:tbl>
              <a:tblPr/>
              <a:tblGrid>
                <a:gridCol w="19202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0823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Department</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0823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Salary</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082340"/>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Employee A</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Engineering</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 1,85,000</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Employee B</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Sales</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 1,72,000</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Employee C</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Engineering</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 1,68,000</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Employee D</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Finance</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 1,60,000</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Employee E</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Marketing</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100" dirty="0">
                          <a:solidFill>
                            <a:srgbClr val="16232E"/>
                          </a:solidFill>
                          <a:latin typeface="Calibri" pitchFamily="34" charset="0"/>
                          <a:ea typeface="Calibri" pitchFamily="34" charset="-122"/>
                          <a:cs typeface="Calibri" pitchFamily="34" charset="-120"/>
                        </a:rPr>
                        <a:t>₹ 1,55,000</a:t>
                      </a:r>
                      <a:endParaRPr lang="en-US" sz="110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7" name="Text 13"/>
          <p:cNvSpPr/>
          <p:nvPr/>
        </p:nvSpPr>
        <p:spPr>
          <a:xfrm>
            <a:off x="6492240" y="4937760"/>
            <a:ext cx="5029200" cy="457200"/>
          </a:xfrm>
          <a:prstGeom prst="rect">
            <a:avLst/>
          </a:prstGeom>
          <a:noFill/>
          <a:ln/>
        </p:spPr>
        <p:txBody>
          <a:bodyPr wrap="square" lIns="0" tIns="0" rIns="0" bIns="0" rtlCol="0" anchor="ctr"/>
          <a:lstStyle/>
          <a:p>
            <a:pPr marL="0" indent="0">
              <a:buNone/>
            </a:pPr>
            <a:r>
              <a:rPr lang="en-US" sz="1000" i="1" dirty="0">
                <a:solidFill>
                  <a:srgbClr val="5A6B7A"/>
                </a:solidFill>
                <a:latin typeface="Calibri" pitchFamily="34" charset="0"/>
                <a:ea typeface="Calibri" pitchFamily="34" charset="-122"/>
                <a:cs typeface="Calibri" pitchFamily="34" charset="-120"/>
              </a:rPr>
              <a:t>Sample output shown for illustration — replace with a real screenshot for the actual demo.</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18</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Challenges &amp; Solutions</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Real engineering problems we hit — and how we solved them</a:t>
            </a:r>
            <a:endParaRPr lang="en-US" sz="1300" dirty="0"/>
          </a:p>
        </p:txBody>
      </p:sp>
      <p:sp>
        <p:nvSpPr>
          <p:cNvPr id="7" name="Shape 4"/>
          <p:cNvSpPr/>
          <p:nvPr/>
        </p:nvSpPr>
        <p:spPr>
          <a:xfrm>
            <a:off x="548640" y="1371600"/>
            <a:ext cx="502920" cy="41148"/>
          </a:xfrm>
          <a:prstGeom prst="rect">
            <a:avLst/>
          </a:prstGeom>
          <a:solidFill>
            <a:srgbClr val="F15B40"/>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1280160" y="1691640"/>
          <a:ext cx="9601200" cy="4572000"/>
        </p:xfrm>
        <a:graphic>
          <a:graphicData uri="http://schemas.openxmlformats.org/drawingml/2006/table">
            <a:tbl>
              <a:tblPr/>
              <a:tblGrid>
                <a:gridCol w="48006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tblGrid>
              <a:tr h="57150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Challenge</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082340"/>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Solution</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082340"/>
                    </a:solidFill>
                  </a:tcPr>
                </a:tc>
                <a:extLst>
                  <a:ext uri="{0D108BD9-81ED-4DB2-BD59-A6C34878D82A}">
                    <a16:rowId xmlns:a16="http://schemas.microsoft.com/office/drawing/2014/main" val="10000"/>
                  </a:ext>
                </a:extLst>
              </a:tr>
              <a:tr h="571500">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SQLAlchemy Reflection</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Dynamic Reflection Functions</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1500">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Dynamic CRUD</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Generic CRUD Modules</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1500">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TINYINT Boolean Handling</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Checkbox Mapping</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1500">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Session Management</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Streamlit Session State</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1500">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AI Integration</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OpenRouter API</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1500">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SQL Security</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SQL Validator</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71500">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SSL Issues</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marL="0" indent="0">
                        <a:buNone/>
                      </a:pPr>
                      <a:r>
                        <a:rPr lang="en-US" sz="1350" dirty="0">
                          <a:solidFill>
                            <a:srgbClr val="16232E"/>
                          </a:solidFill>
                          <a:latin typeface="Calibri" pitchFamily="34" charset="0"/>
                          <a:ea typeface="Calibri" pitchFamily="34" charset="-122"/>
                          <a:cs typeface="Calibri" pitchFamily="34" charset="-120"/>
                        </a:rPr>
                        <a:t>Certificate Configuration</a:t>
                      </a:r>
                      <a:endParaRPr lang="en-US" sz="1350" dirty="0">
                        <a:latin typeface="Calibri" charset="0"/>
                        <a:ea typeface="Calibri" charset="0"/>
                        <a:cs typeface="Calibri"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19</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Future Enhancements</a:t>
            </a:r>
            <a:endParaRPr lang="en-US" sz="2800" dirty="0"/>
          </a:p>
        </p:txBody>
      </p:sp>
      <p:sp>
        <p:nvSpPr>
          <p:cNvPr id="6" name="Text 3"/>
          <p:cNvSpPr/>
          <p:nvPr/>
        </p:nvSpPr>
        <p:spPr>
          <a:xfrm>
            <a:off x="548640" y="932688"/>
            <a:ext cx="9601200" cy="411480"/>
          </a:xfrm>
          <a:prstGeom prst="rect">
            <a:avLst/>
          </a:prstGeom>
          <a:noFill/>
          <a:ln/>
        </p:spPr>
        <p:txBody>
          <a:bodyPr wrap="square" lIns="0" tIns="0" rIns="0" bIns="0" rtlCol="0" anchor="ctr"/>
          <a:lstStyle/>
          <a:p>
            <a:pPr marL="0" indent="0">
              <a:buNone/>
            </a:pPr>
            <a:r>
              <a:rPr lang="en-US" sz="1300" dirty="0">
                <a:solidFill>
                  <a:srgbClr val="5A6B7A"/>
                </a:solidFill>
                <a:latin typeface="Calibri" pitchFamily="34" charset="0"/>
                <a:ea typeface="Calibri" pitchFamily="34" charset="-122"/>
                <a:cs typeface="Calibri" pitchFamily="34" charset="-120"/>
              </a:rPr>
              <a:t>Where we're taking this next</a:t>
            </a:r>
            <a:endParaRPr lang="en-US" sz="1300" dirty="0"/>
          </a:p>
        </p:txBody>
      </p:sp>
      <p:sp>
        <p:nvSpPr>
          <p:cNvPr id="7" name="Shape 4"/>
          <p:cNvSpPr/>
          <p:nvPr/>
        </p:nvSpPr>
        <p:spPr>
          <a:xfrm>
            <a:off x="548640" y="1371600"/>
            <a:ext cx="502920" cy="41148"/>
          </a:xfrm>
          <a:prstGeom prst="rect">
            <a:avLst/>
          </a:prstGeom>
          <a:solidFill>
            <a:srgbClr val="F15B40"/>
          </a:solidFill>
          <a:ln/>
        </p:spPr>
      </p:sp>
      <p:sp>
        <p:nvSpPr>
          <p:cNvPr id="8" name="Shape 5"/>
          <p:cNvSpPr/>
          <p:nvPr/>
        </p:nvSpPr>
        <p:spPr>
          <a:xfrm>
            <a:off x="548640" y="1600200"/>
            <a:ext cx="2148840" cy="1417320"/>
          </a:xfrm>
          <a:prstGeom prst="roundRect">
            <a:avLst>
              <a:gd name="adj" fmla="val 5806"/>
            </a:avLst>
          </a:prstGeom>
          <a:solidFill>
            <a:srgbClr val="FFFFFF"/>
          </a:solidFill>
          <a:ln w="12700">
            <a:solidFill>
              <a:srgbClr val="E1E7EE"/>
            </a:solidFill>
            <a:prstDash val="solid"/>
          </a:ln>
          <a:effectLst>
            <a:outerShdw blurRad="50800" dist="25400" dir="2700000" algn="bl" rotWithShape="0">
              <a:srgbClr val="000000">
                <a:alpha val="7000"/>
              </a:srgbClr>
            </a:outerShdw>
          </a:effectLst>
        </p:spPr>
      </p:sp>
      <p:sp>
        <p:nvSpPr>
          <p:cNvPr id="9" name="Shape 6"/>
          <p:cNvSpPr/>
          <p:nvPr/>
        </p:nvSpPr>
        <p:spPr>
          <a:xfrm>
            <a:off x="1367028" y="1764792"/>
            <a:ext cx="512064" cy="512064"/>
          </a:xfrm>
          <a:prstGeom prst="ellipse">
            <a:avLst/>
          </a:prstGeom>
          <a:solidFill>
            <a:srgbClr val="082340"/>
          </a:solidFill>
          <a:ln/>
        </p:spPr>
      </p:sp>
      <p:pic>
        <p:nvPicPr>
          <p:cNvPr id="10" name="Image 1" descr="preencoded.png"/>
          <p:cNvPicPr>
            <a:picLocks noChangeAspect="1"/>
          </p:cNvPicPr>
          <p:nvPr/>
        </p:nvPicPr>
        <p:blipFill>
          <a:blip r:embed="rId4"/>
          <a:stretch>
            <a:fillRect/>
          </a:stretch>
        </p:blipFill>
        <p:spPr>
          <a:xfrm>
            <a:off x="1500165" y="1897929"/>
            <a:ext cx="245791" cy="245791"/>
          </a:xfrm>
          <a:prstGeom prst="rect">
            <a:avLst/>
          </a:prstGeom>
        </p:spPr>
      </p:pic>
      <p:sp>
        <p:nvSpPr>
          <p:cNvPr id="11" name="Text 7"/>
          <p:cNvSpPr/>
          <p:nvPr/>
        </p:nvSpPr>
        <p:spPr>
          <a:xfrm>
            <a:off x="640080" y="2377440"/>
            <a:ext cx="1965960" cy="548640"/>
          </a:xfrm>
          <a:prstGeom prst="rect">
            <a:avLst/>
          </a:prstGeom>
          <a:noFill/>
          <a:ln/>
        </p:spPr>
        <p:txBody>
          <a:bodyPr wrap="square" lIns="0" tIns="0" rIns="0" bIns="0" rtlCol="0" anchor="ctr"/>
          <a:lstStyle/>
          <a:p>
            <a:pPr marL="0" indent="0" algn="ctr">
              <a:buNone/>
            </a:pPr>
            <a:r>
              <a:rPr lang="en-US" sz="1400" b="1" dirty="0">
                <a:solidFill>
                  <a:srgbClr val="16232E"/>
                </a:solidFill>
                <a:latin typeface="Calibri" pitchFamily="34" charset="0"/>
                <a:ea typeface="Calibri" pitchFamily="34" charset="-122"/>
                <a:cs typeface="Calibri" pitchFamily="34" charset="-120"/>
              </a:rPr>
              <a:t>Excel Export</a:t>
            </a:r>
            <a:endParaRPr lang="en-US" sz="1400" dirty="0"/>
          </a:p>
        </p:txBody>
      </p:sp>
      <p:sp>
        <p:nvSpPr>
          <p:cNvPr id="12" name="Shape 8"/>
          <p:cNvSpPr/>
          <p:nvPr/>
        </p:nvSpPr>
        <p:spPr>
          <a:xfrm>
            <a:off x="2834640" y="1600200"/>
            <a:ext cx="2148840" cy="1417320"/>
          </a:xfrm>
          <a:prstGeom prst="roundRect">
            <a:avLst>
              <a:gd name="adj" fmla="val 5806"/>
            </a:avLst>
          </a:prstGeom>
          <a:solidFill>
            <a:srgbClr val="FFFFFF"/>
          </a:solidFill>
          <a:ln w="12700">
            <a:solidFill>
              <a:srgbClr val="E1E7EE"/>
            </a:solidFill>
            <a:prstDash val="solid"/>
          </a:ln>
          <a:effectLst>
            <a:outerShdw blurRad="50800" dist="25400" dir="2700000" algn="bl" rotWithShape="0">
              <a:srgbClr val="000000">
                <a:alpha val="7000"/>
              </a:srgbClr>
            </a:outerShdw>
          </a:effectLst>
        </p:spPr>
      </p:sp>
      <p:sp>
        <p:nvSpPr>
          <p:cNvPr id="13" name="Shape 9"/>
          <p:cNvSpPr/>
          <p:nvPr/>
        </p:nvSpPr>
        <p:spPr>
          <a:xfrm>
            <a:off x="3653028" y="1764792"/>
            <a:ext cx="512064" cy="512064"/>
          </a:xfrm>
          <a:prstGeom prst="ellipse">
            <a:avLst/>
          </a:prstGeom>
          <a:solidFill>
            <a:srgbClr val="082340"/>
          </a:solidFill>
          <a:ln/>
        </p:spPr>
      </p:sp>
      <p:pic>
        <p:nvPicPr>
          <p:cNvPr id="14" name="Image 2" descr="preencoded.png"/>
          <p:cNvPicPr>
            <a:picLocks noChangeAspect="1"/>
          </p:cNvPicPr>
          <p:nvPr/>
        </p:nvPicPr>
        <p:blipFill>
          <a:blip r:embed="rId4"/>
          <a:stretch>
            <a:fillRect/>
          </a:stretch>
        </p:blipFill>
        <p:spPr>
          <a:xfrm>
            <a:off x="3786165" y="1897929"/>
            <a:ext cx="245791" cy="245791"/>
          </a:xfrm>
          <a:prstGeom prst="rect">
            <a:avLst/>
          </a:prstGeom>
        </p:spPr>
      </p:pic>
      <p:sp>
        <p:nvSpPr>
          <p:cNvPr id="15" name="Text 10"/>
          <p:cNvSpPr/>
          <p:nvPr/>
        </p:nvSpPr>
        <p:spPr>
          <a:xfrm>
            <a:off x="2926080" y="2377440"/>
            <a:ext cx="1965960" cy="548640"/>
          </a:xfrm>
          <a:prstGeom prst="rect">
            <a:avLst/>
          </a:prstGeom>
          <a:noFill/>
          <a:ln/>
        </p:spPr>
        <p:txBody>
          <a:bodyPr wrap="square" lIns="0" tIns="0" rIns="0" bIns="0" rtlCol="0" anchor="ctr"/>
          <a:lstStyle/>
          <a:p>
            <a:pPr marL="0" indent="0" algn="ctr">
              <a:buNone/>
            </a:pPr>
            <a:r>
              <a:rPr lang="en-US" sz="1400" b="1" dirty="0">
                <a:solidFill>
                  <a:srgbClr val="16232E"/>
                </a:solidFill>
                <a:latin typeface="Calibri" pitchFamily="34" charset="0"/>
                <a:ea typeface="Calibri" pitchFamily="34" charset="-122"/>
                <a:cs typeface="Calibri" pitchFamily="34" charset="-120"/>
              </a:rPr>
              <a:t>CSV Export</a:t>
            </a:r>
            <a:endParaRPr lang="en-US" sz="1400" dirty="0"/>
          </a:p>
        </p:txBody>
      </p:sp>
      <p:sp>
        <p:nvSpPr>
          <p:cNvPr id="16" name="Shape 11"/>
          <p:cNvSpPr/>
          <p:nvPr/>
        </p:nvSpPr>
        <p:spPr>
          <a:xfrm>
            <a:off x="5120640" y="1600200"/>
            <a:ext cx="2148840" cy="1417320"/>
          </a:xfrm>
          <a:prstGeom prst="roundRect">
            <a:avLst>
              <a:gd name="adj" fmla="val 5806"/>
            </a:avLst>
          </a:prstGeom>
          <a:solidFill>
            <a:srgbClr val="FFFFFF"/>
          </a:solidFill>
          <a:ln w="12700">
            <a:solidFill>
              <a:srgbClr val="E1E7EE"/>
            </a:solidFill>
            <a:prstDash val="solid"/>
          </a:ln>
          <a:effectLst>
            <a:outerShdw blurRad="50800" dist="25400" dir="2700000" algn="bl" rotWithShape="0">
              <a:srgbClr val="000000">
                <a:alpha val="7000"/>
              </a:srgbClr>
            </a:outerShdw>
          </a:effectLst>
        </p:spPr>
      </p:sp>
      <p:sp>
        <p:nvSpPr>
          <p:cNvPr id="17" name="Shape 12"/>
          <p:cNvSpPr/>
          <p:nvPr/>
        </p:nvSpPr>
        <p:spPr>
          <a:xfrm>
            <a:off x="5939028" y="1764792"/>
            <a:ext cx="512064" cy="512064"/>
          </a:xfrm>
          <a:prstGeom prst="ellipse">
            <a:avLst/>
          </a:prstGeom>
          <a:solidFill>
            <a:srgbClr val="082340"/>
          </a:solidFill>
          <a:ln/>
        </p:spPr>
      </p:sp>
      <p:pic>
        <p:nvPicPr>
          <p:cNvPr id="18" name="Image 3" descr="preencoded.png"/>
          <p:cNvPicPr>
            <a:picLocks noChangeAspect="1"/>
          </p:cNvPicPr>
          <p:nvPr/>
        </p:nvPicPr>
        <p:blipFill>
          <a:blip r:embed="rId4"/>
          <a:stretch>
            <a:fillRect/>
          </a:stretch>
        </p:blipFill>
        <p:spPr>
          <a:xfrm>
            <a:off x="6072165" y="1897929"/>
            <a:ext cx="245791" cy="245791"/>
          </a:xfrm>
          <a:prstGeom prst="rect">
            <a:avLst/>
          </a:prstGeom>
        </p:spPr>
      </p:pic>
      <p:sp>
        <p:nvSpPr>
          <p:cNvPr id="19" name="Text 13"/>
          <p:cNvSpPr/>
          <p:nvPr/>
        </p:nvSpPr>
        <p:spPr>
          <a:xfrm>
            <a:off x="5212080" y="2377440"/>
            <a:ext cx="1965960" cy="548640"/>
          </a:xfrm>
          <a:prstGeom prst="rect">
            <a:avLst/>
          </a:prstGeom>
          <a:noFill/>
          <a:ln/>
        </p:spPr>
        <p:txBody>
          <a:bodyPr wrap="square" lIns="0" tIns="0" rIns="0" bIns="0" rtlCol="0" anchor="ctr"/>
          <a:lstStyle/>
          <a:p>
            <a:pPr marL="0" indent="0" algn="ctr">
              <a:buNone/>
            </a:pPr>
            <a:r>
              <a:rPr lang="en-US" sz="1400" b="1" dirty="0">
                <a:solidFill>
                  <a:srgbClr val="16232E"/>
                </a:solidFill>
                <a:latin typeface="Calibri" pitchFamily="34" charset="0"/>
                <a:ea typeface="Calibri" pitchFamily="34" charset="-122"/>
                <a:cs typeface="Calibri" pitchFamily="34" charset="-120"/>
              </a:rPr>
              <a:t>Dashboard Analytics</a:t>
            </a:r>
            <a:endParaRPr lang="en-US" sz="1400" dirty="0"/>
          </a:p>
        </p:txBody>
      </p:sp>
      <p:sp>
        <p:nvSpPr>
          <p:cNvPr id="20" name="Shape 14"/>
          <p:cNvSpPr/>
          <p:nvPr/>
        </p:nvSpPr>
        <p:spPr>
          <a:xfrm>
            <a:off x="7406640" y="1600200"/>
            <a:ext cx="2148840" cy="1417320"/>
          </a:xfrm>
          <a:prstGeom prst="roundRect">
            <a:avLst>
              <a:gd name="adj" fmla="val 5806"/>
            </a:avLst>
          </a:prstGeom>
          <a:solidFill>
            <a:srgbClr val="FFFFFF"/>
          </a:solidFill>
          <a:ln w="12700">
            <a:solidFill>
              <a:srgbClr val="E1E7EE"/>
            </a:solidFill>
            <a:prstDash val="solid"/>
          </a:ln>
          <a:effectLst>
            <a:outerShdw blurRad="50800" dist="25400" dir="2700000" algn="bl" rotWithShape="0">
              <a:srgbClr val="000000">
                <a:alpha val="7000"/>
              </a:srgbClr>
            </a:outerShdw>
          </a:effectLst>
        </p:spPr>
      </p:sp>
      <p:sp>
        <p:nvSpPr>
          <p:cNvPr id="21" name="Shape 15"/>
          <p:cNvSpPr/>
          <p:nvPr/>
        </p:nvSpPr>
        <p:spPr>
          <a:xfrm>
            <a:off x="8225028" y="1764792"/>
            <a:ext cx="512064" cy="512064"/>
          </a:xfrm>
          <a:prstGeom prst="ellipse">
            <a:avLst/>
          </a:prstGeom>
          <a:solidFill>
            <a:srgbClr val="082340"/>
          </a:solidFill>
          <a:ln/>
        </p:spPr>
      </p:sp>
      <p:pic>
        <p:nvPicPr>
          <p:cNvPr id="22" name="Image 4" descr="preencoded.png"/>
          <p:cNvPicPr>
            <a:picLocks noChangeAspect="1"/>
          </p:cNvPicPr>
          <p:nvPr/>
        </p:nvPicPr>
        <p:blipFill>
          <a:blip r:embed="rId4"/>
          <a:stretch>
            <a:fillRect/>
          </a:stretch>
        </p:blipFill>
        <p:spPr>
          <a:xfrm>
            <a:off x="8358165" y="1897929"/>
            <a:ext cx="245791" cy="245791"/>
          </a:xfrm>
          <a:prstGeom prst="rect">
            <a:avLst/>
          </a:prstGeom>
        </p:spPr>
      </p:pic>
      <p:sp>
        <p:nvSpPr>
          <p:cNvPr id="23" name="Text 16"/>
          <p:cNvSpPr/>
          <p:nvPr/>
        </p:nvSpPr>
        <p:spPr>
          <a:xfrm>
            <a:off x="7498080" y="2377440"/>
            <a:ext cx="1965960" cy="548640"/>
          </a:xfrm>
          <a:prstGeom prst="rect">
            <a:avLst/>
          </a:prstGeom>
          <a:noFill/>
          <a:ln/>
        </p:spPr>
        <p:txBody>
          <a:bodyPr wrap="square" lIns="0" tIns="0" rIns="0" bIns="0" rtlCol="0" anchor="ctr"/>
          <a:lstStyle/>
          <a:p>
            <a:pPr marL="0" indent="0" algn="ctr">
              <a:buNone/>
            </a:pPr>
            <a:r>
              <a:rPr lang="en-US" sz="1400" b="1" dirty="0">
                <a:solidFill>
                  <a:srgbClr val="16232E"/>
                </a:solidFill>
                <a:latin typeface="Calibri" pitchFamily="34" charset="0"/>
                <a:ea typeface="Calibri" pitchFamily="34" charset="-122"/>
                <a:cs typeface="Calibri" pitchFamily="34" charset="-120"/>
              </a:rPr>
              <a:t>Charts &amp; Graphs</a:t>
            </a:r>
            <a:endParaRPr lang="en-US" sz="1400" dirty="0"/>
          </a:p>
        </p:txBody>
      </p:sp>
      <p:sp>
        <p:nvSpPr>
          <p:cNvPr id="24" name="Shape 17"/>
          <p:cNvSpPr/>
          <p:nvPr/>
        </p:nvSpPr>
        <p:spPr>
          <a:xfrm>
            <a:off x="9692640" y="1600200"/>
            <a:ext cx="2148840" cy="1417320"/>
          </a:xfrm>
          <a:prstGeom prst="roundRect">
            <a:avLst>
              <a:gd name="adj" fmla="val 5806"/>
            </a:avLst>
          </a:prstGeom>
          <a:solidFill>
            <a:srgbClr val="FFFFFF"/>
          </a:solidFill>
          <a:ln w="12700">
            <a:solidFill>
              <a:srgbClr val="E1E7EE"/>
            </a:solidFill>
            <a:prstDash val="solid"/>
          </a:ln>
          <a:effectLst>
            <a:outerShdw blurRad="50800" dist="25400" dir="2700000" algn="bl" rotWithShape="0">
              <a:srgbClr val="000000">
                <a:alpha val="7000"/>
              </a:srgbClr>
            </a:outerShdw>
          </a:effectLst>
        </p:spPr>
      </p:sp>
      <p:sp>
        <p:nvSpPr>
          <p:cNvPr id="25" name="Shape 18"/>
          <p:cNvSpPr/>
          <p:nvPr/>
        </p:nvSpPr>
        <p:spPr>
          <a:xfrm>
            <a:off x="10511028" y="1764792"/>
            <a:ext cx="512064" cy="512064"/>
          </a:xfrm>
          <a:prstGeom prst="ellipse">
            <a:avLst/>
          </a:prstGeom>
          <a:solidFill>
            <a:srgbClr val="082340"/>
          </a:solidFill>
          <a:ln/>
        </p:spPr>
      </p:sp>
      <p:pic>
        <p:nvPicPr>
          <p:cNvPr id="26" name="Image 5" descr="preencoded.png"/>
          <p:cNvPicPr>
            <a:picLocks noChangeAspect="1"/>
          </p:cNvPicPr>
          <p:nvPr/>
        </p:nvPicPr>
        <p:blipFill>
          <a:blip r:embed="rId4"/>
          <a:stretch>
            <a:fillRect/>
          </a:stretch>
        </p:blipFill>
        <p:spPr>
          <a:xfrm>
            <a:off x="10644165" y="1897929"/>
            <a:ext cx="245791" cy="245791"/>
          </a:xfrm>
          <a:prstGeom prst="rect">
            <a:avLst/>
          </a:prstGeom>
        </p:spPr>
      </p:pic>
      <p:sp>
        <p:nvSpPr>
          <p:cNvPr id="27" name="Text 19"/>
          <p:cNvSpPr/>
          <p:nvPr/>
        </p:nvSpPr>
        <p:spPr>
          <a:xfrm>
            <a:off x="9784080" y="2377440"/>
            <a:ext cx="1965960" cy="548640"/>
          </a:xfrm>
          <a:prstGeom prst="rect">
            <a:avLst/>
          </a:prstGeom>
          <a:noFill/>
          <a:ln/>
        </p:spPr>
        <p:txBody>
          <a:bodyPr wrap="square" lIns="0" tIns="0" rIns="0" bIns="0" rtlCol="0" anchor="ctr"/>
          <a:lstStyle/>
          <a:p>
            <a:pPr marL="0" indent="0" algn="ctr">
              <a:buNone/>
            </a:pPr>
            <a:r>
              <a:rPr lang="en-US" sz="1400" b="1" dirty="0">
                <a:solidFill>
                  <a:srgbClr val="16232E"/>
                </a:solidFill>
                <a:latin typeface="Calibri" pitchFamily="34" charset="0"/>
                <a:ea typeface="Calibri" pitchFamily="34" charset="-122"/>
                <a:cs typeface="Calibri" pitchFamily="34" charset="-120"/>
              </a:rPr>
              <a:t>Bulk Upload</a:t>
            </a:r>
            <a:endParaRPr lang="en-US" sz="1400" dirty="0"/>
          </a:p>
        </p:txBody>
      </p:sp>
      <p:sp>
        <p:nvSpPr>
          <p:cNvPr id="28" name="Shape 20"/>
          <p:cNvSpPr/>
          <p:nvPr/>
        </p:nvSpPr>
        <p:spPr>
          <a:xfrm>
            <a:off x="548640" y="3200400"/>
            <a:ext cx="2148840" cy="1417320"/>
          </a:xfrm>
          <a:prstGeom prst="roundRect">
            <a:avLst>
              <a:gd name="adj" fmla="val 5806"/>
            </a:avLst>
          </a:prstGeom>
          <a:solidFill>
            <a:srgbClr val="FFFFFF"/>
          </a:solidFill>
          <a:ln w="12700">
            <a:solidFill>
              <a:srgbClr val="E1E7EE"/>
            </a:solidFill>
            <a:prstDash val="solid"/>
          </a:ln>
          <a:effectLst>
            <a:outerShdw blurRad="50800" dist="25400" dir="2700000" algn="bl" rotWithShape="0">
              <a:srgbClr val="000000">
                <a:alpha val="7000"/>
              </a:srgbClr>
            </a:outerShdw>
          </a:effectLst>
        </p:spPr>
      </p:sp>
      <p:sp>
        <p:nvSpPr>
          <p:cNvPr id="29" name="Shape 21"/>
          <p:cNvSpPr/>
          <p:nvPr/>
        </p:nvSpPr>
        <p:spPr>
          <a:xfrm>
            <a:off x="1367028" y="3364992"/>
            <a:ext cx="512064" cy="512064"/>
          </a:xfrm>
          <a:prstGeom prst="ellipse">
            <a:avLst/>
          </a:prstGeom>
          <a:solidFill>
            <a:srgbClr val="082340"/>
          </a:solidFill>
          <a:ln/>
        </p:spPr>
      </p:sp>
      <p:pic>
        <p:nvPicPr>
          <p:cNvPr id="30" name="Image 6" descr="preencoded.png"/>
          <p:cNvPicPr>
            <a:picLocks noChangeAspect="1"/>
          </p:cNvPicPr>
          <p:nvPr/>
        </p:nvPicPr>
        <p:blipFill>
          <a:blip r:embed="rId4"/>
          <a:stretch>
            <a:fillRect/>
          </a:stretch>
        </p:blipFill>
        <p:spPr>
          <a:xfrm>
            <a:off x="1500165" y="3498129"/>
            <a:ext cx="245791" cy="245791"/>
          </a:xfrm>
          <a:prstGeom prst="rect">
            <a:avLst/>
          </a:prstGeom>
        </p:spPr>
      </p:pic>
      <p:sp>
        <p:nvSpPr>
          <p:cNvPr id="31" name="Text 22"/>
          <p:cNvSpPr/>
          <p:nvPr/>
        </p:nvSpPr>
        <p:spPr>
          <a:xfrm>
            <a:off x="640080" y="3977640"/>
            <a:ext cx="1965960" cy="548640"/>
          </a:xfrm>
          <a:prstGeom prst="rect">
            <a:avLst/>
          </a:prstGeom>
          <a:noFill/>
          <a:ln/>
        </p:spPr>
        <p:txBody>
          <a:bodyPr wrap="square" lIns="0" tIns="0" rIns="0" bIns="0" rtlCol="0" anchor="ctr"/>
          <a:lstStyle/>
          <a:p>
            <a:pPr marL="0" indent="0" algn="ctr">
              <a:buNone/>
            </a:pPr>
            <a:r>
              <a:rPr lang="en-US" sz="1400" b="1" dirty="0">
                <a:solidFill>
                  <a:srgbClr val="16232E"/>
                </a:solidFill>
                <a:latin typeface="Calibri" pitchFamily="34" charset="0"/>
                <a:ea typeface="Calibri" pitchFamily="34" charset="-122"/>
                <a:cs typeface="Calibri" pitchFamily="34" charset="-120"/>
              </a:rPr>
              <a:t>Backup &amp; Restore</a:t>
            </a:r>
            <a:endParaRPr lang="en-US" sz="1400" dirty="0"/>
          </a:p>
        </p:txBody>
      </p:sp>
      <p:sp>
        <p:nvSpPr>
          <p:cNvPr id="32" name="Shape 23"/>
          <p:cNvSpPr/>
          <p:nvPr/>
        </p:nvSpPr>
        <p:spPr>
          <a:xfrm>
            <a:off x="2834640" y="3200400"/>
            <a:ext cx="2148840" cy="1417320"/>
          </a:xfrm>
          <a:prstGeom prst="roundRect">
            <a:avLst>
              <a:gd name="adj" fmla="val 5806"/>
            </a:avLst>
          </a:prstGeom>
          <a:solidFill>
            <a:srgbClr val="FFFFFF"/>
          </a:solidFill>
          <a:ln w="12700">
            <a:solidFill>
              <a:srgbClr val="E1E7EE"/>
            </a:solidFill>
            <a:prstDash val="solid"/>
          </a:ln>
          <a:effectLst>
            <a:outerShdw blurRad="50800" dist="25400" dir="2700000" algn="bl" rotWithShape="0">
              <a:srgbClr val="000000">
                <a:alpha val="7000"/>
              </a:srgbClr>
            </a:outerShdw>
          </a:effectLst>
        </p:spPr>
      </p:sp>
      <p:sp>
        <p:nvSpPr>
          <p:cNvPr id="33" name="Shape 24"/>
          <p:cNvSpPr/>
          <p:nvPr/>
        </p:nvSpPr>
        <p:spPr>
          <a:xfrm>
            <a:off x="3653028" y="3364992"/>
            <a:ext cx="512064" cy="512064"/>
          </a:xfrm>
          <a:prstGeom prst="ellipse">
            <a:avLst/>
          </a:prstGeom>
          <a:solidFill>
            <a:srgbClr val="082340"/>
          </a:solidFill>
          <a:ln/>
        </p:spPr>
      </p:sp>
      <p:pic>
        <p:nvPicPr>
          <p:cNvPr id="34" name="Image 7" descr="preencoded.png"/>
          <p:cNvPicPr>
            <a:picLocks noChangeAspect="1"/>
          </p:cNvPicPr>
          <p:nvPr/>
        </p:nvPicPr>
        <p:blipFill>
          <a:blip r:embed="rId4"/>
          <a:stretch>
            <a:fillRect/>
          </a:stretch>
        </p:blipFill>
        <p:spPr>
          <a:xfrm>
            <a:off x="3786165" y="3498129"/>
            <a:ext cx="245791" cy="245791"/>
          </a:xfrm>
          <a:prstGeom prst="rect">
            <a:avLst/>
          </a:prstGeom>
        </p:spPr>
      </p:pic>
      <p:sp>
        <p:nvSpPr>
          <p:cNvPr id="35" name="Text 25"/>
          <p:cNvSpPr/>
          <p:nvPr/>
        </p:nvSpPr>
        <p:spPr>
          <a:xfrm>
            <a:off x="2926080" y="3977640"/>
            <a:ext cx="1965960" cy="548640"/>
          </a:xfrm>
          <a:prstGeom prst="rect">
            <a:avLst/>
          </a:prstGeom>
          <a:noFill/>
          <a:ln/>
        </p:spPr>
        <p:txBody>
          <a:bodyPr wrap="square" lIns="0" tIns="0" rIns="0" bIns="0" rtlCol="0" anchor="ctr"/>
          <a:lstStyle/>
          <a:p>
            <a:pPr marL="0" indent="0" algn="ctr">
              <a:buNone/>
            </a:pPr>
            <a:r>
              <a:rPr lang="en-US" sz="1400" b="1" dirty="0">
                <a:solidFill>
                  <a:srgbClr val="16232E"/>
                </a:solidFill>
                <a:latin typeface="Calibri" pitchFamily="34" charset="0"/>
                <a:ea typeface="Calibri" pitchFamily="34" charset="-122"/>
                <a:cs typeface="Calibri" pitchFamily="34" charset="-120"/>
              </a:rPr>
              <a:t>Multi-Database Support</a:t>
            </a:r>
            <a:endParaRPr lang="en-US" sz="1400" dirty="0"/>
          </a:p>
        </p:txBody>
      </p:sp>
      <p:sp>
        <p:nvSpPr>
          <p:cNvPr id="36" name="Shape 26"/>
          <p:cNvSpPr/>
          <p:nvPr/>
        </p:nvSpPr>
        <p:spPr>
          <a:xfrm>
            <a:off x="5120640" y="3200400"/>
            <a:ext cx="2148840" cy="1417320"/>
          </a:xfrm>
          <a:prstGeom prst="roundRect">
            <a:avLst>
              <a:gd name="adj" fmla="val 5806"/>
            </a:avLst>
          </a:prstGeom>
          <a:solidFill>
            <a:srgbClr val="FFFFFF"/>
          </a:solidFill>
          <a:ln w="12700">
            <a:solidFill>
              <a:srgbClr val="E1E7EE"/>
            </a:solidFill>
            <a:prstDash val="solid"/>
          </a:ln>
          <a:effectLst>
            <a:outerShdw blurRad="50800" dist="25400" dir="2700000" algn="bl" rotWithShape="0">
              <a:srgbClr val="000000">
                <a:alpha val="7000"/>
              </a:srgbClr>
            </a:outerShdw>
          </a:effectLst>
        </p:spPr>
      </p:sp>
      <p:sp>
        <p:nvSpPr>
          <p:cNvPr id="37" name="Shape 27"/>
          <p:cNvSpPr/>
          <p:nvPr/>
        </p:nvSpPr>
        <p:spPr>
          <a:xfrm>
            <a:off x="5939028" y="3364992"/>
            <a:ext cx="512064" cy="512064"/>
          </a:xfrm>
          <a:prstGeom prst="ellipse">
            <a:avLst/>
          </a:prstGeom>
          <a:solidFill>
            <a:srgbClr val="082340"/>
          </a:solidFill>
          <a:ln/>
        </p:spPr>
      </p:sp>
      <p:pic>
        <p:nvPicPr>
          <p:cNvPr id="38" name="Image 8" descr="preencoded.png"/>
          <p:cNvPicPr>
            <a:picLocks noChangeAspect="1"/>
          </p:cNvPicPr>
          <p:nvPr/>
        </p:nvPicPr>
        <p:blipFill>
          <a:blip r:embed="rId4"/>
          <a:stretch>
            <a:fillRect/>
          </a:stretch>
        </p:blipFill>
        <p:spPr>
          <a:xfrm>
            <a:off x="6072165" y="3498129"/>
            <a:ext cx="245791" cy="245791"/>
          </a:xfrm>
          <a:prstGeom prst="rect">
            <a:avLst/>
          </a:prstGeom>
        </p:spPr>
      </p:pic>
      <p:sp>
        <p:nvSpPr>
          <p:cNvPr id="39" name="Text 28"/>
          <p:cNvSpPr/>
          <p:nvPr/>
        </p:nvSpPr>
        <p:spPr>
          <a:xfrm>
            <a:off x="5212080" y="3977640"/>
            <a:ext cx="1965960" cy="548640"/>
          </a:xfrm>
          <a:prstGeom prst="rect">
            <a:avLst/>
          </a:prstGeom>
          <a:noFill/>
          <a:ln/>
        </p:spPr>
        <p:txBody>
          <a:bodyPr wrap="square" lIns="0" tIns="0" rIns="0" bIns="0" rtlCol="0" anchor="ctr"/>
          <a:lstStyle/>
          <a:p>
            <a:pPr marL="0" indent="0" algn="ctr">
              <a:buNone/>
            </a:pPr>
            <a:r>
              <a:rPr lang="en-US" sz="1400" b="1" dirty="0">
                <a:solidFill>
                  <a:srgbClr val="16232E"/>
                </a:solidFill>
                <a:latin typeface="Calibri" pitchFamily="34" charset="0"/>
                <a:ea typeface="Calibri" pitchFamily="34" charset="-122"/>
                <a:cs typeface="Calibri" pitchFamily="34" charset="-120"/>
              </a:rPr>
              <a:t>Voice-based AI Queries</a:t>
            </a:r>
            <a:endParaRPr lang="en-US" sz="1400" dirty="0"/>
          </a:p>
        </p:txBody>
      </p:sp>
      <p:sp>
        <p:nvSpPr>
          <p:cNvPr id="40" name="Shape 29"/>
          <p:cNvSpPr/>
          <p:nvPr/>
        </p:nvSpPr>
        <p:spPr>
          <a:xfrm>
            <a:off x="7406640" y="3200400"/>
            <a:ext cx="2148840" cy="1417320"/>
          </a:xfrm>
          <a:prstGeom prst="roundRect">
            <a:avLst>
              <a:gd name="adj" fmla="val 5806"/>
            </a:avLst>
          </a:prstGeom>
          <a:solidFill>
            <a:srgbClr val="FFFFFF"/>
          </a:solidFill>
          <a:ln w="12700">
            <a:solidFill>
              <a:srgbClr val="E1E7EE"/>
            </a:solidFill>
            <a:prstDash val="solid"/>
          </a:ln>
          <a:effectLst>
            <a:outerShdw blurRad="50800" dist="25400" dir="2700000" algn="bl" rotWithShape="0">
              <a:srgbClr val="000000">
                <a:alpha val="7000"/>
              </a:srgbClr>
            </a:outerShdw>
          </a:effectLst>
        </p:spPr>
      </p:sp>
      <p:sp>
        <p:nvSpPr>
          <p:cNvPr id="41" name="Shape 30"/>
          <p:cNvSpPr/>
          <p:nvPr/>
        </p:nvSpPr>
        <p:spPr>
          <a:xfrm>
            <a:off x="8225028" y="3364992"/>
            <a:ext cx="512064" cy="512064"/>
          </a:xfrm>
          <a:prstGeom prst="ellipse">
            <a:avLst/>
          </a:prstGeom>
          <a:solidFill>
            <a:srgbClr val="082340"/>
          </a:solidFill>
          <a:ln/>
        </p:spPr>
      </p:sp>
      <p:pic>
        <p:nvPicPr>
          <p:cNvPr id="42" name="Image 9" descr="preencoded.png"/>
          <p:cNvPicPr>
            <a:picLocks noChangeAspect="1"/>
          </p:cNvPicPr>
          <p:nvPr/>
        </p:nvPicPr>
        <p:blipFill>
          <a:blip r:embed="rId4"/>
          <a:stretch>
            <a:fillRect/>
          </a:stretch>
        </p:blipFill>
        <p:spPr>
          <a:xfrm>
            <a:off x="8358165" y="3498129"/>
            <a:ext cx="245791" cy="245791"/>
          </a:xfrm>
          <a:prstGeom prst="rect">
            <a:avLst/>
          </a:prstGeom>
        </p:spPr>
      </p:pic>
      <p:sp>
        <p:nvSpPr>
          <p:cNvPr id="43" name="Text 31"/>
          <p:cNvSpPr/>
          <p:nvPr/>
        </p:nvSpPr>
        <p:spPr>
          <a:xfrm>
            <a:off x="7498080" y="3977640"/>
            <a:ext cx="1965960" cy="548640"/>
          </a:xfrm>
          <a:prstGeom prst="rect">
            <a:avLst/>
          </a:prstGeom>
          <a:noFill/>
          <a:ln/>
        </p:spPr>
        <p:txBody>
          <a:bodyPr wrap="square" lIns="0" tIns="0" rIns="0" bIns="0" rtlCol="0" anchor="ctr"/>
          <a:lstStyle/>
          <a:p>
            <a:pPr marL="0" indent="0" algn="ctr">
              <a:buNone/>
            </a:pPr>
            <a:r>
              <a:rPr lang="en-US" sz="1400" b="1" dirty="0">
                <a:solidFill>
                  <a:srgbClr val="16232E"/>
                </a:solidFill>
                <a:latin typeface="Calibri" pitchFamily="34" charset="0"/>
                <a:ea typeface="Calibri" pitchFamily="34" charset="-122"/>
                <a:cs typeface="Calibri" pitchFamily="34" charset="-120"/>
              </a:rPr>
              <a:t>AI Recommendations</a:t>
            </a:r>
            <a:endParaRPr lang="en-US" sz="1400" dirty="0"/>
          </a:p>
        </p:txBody>
      </p:sp>
      <p:sp>
        <p:nvSpPr>
          <p:cNvPr id="44" name="Shape 32"/>
          <p:cNvSpPr/>
          <p:nvPr/>
        </p:nvSpPr>
        <p:spPr>
          <a:xfrm>
            <a:off x="9692640" y="3200400"/>
            <a:ext cx="2148840" cy="1417320"/>
          </a:xfrm>
          <a:prstGeom prst="roundRect">
            <a:avLst>
              <a:gd name="adj" fmla="val 5806"/>
            </a:avLst>
          </a:prstGeom>
          <a:solidFill>
            <a:srgbClr val="FFFFFF"/>
          </a:solidFill>
          <a:ln w="12700">
            <a:solidFill>
              <a:srgbClr val="E1E7EE"/>
            </a:solidFill>
            <a:prstDash val="solid"/>
          </a:ln>
          <a:effectLst>
            <a:outerShdw blurRad="50800" dist="25400" dir="2700000" algn="bl" rotWithShape="0">
              <a:srgbClr val="000000">
                <a:alpha val="7000"/>
              </a:srgbClr>
            </a:outerShdw>
          </a:effectLst>
        </p:spPr>
      </p:sp>
      <p:sp>
        <p:nvSpPr>
          <p:cNvPr id="45" name="Shape 33"/>
          <p:cNvSpPr/>
          <p:nvPr/>
        </p:nvSpPr>
        <p:spPr>
          <a:xfrm>
            <a:off x="10511028" y="3364992"/>
            <a:ext cx="512064" cy="512064"/>
          </a:xfrm>
          <a:prstGeom prst="ellipse">
            <a:avLst/>
          </a:prstGeom>
          <a:solidFill>
            <a:srgbClr val="082340"/>
          </a:solidFill>
          <a:ln/>
        </p:spPr>
      </p:sp>
      <p:pic>
        <p:nvPicPr>
          <p:cNvPr id="46" name="Image 10" descr="preencoded.png"/>
          <p:cNvPicPr>
            <a:picLocks noChangeAspect="1"/>
          </p:cNvPicPr>
          <p:nvPr/>
        </p:nvPicPr>
        <p:blipFill>
          <a:blip r:embed="rId4"/>
          <a:stretch>
            <a:fillRect/>
          </a:stretch>
        </p:blipFill>
        <p:spPr>
          <a:xfrm>
            <a:off x="10644165" y="3498129"/>
            <a:ext cx="245791" cy="245791"/>
          </a:xfrm>
          <a:prstGeom prst="rect">
            <a:avLst/>
          </a:prstGeom>
        </p:spPr>
      </p:pic>
      <p:sp>
        <p:nvSpPr>
          <p:cNvPr id="47" name="Text 34"/>
          <p:cNvSpPr/>
          <p:nvPr/>
        </p:nvSpPr>
        <p:spPr>
          <a:xfrm>
            <a:off x="9784080" y="3977640"/>
            <a:ext cx="1965960" cy="548640"/>
          </a:xfrm>
          <a:prstGeom prst="rect">
            <a:avLst/>
          </a:prstGeom>
          <a:noFill/>
          <a:ln/>
        </p:spPr>
        <p:txBody>
          <a:bodyPr wrap="square" lIns="0" tIns="0" rIns="0" bIns="0" rtlCol="0" anchor="ctr"/>
          <a:lstStyle/>
          <a:p>
            <a:pPr marL="0" indent="0" algn="ctr">
              <a:buNone/>
            </a:pPr>
            <a:r>
              <a:rPr lang="en-US" sz="1400" b="1" dirty="0">
                <a:solidFill>
                  <a:srgbClr val="16232E"/>
                </a:solidFill>
                <a:latin typeface="Calibri" pitchFamily="34" charset="0"/>
                <a:ea typeface="Calibri" pitchFamily="34" charset="-122"/>
                <a:cs typeface="Calibri" pitchFamily="34" charset="-120"/>
              </a:rPr>
              <a:t>Cloud Deployment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7F9F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744200" y="320040"/>
            <a:ext cx="960120" cy="443405"/>
          </a:xfrm>
          <a:prstGeom prst="rect">
            <a:avLst/>
          </a:prstGeom>
        </p:spPr>
      </p:pic>
      <p:sp>
        <p:nvSpPr>
          <p:cNvPr id="3" name="Text 0"/>
          <p:cNvSpPr/>
          <p:nvPr/>
        </p:nvSpPr>
        <p:spPr>
          <a:xfrm>
            <a:off x="457200" y="6473952"/>
            <a:ext cx="5486400" cy="274320"/>
          </a:xfrm>
          <a:prstGeom prst="rect">
            <a:avLst/>
          </a:prstGeom>
          <a:noFill/>
          <a:ln/>
        </p:spPr>
        <p:txBody>
          <a:bodyPr wrap="square" lIns="0" tIns="0" rIns="0" bIns="0" rtlCol="0" anchor="ctr"/>
          <a:lstStyle/>
          <a:p>
            <a:pPr marL="0" indent="0">
              <a:buNone/>
            </a:pPr>
            <a:r>
              <a:rPr lang="en-US" sz="950" dirty="0">
                <a:solidFill>
                  <a:srgbClr val="5A6B7A"/>
                </a:solidFill>
                <a:latin typeface="Calibri" pitchFamily="34" charset="0"/>
                <a:ea typeface="Calibri" pitchFamily="34" charset="-122"/>
                <a:cs typeface="Calibri" pitchFamily="34" charset="-120"/>
              </a:rPr>
              <a:t>Coforge  |  DB Admin Portal</a:t>
            </a:r>
            <a:endParaRPr lang="en-US" sz="950" dirty="0"/>
          </a:p>
        </p:txBody>
      </p:sp>
      <p:sp>
        <p:nvSpPr>
          <p:cNvPr id="4" name="Text 1"/>
          <p:cNvSpPr/>
          <p:nvPr/>
        </p:nvSpPr>
        <p:spPr>
          <a:xfrm>
            <a:off x="10744200" y="6473952"/>
            <a:ext cx="457200" cy="274320"/>
          </a:xfrm>
          <a:prstGeom prst="rect">
            <a:avLst/>
          </a:prstGeom>
          <a:noFill/>
          <a:ln/>
        </p:spPr>
        <p:txBody>
          <a:bodyPr wrap="square" lIns="0" tIns="0" rIns="0" bIns="0" rtlCol="0" anchor="ctr"/>
          <a:lstStyle/>
          <a:p>
            <a:pPr marL="0" indent="0" algn="r">
              <a:buNone/>
            </a:pPr>
            <a:r>
              <a:rPr lang="en-US" sz="950" dirty="0">
                <a:solidFill>
                  <a:srgbClr val="5A6B7A"/>
                </a:solidFill>
                <a:latin typeface="Calibri" pitchFamily="34" charset="0"/>
                <a:ea typeface="Calibri" pitchFamily="34" charset="-122"/>
                <a:cs typeface="Calibri" pitchFamily="34" charset="-120"/>
              </a:rPr>
              <a:t>20</a:t>
            </a:r>
            <a:endParaRPr lang="en-US" sz="950" dirty="0"/>
          </a:p>
        </p:txBody>
      </p:sp>
      <p:sp>
        <p:nvSpPr>
          <p:cNvPr id="5" name="Text 2"/>
          <p:cNvSpPr/>
          <p:nvPr/>
        </p:nvSpPr>
        <p:spPr>
          <a:xfrm>
            <a:off x="548640" y="365760"/>
            <a:ext cx="8961120" cy="594360"/>
          </a:xfrm>
          <a:prstGeom prst="rect">
            <a:avLst/>
          </a:prstGeom>
          <a:noFill/>
          <a:ln/>
        </p:spPr>
        <p:txBody>
          <a:bodyPr wrap="square" lIns="0" tIns="0" rIns="0" bIns="0" rtlCol="0" anchor="ctr"/>
          <a:lstStyle/>
          <a:p>
            <a:pPr marL="0" indent="0">
              <a:buNone/>
            </a:pPr>
            <a:r>
              <a:rPr lang="en-US" sz="2800" b="1" dirty="0">
                <a:solidFill>
                  <a:srgbClr val="082340"/>
                </a:solidFill>
                <a:latin typeface="Calibri" pitchFamily="34" charset="0"/>
                <a:ea typeface="Calibri" pitchFamily="34" charset="-122"/>
                <a:cs typeface="Calibri" pitchFamily="34" charset="-120"/>
              </a:rPr>
              <a:t>Conclusion &amp; Demo</a:t>
            </a:r>
            <a:endParaRPr lang="en-US" sz="2800" dirty="0"/>
          </a:p>
        </p:txBody>
      </p:sp>
      <p:sp>
        <p:nvSpPr>
          <p:cNvPr id="6" name="Shape 3"/>
          <p:cNvSpPr/>
          <p:nvPr/>
        </p:nvSpPr>
        <p:spPr>
          <a:xfrm>
            <a:off x="548640" y="1051560"/>
            <a:ext cx="502920" cy="41148"/>
          </a:xfrm>
          <a:prstGeom prst="rect">
            <a:avLst/>
          </a:prstGeom>
          <a:solidFill>
            <a:srgbClr val="F15B40"/>
          </a:solidFill>
          <a:ln/>
        </p:spPr>
      </p:sp>
      <p:sp>
        <p:nvSpPr>
          <p:cNvPr id="7" name="Text 4"/>
          <p:cNvSpPr/>
          <p:nvPr/>
        </p:nvSpPr>
        <p:spPr>
          <a:xfrm>
            <a:off x="640080" y="1463040"/>
            <a:ext cx="5212080" cy="365760"/>
          </a:xfrm>
          <a:prstGeom prst="rect">
            <a:avLst/>
          </a:prstGeom>
          <a:noFill/>
          <a:ln/>
        </p:spPr>
        <p:txBody>
          <a:bodyPr wrap="square" lIns="0" tIns="0" rIns="0" bIns="0" rtlCol="0" anchor="ctr"/>
          <a:lstStyle/>
          <a:p>
            <a:pPr marL="0" indent="0">
              <a:buNone/>
            </a:pPr>
            <a:r>
              <a:rPr lang="en-US" sz="1600" b="1" dirty="0">
                <a:solidFill>
                  <a:srgbClr val="082340"/>
                </a:solidFill>
                <a:latin typeface="Calibri" pitchFamily="34" charset="0"/>
                <a:ea typeface="Calibri" pitchFamily="34" charset="-122"/>
                <a:cs typeface="Calibri" pitchFamily="34" charset="-120"/>
              </a:rPr>
              <a:t>Project Summary</a:t>
            </a:r>
            <a:endParaRPr lang="en-US" sz="1600" dirty="0"/>
          </a:p>
        </p:txBody>
      </p:sp>
      <p:sp>
        <p:nvSpPr>
          <p:cNvPr id="8" name="Shape 5"/>
          <p:cNvSpPr/>
          <p:nvPr/>
        </p:nvSpPr>
        <p:spPr>
          <a:xfrm>
            <a:off x="640080" y="1965960"/>
            <a:ext cx="365760" cy="365760"/>
          </a:xfrm>
          <a:prstGeom prst="ellipse">
            <a:avLst/>
          </a:prstGeom>
          <a:solidFill>
            <a:srgbClr val="E7EEF5"/>
          </a:solidFill>
          <a:ln/>
        </p:spPr>
      </p:sp>
      <p:pic>
        <p:nvPicPr>
          <p:cNvPr id="9" name="Image 1" descr="preencoded.png"/>
          <p:cNvPicPr>
            <a:picLocks noChangeAspect="1"/>
          </p:cNvPicPr>
          <p:nvPr/>
        </p:nvPicPr>
        <p:blipFill>
          <a:blip r:embed="rId4"/>
          <a:stretch>
            <a:fillRect/>
          </a:stretch>
        </p:blipFill>
        <p:spPr>
          <a:xfrm>
            <a:off x="735178" y="2061058"/>
            <a:ext cx="175565" cy="175565"/>
          </a:xfrm>
          <a:prstGeom prst="rect">
            <a:avLst/>
          </a:prstGeom>
        </p:spPr>
      </p:pic>
      <p:sp>
        <p:nvSpPr>
          <p:cNvPr id="10" name="Text 6"/>
          <p:cNvSpPr/>
          <p:nvPr/>
        </p:nvSpPr>
        <p:spPr>
          <a:xfrm>
            <a:off x="1170432" y="1938528"/>
            <a:ext cx="4864608" cy="548640"/>
          </a:xfrm>
          <a:prstGeom prst="rect">
            <a:avLst/>
          </a:prstGeom>
          <a:noFill/>
          <a:ln/>
        </p:spPr>
        <p:txBody>
          <a:bodyPr wrap="square" lIns="0" tIns="0" rIns="0" bIns="0" rtlCol="0" anchor="t"/>
          <a:lstStyle/>
          <a:p>
            <a:pPr marL="0" indent="0">
              <a:buNone/>
            </a:pPr>
            <a:r>
              <a:rPr lang="en-US" sz="1200" dirty="0">
                <a:solidFill>
                  <a:srgbClr val="16232E"/>
                </a:solidFill>
                <a:latin typeface="Calibri" pitchFamily="34" charset="0"/>
                <a:ea typeface="Calibri" pitchFamily="34" charset="-122"/>
                <a:cs typeface="Calibri" pitchFamily="34" charset="-120"/>
              </a:rPr>
              <a:t>Secure Authentication</a:t>
            </a:r>
            <a:endParaRPr lang="en-US" sz="1200" dirty="0"/>
          </a:p>
        </p:txBody>
      </p:sp>
      <p:sp>
        <p:nvSpPr>
          <p:cNvPr id="11" name="Shape 7"/>
          <p:cNvSpPr/>
          <p:nvPr/>
        </p:nvSpPr>
        <p:spPr>
          <a:xfrm>
            <a:off x="640080" y="2514600"/>
            <a:ext cx="365760" cy="365760"/>
          </a:xfrm>
          <a:prstGeom prst="ellipse">
            <a:avLst/>
          </a:prstGeom>
          <a:solidFill>
            <a:srgbClr val="E7EEF5"/>
          </a:solidFill>
          <a:ln/>
        </p:spPr>
      </p:sp>
      <p:pic>
        <p:nvPicPr>
          <p:cNvPr id="12" name="Image 2" descr="preencoded.png"/>
          <p:cNvPicPr>
            <a:picLocks noChangeAspect="1"/>
          </p:cNvPicPr>
          <p:nvPr/>
        </p:nvPicPr>
        <p:blipFill>
          <a:blip r:embed="rId4"/>
          <a:stretch>
            <a:fillRect/>
          </a:stretch>
        </p:blipFill>
        <p:spPr>
          <a:xfrm>
            <a:off x="735178" y="2609698"/>
            <a:ext cx="175565" cy="175565"/>
          </a:xfrm>
          <a:prstGeom prst="rect">
            <a:avLst/>
          </a:prstGeom>
        </p:spPr>
      </p:pic>
      <p:sp>
        <p:nvSpPr>
          <p:cNvPr id="13" name="Text 8"/>
          <p:cNvSpPr/>
          <p:nvPr/>
        </p:nvSpPr>
        <p:spPr>
          <a:xfrm>
            <a:off x="1170432" y="2487168"/>
            <a:ext cx="4864608" cy="548640"/>
          </a:xfrm>
          <a:prstGeom prst="rect">
            <a:avLst/>
          </a:prstGeom>
          <a:noFill/>
          <a:ln/>
        </p:spPr>
        <p:txBody>
          <a:bodyPr wrap="square" lIns="0" tIns="0" rIns="0" bIns="0" rtlCol="0" anchor="t"/>
          <a:lstStyle/>
          <a:p>
            <a:pPr marL="0" indent="0">
              <a:buNone/>
            </a:pPr>
            <a:r>
              <a:rPr lang="en-US" sz="1200" dirty="0">
                <a:solidFill>
                  <a:srgbClr val="16232E"/>
                </a:solidFill>
                <a:latin typeface="Calibri" pitchFamily="34" charset="0"/>
                <a:ea typeface="Calibri" pitchFamily="34" charset="-122"/>
                <a:cs typeface="Calibri" pitchFamily="34" charset="-120"/>
              </a:rPr>
              <a:t>Role-Based Access Control</a:t>
            </a:r>
            <a:endParaRPr lang="en-US" sz="1200" dirty="0"/>
          </a:p>
        </p:txBody>
      </p:sp>
      <p:sp>
        <p:nvSpPr>
          <p:cNvPr id="14" name="Shape 9"/>
          <p:cNvSpPr/>
          <p:nvPr/>
        </p:nvSpPr>
        <p:spPr>
          <a:xfrm>
            <a:off x="640080" y="3063240"/>
            <a:ext cx="365760" cy="365760"/>
          </a:xfrm>
          <a:prstGeom prst="ellipse">
            <a:avLst/>
          </a:prstGeom>
          <a:solidFill>
            <a:srgbClr val="E7EEF5"/>
          </a:solidFill>
          <a:ln/>
        </p:spPr>
      </p:sp>
      <p:pic>
        <p:nvPicPr>
          <p:cNvPr id="15" name="Image 3" descr="preencoded.png"/>
          <p:cNvPicPr>
            <a:picLocks noChangeAspect="1"/>
          </p:cNvPicPr>
          <p:nvPr/>
        </p:nvPicPr>
        <p:blipFill>
          <a:blip r:embed="rId4"/>
          <a:stretch>
            <a:fillRect/>
          </a:stretch>
        </p:blipFill>
        <p:spPr>
          <a:xfrm>
            <a:off x="735178" y="3158338"/>
            <a:ext cx="175565" cy="175565"/>
          </a:xfrm>
          <a:prstGeom prst="rect">
            <a:avLst/>
          </a:prstGeom>
        </p:spPr>
      </p:pic>
      <p:sp>
        <p:nvSpPr>
          <p:cNvPr id="16" name="Text 10"/>
          <p:cNvSpPr/>
          <p:nvPr/>
        </p:nvSpPr>
        <p:spPr>
          <a:xfrm>
            <a:off x="1170432" y="3035808"/>
            <a:ext cx="4864608" cy="548640"/>
          </a:xfrm>
          <a:prstGeom prst="rect">
            <a:avLst/>
          </a:prstGeom>
          <a:noFill/>
          <a:ln/>
        </p:spPr>
        <p:txBody>
          <a:bodyPr wrap="square" lIns="0" tIns="0" rIns="0" bIns="0" rtlCol="0" anchor="t"/>
          <a:lstStyle/>
          <a:p>
            <a:pPr marL="0" indent="0">
              <a:buNone/>
            </a:pPr>
            <a:r>
              <a:rPr lang="en-US" sz="1200" dirty="0">
                <a:solidFill>
                  <a:srgbClr val="16232E"/>
                </a:solidFill>
                <a:latin typeface="Calibri" pitchFamily="34" charset="0"/>
                <a:ea typeface="Calibri" pitchFamily="34" charset="-122"/>
                <a:cs typeface="Calibri" pitchFamily="34" charset="-120"/>
              </a:rPr>
              <a:t>Dynamic Database Reflection</a:t>
            </a:r>
            <a:endParaRPr lang="en-US" sz="1200" dirty="0"/>
          </a:p>
        </p:txBody>
      </p:sp>
      <p:sp>
        <p:nvSpPr>
          <p:cNvPr id="17" name="Shape 11"/>
          <p:cNvSpPr/>
          <p:nvPr/>
        </p:nvSpPr>
        <p:spPr>
          <a:xfrm>
            <a:off x="640080" y="3611880"/>
            <a:ext cx="365760" cy="365760"/>
          </a:xfrm>
          <a:prstGeom prst="ellipse">
            <a:avLst/>
          </a:prstGeom>
          <a:solidFill>
            <a:srgbClr val="E7EEF5"/>
          </a:solidFill>
          <a:ln/>
        </p:spPr>
      </p:sp>
      <p:pic>
        <p:nvPicPr>
          <p:cNvPr id="18" name="Image 4" descr="preencoded.png"/>
          <p:cNvPicPr>
            <a:picLocks noChangeAspect="1"/>
          </p:cNvPicPr>
          <p:nvPr/>
        </p:nvPicPr>
        <p:blipFill>
          <a:blip r:embed="rId4"/>
          <a:stretch>
            <a:fillRect/>
          </a:stretch>
        </p:blipFill>
        <p:spPr>
          <a:xfrm>
            <a:off x="735178" y="3706978"/>
            <a:ext cx="175565" cy="175565"/>
          </a:xfrm>
          <a:prstGeom prst="rect">
            <a:avLst/>
          </a:prstGeom>
        </p:spPr>
      </p:pic>
      <p:sp>
        <p:nvSpPr>
          <p:cNvPr id="19" name="Text 12"/>
          <p:cNvSpPr/>
          <p:nvPr/>
        </p:nvSpPr>
        <p:spPr>
          <a:xfrm>
            <a:off x="1170432" y="3584448"/>
            <a:ext cx="4864608" cy="548640"/>
          </a:xfrm>
          <a:prstGeom prst="rect">
            <a:avLst/>
          </a:prstGeom>
          <a:noFill/>
          <a:ln/>
        </p:spPr>
        <p:txBody>
          <a:bodyPr wrap="square" lIns="0" tIns="0" rIns="0" bIns="0" rtlCol="0" anchor="t"/>
          <a:lstStyle/>
          <a:p>
            <a:pPr marL="0" indent="0">
              <a:buNone/>
            </a:pPr>
            <a:r>
              <a:rPr lang="en-US" sz="1200" dirty="0">
                <a:solidFill>
                  <a:srgbClr val="16232E"/>
                </a:solidFill>
                <a:latin typeface="Calibri" pitchFamily="34" charset="0"/>
                <a:ea typeface="Calibri" pitchFamily="34" charset="-122"/>
                <a:cs typeface="Calibri" pitchFamily="34" charset="-120"/>
              </a:rPr>
              <a:t>Generic CRUD Operations</a:t>
            </a:r>
            <a:endParaRPr lang="en-US" sz="1200" dirty="0"/>
          </a:p>
        </p:txBody>
      </p:sp>
      <p:sp>
        <p:nvSpPr>
          <p:cNvPr id="20" name="Shape 13"/>
          <p:cNvSpPr/>
          <p:nvPr/>
        </p:nvSpPr>
        <p:spPr>
          <a:xfrm>
            <a:off x="640080" y="4160520"/>
            <a:ext cx="365760" cy="365760"/>
          </a:xfrm>
          <a:prstGeom prst="ellipse">
            <a:avLst/>
          </a:prstGeom>
          <a:solidFill>
            <a:srgbClr val="E7EEF5"/>
          </a:solidFill>
          <a:ln/>
        </p:spPr>
      </p:sp>
      <p:pic>
        <p:nvPicPr>
          <p:cNvPr id="21" name="Image 5" descr="preencoded.png"/>
          <p:cNvPicPr>
            <a:picLocks noChangeAspect="1"/>
          </p:cNvPicPr>
          <p:nvPr/>
        </p:nvPicPr>
        <p:blipFill>
          <a:blip r:embed="rId4"/>
          <a:stretch>
            <a:fillRect/>
          </a:stretch>
        </p:blipFill>
        <p:spPr>
          <a:xfrm>
            <a:off x="735178" y="4255618"/>
            <a:ext cx="175565" cy="175565"/>
          </a:xfrm>
          <a:prstGeom prst="rect">
            <a:avLst/>
          </a:prstGeom>
        </p:spPr>
      </p:pic>
      <p:sp>
        <p:nvSpPr>
          <p:cNvPr id="22" name="Text 14"/>
          <p:cNvSpPr/>
          <p:nvPr/>
        </p:nvSpPr>
        <p:spPr>
          <a:xfrm>
            <a:off x="1170432" y="4133088"/>
            <a:ext cx="4864608" cy="548640"/>
          </a:xfrm>
          <a:prstGeom prst="rect">
            <a:avLst/>
          </a:prstGeom>
          <a:noFill/>
          <a:ln/>
        </p:spPr>
        <p:txBody>
          <a:bodyPr wrap="square" lIns="0" tIns="0" rIns="0" bIns="0" rtlCol="0" anchor="t"/>
          <a:lstStyle/>
          <a:p>
            <a:pPr marL="0" indent="0">
              <a:buNone/>
            </a:pPr>
            <a:r>
              <a:rPr lang="en-US" sz="1200" dirty="0">
                <a:solidFill>
                  <a:srgbClr val="16232E"/>
                </a:solidFill>
                <a:latin typeface="Calibri" pitchFamily="34" charset="0"/>
                <a:ea typeface="Calibri" pitchFamily="34" charset="-122"/>
                <a:cs typeface="Calibri" pitchFamily="34" charset="-120"/>
              </a:rPr>
              <a:t>User &amp; Permission Management</a:t>
            </a:r>
            <a:endParaRPr lang="en-US" sz="1200" dirty="0"/>
          </a:p>
        </p:txBody>
      </p:sp>
      <p:sp>
        <p:nvSpPr>
          <p:cNvPr id="23" name="Shape 15"/>
          <p:cNvSpPr/>
          <p:nvPr/>
        </p:nvSpPr>
        <p:spPr>
          <a:xfrm>
            <a:off x="640080" y="4709160"/>
            <a:ext cx="365760" cy="365760"/>
          </a:xfrm>
          <a:prstGeom prst="ellipse">
            <a:avLst/>
          </a:prstGeom>
          <a:solidFill>
            <a:srgbClr val="E7EEF5"/>
          </a:solidFill>
          <a:ln/>
        </p:spPr>
      </p:sp>
      <p:pic>
        <p:nvPicPr>
          <p:cNvPr id="24" name="Image 6" descr="preencoded.png"/>
          <p:cNvPicPr>
            <a:picLocks noChangeAspect="1"/>
          </p:cNvPicPr>
          <p:nvPr/>
        </p:nvPicPr>
        <p:blipFill>
          <a:blip r:embed="rId4"/>
          <a:stretch>
            <a:fillRect/>
          </a:stretch>
        </p:blipFill>
        <p:spPr>
          <a:xfrm>
            <a:off x="735178" y="4804258"/>
            <a:ext cx="175565" cy="175565"/>
          </a:xfrm>
          <a:prstGeom prst="rect">
            <a:avLst/>
          </a:prstGeom>
        </p:spPr>
      </p:pic>
      <p:sp>
        <p:nvSpPr>
          <p:cNvPr id="25" name="Text 16"/>
          <p:cNvSpPr/>
          <p:nvPr/>
        </p:nvSpPr>
        <p:spPr>
          <a:xfrm>
            <a:off x="1170432" y="4681728"/>
            <a:ext cx="4864608" cy="548640"/>
          </a:xfrm>
          <a:prstGeom prst="rect">
            <a:avLst/>
          </a:prstGeom>
          <a:noFill/>
          <a:ln/>
        </p:spPr>
        <p:txBody>
          <a:bodyPr wrap="square" lIns="0" tIns="0" rIns="0" bIns="0" rtlCol="0" anchor="t"/>
          <a:lstStyle/>
          <a:p>
            <a:pPr marL="0" indent="0">
              <a:buNone/>
            </a:pPr>
            <a:r>
              <a:rPr lang="en-US" sz="1200" dirty="0">
                <a:solidFill>
                  <a:srgbClr val="16232E"/>
                </a:solidFill>
                <a:latin typeface="Calibri" pitchFamily="34" charset="0"/>
                <a:ea typeface="Calibri" pitchFamily="34" charset="-122"/>
                <a:cs typeface="Calibri" pitchFamily="34" charset="-120"/>
              </a:rPr>
              <a:t>Audit Logging</a:t>
            </a:r>
            <a:endParaRPr lang="en-US" sz="1200" dirty="0"/>
          </a:p>
        </p:txBody>
      </p:sp>
      <p:sp>
        <p:nvSpPr>
          <p:cNvPr id="26" name="Shape 17"/>
          <p:cNvSpPr/>
          <p:nvPr/>
        </p:nvSpPr>
        <p:spPr>
          <a:xfrm>
            <a:off x="640080" y="5257800"/>
            <a:ext cx="365760" cy="365760"/>
          </a:xfrm>
          <a:prstGeom prst="ellipse">
            <a:avLst/>
          </a:prstGeom>
          <a:solidFill>
            <a:srgbClr val="E7EEF5"/>
          </a:solidFill>
          <a:ln/>
        </p:spPr>
      </p:sp>
      <p:pic>
        <p:nvPicPr>
          <p:cNvPr id="27" name="Image 7" descr="preencoded.png"/>
          <p:cNvPicPr>
            <a:picLocks noChangeAspect="1"/>
          </p:cNvPicPr>
          <p:nvPr/>
        </p:nvPicPr>
        <p:blipFill>
          <a:blip r:embed="rId4"/>
          <a:stretch>
            <a:fillRect/>
          </a:stretch>
        </p:blipFill>
        <p:spPr>
          <a:xfrm>
            <a:off x="735178" y="5352898"/>
            <a:ext cx="175565" cy="175565"/>
          </a:xfrm>
          <a:prstGeom prst="rect">
            <a:avLst/>
          </a:prstGeom>
        </p:spPr>
      </p:pic>
      <p:sp>
        <p:nvSpPr>
          <p:cNvPr id="28" name="Text 18"/>
          <p:cNvSpPr/>
          <p:nvPr/>
        </p:nvSpPr>
        <p:spPr>
          <a:xfrm>
            <a:off x="1170432" y="5230368"/>
            <a:ext cx="4864608" cy="548640"/>
          </a:xfrm>
          <a:prstGeom prst="rect">
            <a:avLst/>
          </a:prstGeom>
          <a:noFill/>
          <a:ln/>
        </p:spPr>
        <p:txBody>
          <a:bodyPr wrap="square" lIns="0" tIns="0" rIns="0" bIns="0" rtlCol="0" anchor="t"/>
          <a:lstStyle/>
          <a:p>
            <a:pPr marL="0" indent="0">
              <a:buNone/>
            </a:pPr>
            <a:r>
              <a:rPr lang="en-US" sz="1200" dirty="0">
                <a:solidFill>
                  <a:srgbClr val="16232E"/>
                </a:solidFill>
                <a:latin typeface="Calibri" pitchFamily="34" charset="0"/>
                <a:ea typeface="Calibri" pitchFamily="34" charset="-122"/>
                <a:cs typeface="Calibri" pitchFamily="34" charset="-120"/>
              </a:rPr>
              <a:t>AI-Powered Natural Language Data Analysis (In Progress)</a:t>
            </a:r>
            <a:endParaRPr lang="en-US" sz="1200" dirty="0"/>
          </a:p>
        </p:txBody>
      </p:sp>
      <p:sp>
        <p:nvSpPr>
          <p:cNvPr id="29" name="Text 19"/>
          <p:cNvSpPr/>
          <p:nvPr/>
        </p:nvSpPr>
        <p:spPr>
          <a:xfrm>
            <a:off x="6400800" y="1463040"/>
            <a:ext cx="5120640" cy="365760"/>
          </a:xfrm>
          <a:prstGeom prst="rect">
            <a:avLst/>
          </a:prstGeom>
          <a:noFill/>
          <a:ln/>
        </p:spPr>
        <p:txBody>
          <a:bodyPr wrap="square" lIns="0" tIns="0" rIns="0" bIns="0" rtlCol="0" anchor="ctr"/>
          <a:lstStyle/>
          <a:p>
            <a:pPr marL="0" indent="0">
              <a:buNone/>
            </a:pPr>
            <a:r>
              <a:rPr lang="en-US" sz="1600" b="1" dirty="0">
                <a:solidFill>
                  <a:srgbClr val="082340"/>
                </a:solidFill>
                <a:latin typeface="Calibri" pitchFamily="34" charset="0"/>
                <a:ea typeface="Calibri" pitchFamily="34" charset="-122"/>
                <a:cs typeface="Calibri" pitchFamily="34" charset="-120"/>
              </a:rPr>
              <a:t>Live Demo Flow</a:t>
            </a:r>
            <a:endParaRPr lang="en-US" sz="1600" dirty="0"/>
          </a:p>
        </p:txBody>
      </p:sp>
      <p:sp>
        <p:nvSpPr>
          <p:cNvPr id="30" name="Shape 20"/>
          <p:cNvSpPr/>
          <p:nvPr/>
        </p:nvSpPr>
        <p:spPr>
          <a:xfrm>
            <a:off x="6400800" y="1965960"/>
            <a:ext cx="292608" cy="292608"/>
          </a:xfrm>
          <a:prstGeom prst="ellipse">
            <a:avLst/>
          </a:prstGeom>
          <a:solidFill>
            <a:srgbClr val="F15B40"/>
          </a:solidFill>
          <a:ln/>
        </p:spPr>
      </p:sp>
      <p:sp>
        <p:nvSpPr>
          <p:cNvPr id="31" name="Text 21"/>
          <p:cNvSpPr/>
          <p:nvPr/>
        </p:nvSpPr>
        <p:spPr>
          <a:xfrm>
            <a:off x="6400800" y="196596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32" name="Text 22"/>
          <p:cNvSpPr/>
          <p:nvPr/>
        </p:nvSpPr>
        <p:spPr>
          <a:xfrm>
            <a:off x="6784848" y="1938528"/>
            <a:ext cx="2176272" cy="365760"/>
          </a:xfrm>
          <a:prstGeom prst="rect">
            <a:avLst/>
          </a:prstGeom>
          <a:noFill/>
          <a:ln/>
        </p:spPr>
        <p:txBody>
          <a:bodyPr wrap="square" lIns="0" tIns="0" rIns="0" bIns="0" rtlCol="0" anchor="ctr"/>
          <a:lstStyle/>
          <a:p>
            <a:pPr marL="0" indent="0">
              <a:buNone/>
            </a:pPr>
            <a:r>
              <a:rPr lang="en-US" sz="1100" dirty="0">
                <a:solidFill>
                  <a:srgbClr val="16232E"/>
                </a:solidFill>
                <a:latin typeface="Calibri" pitchFamily="34" charset="0"/>
                <a:ea typeface="Calibri" pitchFamily="34" charset="-122"/>
                <a:cs typeface="Calibri" pitchFamily="34" charset="-120"/>
              </a:rPr>
              <a:t>Login</a:t>
            </a:r>
            <a:endParaRPr lang="en-US" sz="1100" dirty="0"/>
          </a:p>
        </p:txBody>
      </p:sp>
      <p:sp>
        <p:nvSpPr>
          <p:cNvPr id="33" name="Shape 23"/>
          <p:cNvSpPr/>
          <p:nvPr/>
        </p:nvSpPr>
        <p:spPr>
          <a:xfrm>
            <a:off x="9144000" y="1965960"/>
            <a:ext cx="292608" cy="292608"/>
          </a:xfrm>
          <a:prstGeom prst="ellipse">
            <a:avLst/>
          </a:prstGeom>
          <a:solidFill>
            <a:srgbClr val="F15B40"/>
          </a:solidFill>
          <a:ln/>
        </p:spPr>
      </p:sp>
      <p:sp>
        <p:nvSpPr>
          <p:cNvPr id="34" name="Text 24"/>
          <p:cNvSpPr/>
          <p:nvPr/>
        </p:nvSpPr>
        <p:spPr>
          <a:xfrm>
            <a:off x="9144000" y="196596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35" name="Text 25"/>
          <p:cNvSpPr/>
          <p:nvPr/>
        </p:nvSpPr>
        <p:spPr>
          <a:xfrm>
            <a:off x="9528048" y="1938528"/>
            <a:ext cx="2176272" cy="365760"/>
          </a:xfrm>
          <a:prstGeom prst="rect">
            <a:avLst/>
          </a:prstGeom>
          <a:noFill/>
          <a:ln/>
        </p:spPr>
        <p:txBody>
          <a:bodyPr wrap="square" lIns="0" tIns="0" rIns="0" bIns="0" rtlCol="0" anchor="ctr"/>
          <a:lstStyle/>
          <a:p>
            <a:pPr marL="0" indent="0">
              <a:buNone/>
            </a:pPr>
            <a:r>
              <a:rPr lang="en-US" sz="1100" dirty="0">
                <a:solidFill>
                  <a:srgbClr val="16232E"/>
                </a:solidFill>
                <a:latin typeface="Calibri" pitchFamily="34" charset="0"/>
                <a:ea typeface="Calibri" pitchFamily="34" charset="-122"/>
                <a:cs typeface="Calibri" pitchFamily="34" charset="-120"/>
              </a:rPr>
              <a:t>Dashboard</a:t>
            </a:r>
            <a:endParaRPr lang="en-US" sz="1100" dirty="0"/>
          </a:p>
        </p:txBody>
      </p:sp>
      <p:sp>
        <p:nvSpPr>
          <p:cNvPr id="36" name="Shape 26"/>
          <p:cNvSpPr/>
          <p:nvPr/>
        </p:nvSpPr>
        <p:spPr>
          <a:xfrm>
            <a:off x="6400800" y="2441448"/>
            <a:ext cx="292608" cy="292608"/>
          </a:xfrm>
          <a:prstGeom prst="ellipse">
            <a:avLst/>
          </a:prstGeom>
          <a:solidFill>
            <a:srgbClr val="F15B40"/>
          </a:solidFill>
          <a:ln/>
        </p:spPr>
      </p:sp>
      <p:sp>
        <p:nvSpPr>
          <p:cNvPr id="37" name="Text 27"/>
          <p:cNvSpPr/>
          <p:nvPr/>
        </p:nvSpPr>
        <p:spPr>
          <a:xfrm>
            <a:off x="6400800" y="2441448"/>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38" name="Text 28"/>
          <p:cNvSpPr/>
          <p:nvPr/>
        </p:nvSpPr>
        <p:spPr>
          <a:xfrm>
            <a:off x="6784848" y="2414016"/>
            <a:ext cx="2176272" cy="365760"/>
          </a:xfrm>
          <a:prstGeom prst="rect">
            <a:avLst/>
          </a:prstGeom>
          <a:noFill/>
          <a:ln/>
        </p:spPr>
        <p:txBody>
          <a:bodyPr wrap="square" lIns="0" tIns="0" rIns="0" bIns="0" rtlCol="0" anchor="ctr"/>
          <a:lstStyle/>
          <a:p>
            <a:pPr marL="0" indent="0">
              <a:buNone/>
            </a:pPr>
            <a:r>
              <a:rPr lang="en-US" sz="1100" dirty="0">
                <a:solidFill>
                  <a:srgbClr val="16232E"/>
                </a:solidFill>
                <a:latin typeface="Calibri" pitchFamily="34" charset="0"/>
                <a:ea typeface="Calibri" pitchFamily="34" charset="-122"/>
                <a:cs typeface="Calibri" pitchFamily="34" charset="-120"/>
              </a:rPr>
              <a:t>View Tables</a:t>
            </a:r>
            <a:endParaRPr lang="en-US" sz="1100" dirty="0"/>
          </a:p>
        </p:txBody>
      </p:sp>
      <p:sp>
        <p:nvSpPr>
          <p:cNvPr id="39" name="Shape 29"/>
          <p:cNvSpPr/>
          <p:nvPr/>
        </p:nvSpPr>
        <p:spPr>
          <a:xfrm>
            <a:off x="9144000" y="2441448"/>
            <a:ext cx="292608" cy="292608"/>
          </a:xfrm>
          <a:prstGeom prst="ellipse">
            <a:avLst/>
          </a:prstGeom>
          <a:solidFill>
            <a:srgbClr val="F15B40"/>
          </a:solidFill>
          <a:ln/>
        </p:spPr>
      </p:sp>
      <p:sp>
        <p:nvSpPr>
          <p:cNvPr id="40" name="Text 30"/>
          <p:cNvSpPr/>
          <p:nvPr/>
        </p:nvSpPr>
        <p:spPr>
          <a:xfrm>
            <a:off x="9144000" y="2441448"/>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41" name="Text 31"/>
          <p:cNvSpPr/>
          <p:nvPr/>
        </p:nvSpPr>
        <p:spPr>
          <a:xfrm>
            <a:off x="9528048" y="2414016"/>
            <a:ext cx="2176272" cy="365760"/>
          </a:xfrm>
          <a:prstGeom prst="rect">
            <a:avLst/>
          </a:prstGeom>
          <a:noFill/>
          <a:ln/>
        </p:spPr>
        <p:txBody>
          <a:bodyPr wrap="square" lIns="0" tIns="0" rIns="0" bIns="0" rtlCol="0" anchor="ctr"/>
          <a:lstStyle/>
          <a:p>
            <a:pPr marL="0" indent="0">
              <a:buNone/>
            </a:pPr>
            <a:r>
              <a:rPr lang="en-US" sz="1100" dirty="0">
                <a:solidFill>
                  <a:srgbClr val="16232E"/>
                </a:solidFill>
                <a:latin typeface="Calibri" pitchFamily="34" charset="0"/>
                <a:ea typeface="Calibri" pitchFamily="34" charset="-122"/>
                <a:cs typeface="Calibri" pitchFamily="34" charset="-120"/>
              </a:rPr>
              <a:t>Insert Record</a:t>
            </a:r>
            <a:endParaRPr lang="en-US" sz="1100" dirty="0"/>
          </a:p>
        </p:txBody>
      </p:sp>
      <p:sp>
        <p:nvSpPr>
          <p:cNvPr id="42" name="Shape 32"/>
          <p:cNvSpPr/>
          <p:nvPr/>
        </p:nvSpPr>
        <p:spPr>
          <a:xfrm>
            <a:off x="6400800" y="2916936"/>
            <a:ext cx="292608" cy="292608"/>
          </a:xfrm>
          <a:prstGeom prst="ellipse">
            <a:avLst/>
          </a:prstGeom>
          <a:solidFill>
            <a:srgbClr val="F15B40"/>
          </a:solidFill>
          <a:ln/>
        </p:spPr>
      </p:sp>
      <p:sp>
        <p:nvSpPr>
          <p:cNvPr id="43" name="Text 33"/>
          <p:cNvSpPr/>
          <p:nvPr/>
        </p:nvSpPr>
        <p:spPr>
          <a:xfrm>
            <a:off x="6400800" y="2916936"/>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44" name="Text 34"/>
          <p:cNvSpPr/>
          <p:nvPr/>
        </p:nvSpPr>
        <p:spPr>
          <a:xfrm>
            <a:off x="6784848" y="2889504"/>
            <a:ext cx="2176272" cy="365760"/>
          </a:xfrm>
          <a:prstGeom prst="rect">
            <a:avLst/>
          </a:prstGeom>
          <a:noFill/>
          <a:ln/>
        </p:spPr>
        <p:txBody>
          <a:bodyPr wrap="square" lIns="0" tIns="0" rIns="0" bIns="0" rtlCol="0" anchor="ctr"/>
          <a:lstStyle/>
          <a:p>
            <a:pPr marL="0" indent="0">
              <a:buNone/>
            </a:pPr>
            <a:r>
              <a:rPr lang="en-US" sz="1100" dirty="0">
                <a:solidFill>
                  <a:srgbClr val="16232E"/>
                </a:solidFill>
                <a:latin typeface="Calibri" pitchFamily="34" charset="0"/>
                <a:ea typeface="Calibri" pitchFamily="34" charset="-122"/>
                <a:cs typeface="Calibri" pitchFamily="34" charset="-120"/>
              </a:rPr>
              <a:t>Update Record</a:t>
            </a:r>
            <a:endParaRPr lang="en-US" sz="1100" dirty="0"/>
          </a:p>
        </p:txBody>
      </p:sp>
      <p:sp>
        <p:nvSpPr>
          <p:cNvPr id="45" name="Shape 35"/>
          <p:cNvSpPr/>
          <p:nvPr/>
        </p:nvSpPr>
        <p:spPr>
          <a:xfrm>
            <a:off x="9144000" y="2916936"/>
            <a:ext cx="292608" cy="292608"/>
          </a:xfrm>
          <a:prstGeom prst="ellipse">
            <a:avLst/>
          </a:prstGeom>
          <a:solidFill>
            <a:srgbClr val="F15B40"/>
          </a:solidFill>
          <a:ln/>
        </p:spPr>
      </p:sp>
      <p:sp>
        <p:nvSpPr>
          <p:cNvPr id="46" name="Text 36"/>
          <p:cNvSpPr/>
          <p:nvPr/>
        </p:nvSpPr>
        <p:spPr>
          <a:xfrm>
            <a:off x="9144000" y="2916936"/>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47" name="Text 37"/>
          <p:cNvSpPr/>
          <p:nvPr/>
        </p:nvSpPr>
        <p:spPr>
          <a:xfrm>
            <a:off x="9528048" y="2889504"/>
            <a:ext cx="2176272" cy="365760"/>
          </a:xfrm>
          <a:prstGeom prst="rect">
            <a:avLst/>
          </a:prstGeom>
          <a:noFill/>
          <a:ln/>
        </p:spPr>
        <p:txBody>
          <a:bodyPr wrap="square" lIns="0" tIns="0" rIns="0" bIns="0" rtlCol="0" anchor="ctr"/>
          <a:lstStyle/>
          <a:p>
            <a:pPr marL="0" indent="0">
              <a:buNone/>
            </a:pPr>
            <a:r>
              <a:rPr lang="en-US" sz="1100" dirty="0">
                <a:solidFill>
                  <a:srgbClr val="16232E"/>
                </a:solidFill>
                <a:latin typeface="Calibri" pitchFamily="34" charset="0"/>
                <a:ea typeface="Calibri" pitchFamily="34" charset="-122"/>
                <a:cs typeface="Calibri" pitchFamily="34" charset="-120"/>
              </a:rPr>
              <a:t>Delete Record</a:t>
            </a:r>
            <a:endParaRPr lang="en-US" sz="1100" dirty="0"/>
          </a:p>
        </p:txBody>
      </p:sp>
      <p:sp>
        <p:nvSpPr>
          <p:cNvPr id="48" name="Shape 38"/>
          <p:cNvSpPr/>
          <p:nvPr/>
        </p:nvSpPr>
        <p:spPr>
          <a:xfrm>
            <a:off x="6400800" y="3392424"/>
            <a:ext cx="292608" cy="292608"/>
          </a:xfrm>
          <a:prstGeom prst="ellipse">
            <a:avLst/>
          </a:prstGeom>
          <a:solidFill>
            <a:srgbClr val="F15B40"/>
          </a:solidFill>
          <a:ln/>
        </p:spPr>
      </p:sp>
      <p:sp>
        <p:nvSpPr>
          <p:cNvPr id="49" name="Text 39"/>
          <p:cNvSpPr/>
          <p:nvPr/>
        </p:nvSpPr>
        <p:spPr>
          <a:xfrm>
            <a:off x="6400800" y="3392424"/>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50" name="Text 40"/>
          <p:cNvSpPr/>
          <p:nvPr/>
        </p:nvSpPr>
        <p:spPr>
          <a:xfrm>
            <a:off x="6784848" y="3364992"/>
            <a:ext cx="2176272" cy="365760"/>
          </a:xfrm>
          <a:prstGeom prst="rect">
            <a:avLst/>
          </a:prstGeom>
          <a:noFill/>
          <a:ln/>
        </p:spPr>
        <p:txBody>
          <a:bodyPr wrap="square" lIns="0" tIns="0" rIns="0" bIns="0" rtlCol="0" anchor="ctr"/>
          <a:lstStyle/>
          <a:p>
            <a:pPr marL="0" indent="0">
              <a:buNone/>
            </a:pPr>
            <a:r>
              <a:rPr lang="en-US" sz="1100" dirty="0">
                <a:solidFill>
                  <a:srgbClr val="16232E"/>
                </a:solidFill>
                <a:latin typeface="Calibri" pitchFamily="34" charset="0"/>
                <a:ea typeface="Calibri" pitchFamily="34" charset="-122"/>
                <a:cs typeface="Calibri" pitchFamily="34" charset="-120"/>
              </a:rPr>
              <a:t>Manage Users</a:t>
            </a:r>
            <a:endParaRPr lang="en-US" sz="1100" dirty="0"/>
          </a:p>
        </p:txBody>
      </p:sp>
      <p:sp>
        <p:nvSpPr>
          <p:cNvPr id="51" name="Shape 41"/>
          <p:cNvSpPr/>
          <p:nvPr/>
        </p:nvSpPr>
        <p:spPr>
          <a:xfrm>
            <a:off x="9144000" y="3392424"/>
            <a:ext cx="292608" cy="292608"/>
          </a:xfrm>
          <a:prstGeom prst="ellipse">
            <a:avLst/>
          </a:prstGeom>
          <a:solidFill>
            <a:srgbClr val="F15B40"/>
          </a:solidFill>
          <a:ln/>
        </p:spPr>
      </p:sp>
      <p:sp>
        <p:nvSpPr>
          <p:cNvPr id="52" name="Text 42"/>
          <p:cNvSpPr/>
          <p:nvPr/>
        </p:nvSpPr>
        <p:spPr>
          <a:xfrm>
            <a:off x="9144000" y="3392424"/>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8</a:t>
            </a:r>
            <a:endParaRPr lang="en-US" sz="1050" dirty="0"/>
          </a:p>
        </p:txBody>
      </p:sp>
      <p:sp>
        <p:nvSpPr>
          <p:cNvPr id="53" name="Text 43"/>
          <p:cNvSpPr/>
          <p:nvPr/>
        </p:nvSpPr>
        <p:spPr>
          <a:xfrm>
            <a:off x="9528048" y="3364992"/>
            <a:ext cx="2176272" cy="365760"/>
          </a:xfrm>
          <a:prstGeom prst="rect">
            <a:avLst/>
          </a:prstGeom>
          <a:noFill/>
          <a:ln/>
        </p:spPr>
        <p:txBody>
          <a:bodyPr wrap="square" lIns="0" tIns="0" rIns="0" bIns="0" rtlCol="0" anchor="ctr"/>
          <a:lstStyle/>
          <a:p>
            <a:pPr marL="0" indent="0">
              <a:buNone/>
            </a:pPr>
            <a:r>
              <a:rPr lang="en-US" sz="1100" dirty="0">
                <a:solidFill>
                  <a:srgbClr val="16232E"/>
                </a:solidFill>
                <a:latin typeface="Calibri" pitchFamily="34" charset="0"/>
                <a:ea typeface="Calibri" pitchFamily="34" charset="-122"/>
                <a:cs typeface="Calibri" pitchFamily="34" charset="-120"/>
              </a:rPr>
              <a:t>Assign Permissions</a:t>
            </a:r>
            <a:endParaRPr lang="en-US" sz="1100" dirty="0"/>
          </a:p>
        </p:txBody>
      </p:sp>
      <p:sp>
        <p:nvSpPr>
          <p:cNvPr id="54" name="Shape 44"/>
          <p:cNvSpPr/>
          <p:nvPr/>
        </p:nvSpPr>
        <p:spPr>
          <a:xfrm>
            <a:off x="6400800" y="3867912"/>
            <a:ext cx="292608" cy="292608"/>
          </a:xfrm>
          <a:prstGeom prst="ellipse">
            <a:avLst/>
          </a:prstGeom>
          <a:solidFill>
            <a:srgbClr val="F15B40"/>
          </a:solidFill>
          <a:ln/>
        </p:spPr>
      </p:sp>
      <p:sp>
        <p:nvSpPr>
          <p:cNvPr id="55" name="Text 45"/>
          <p:cNvSpPr/>
          <p:nvPr/>
        </p:nvSpPr>
        <p:spPr>
          <a:xfrm>
            <a:off x="6400800" y="3867912"/>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9</a:t>
            </a:r>
            <a:endParaRPr lang="en-US" sz="1050" dirty="0"/>
          </a:p>
        </p:txBody>
      </p:sp>
      <p:sp>
        <p:nvSpPr>
          <p:cNvPr id="56" name="Text 46"/>
          <p:cNvSpPr/>
          <p:nvPr/>
        </p:nvSpPr>
        <p:spPr>
          <a:xfrm>
            <a:off x="6784848" y="3840480"/>
            <a:ext cx="2176272" cy="365760"/>
          </a:xfrm>
          <a:prstGeom prst="rect">
            <a:avLst/>
          </a:prstGeom>
          <a:noFill/>
          <a:ln/>
        </p:spPr>
        <p:txBody>
          <a:bodyPr wrap="square" lIns="0" tIns="0" rIns="0" bIns="0" rtlCol="0" anchor="ctr"/>
          <a:lstStyle/>
          <a:p>
            <a:pPr marL="0" indent="0">
              <a:buNone/>
            </a:pPr>
            <a:r>
              <a:rPr lang="en-US" sz="1100" dirty="0">
                <a:solidFill>
                  <a:srgbClr val="16232E"/>
                </a:solidFill>
                <a:latin typeface="Calibri" pitchFamily="34" charset="0"/>
                <a:ea typeface="Calibri" pitchFamily="34" charset="-122"/>
                <a:cs typeface="Calibri" pitchFamily="34" charset="-120"/>
              </a:rPr>
              <a:t>View Audit Logs</a:t>
            </a:r>
            <a:endParaRPr lang="en-US" sz="1100" dirty="0"/>
          </a:p>
        </p:txBody>
      </p:sp>
      <p:sp>
        <p:nvSpPr>
          <p:cNvPr id="57" name="Shape 47"/>
          <p:cNvSpPr/>
          <p:nvPr/>
        </p:nvSpPr>
        <p:spPr>
          <a:xfrm>
            <a:off x="9144000" y="3867912"/>
            <a:ext cx="292608" cy="292608"/>
          </a:xfrm>
          <a:prstGeom prst="ellipse">
            <a:avLst/>
          </a:prstGeom>
          <a:solidFill>
            <a:srgbClr val="F15B40"/>
          </a:solidFill>
          <a:ln/>
        </p:spPr>
      </p:sp>
      <p:sp>
        <p:nvSpPr>
          <p:cNvPr id="58" name="Text 48"/>
          <p:cNvSpPr/>
          <p:nvPr/>
        </p:nvSpPr>
        <p:spPr>
          <a:xfrm>
            <a:off x="9144000" y="3867912"/>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10</a:t>
            </a:r>
            <a:endParaRPr lang="en-US" sz="1050" dirty="0"/>
          </a:p>
        </p:txBody>
      </p:sp>
      <p:sp>
        <p:nvSpPr>
          <p:cNvPr id="59" name="Text 49"/>
          <p:cNvSpPr/>
          <p:nvPr/>
        </p:nvSpPr>
        <p:spPr>
          <a:xfrm>
            <a:off x="9528048" y="3840480"/>
            <a:ext cx="2176272" cy="365760"/>
          </a:xfrm>
          <a:prstGeom prst="rect">
            <a:avLst/>
          </a:prstGeom>
          <a:noFill/>
          <a:ln/>
        </p:spPr>
        <p:txBody>
          <a:bodyPr wrap="square" lIns="0" tIns="0" rIns="0" bIns="0" rtlCol="0" anchor="ctr"/>
          <a:lstStyle/>
          <a:p>
            <a:pPr marL="0" indent="0">
              <a:buNone/>
            </a:pPr>
            <a:r>
              <a:rPr lang="en-US" sz="1100" dirty="0">
                <a:solidFill>
                  <a:srgbClr val="16232E"/>
                </a:solidFill>
                <a:latin typeface="Calibri" pitchFamily="34" charset="0"/>
                <a:ea typeface="Calibri" pitchFamily="34" charset="-122"/>
                <a:cs typeface="Calibri" pitchFamily="34" charset="-120"/>
              </a:rPr>
              <a:t>AI Data Analyst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82340"/>
        </a:solidFill>
        <a:effectLst/>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0E3A63">
              <a:alpha val="65000"/>
            </a:srgbClr>
          </a:solidFill>
          <a:ln/>
        </p:spPr>
      </p:sp>
      <p:sp>
        <p:nvSpPr>
          <p:cNvPr id="3" name="Shape 1"/>
          <p:cNvSpPr/>
          <p:nvPr/>
        </p:nvSpPr>
        <p:spPr>
          <a:xfrm>
            <a:off x="9144000" y="4114800"/>
            <a:ext cx="5029200" cy="5029200"/>
          </a:xfrm>
          <a:prstGeom prst="ellipse">
            <a:avLst/>
          </a:prstGeom>
          <a:solidFill>
            <a:srgbClr val="F15B40">
              <a:alpha val="22000"/>
            </a:srgbClr>
          </a:solidFill>
          <a:ln/>
        </p:spPr>
      </p:sp>
      <p:sp>
        <p:nvSpPr>
          <p:cNvPr id="4" name="Shape 2"/>
          <p:cNvSpPr/>
          <p:nvPr/>
        </p:nvSpPr>
        <p:spPr>
          <a:xfrm>
            <a:off x="5577840" y="1188720"/>
            <a:ext cx="1005840" cy="1005840"/>
          </a:xfrm>
          <a:prstGeom prst="ellipse">
            <a:avLst/>
          </a:prstGeom>
          <a:solidFill>
            <a:srgbClr val="0E3A63"/>
          </a:solidFill>
          <a:ln/>
        </p:spPr>
      </p:sp>
      <p:pic>
        <p:nvPicPr>
          <p:cNvPr id="5" name="Image 0" descr="preencoded.png"/>
          <p:cNvPicPr>
            <a:picLocks noChangeAspect="1"/>
          </p:cNvPicPr>
          <p:nvPr/>
        </p:nvPicPr>
        <p:blipFill>
          <a:blip r:embed="rId3"/>
          <a:stretch>
            <a:fillRect/>
          </a:stretch>
        </p:blipFill>
        <p:spPr>
          <a:xfrm>
            <a:off x="5839358" y="1450238"/>
            <a:ext cx="482803" cy="482803"/>
          </a:xfrm>
          <a:prstGeom prst="rect">
            <a:avLst/>
          </a:prstGeom>
        </p:spPr>
      </p:pic>
      <p:sp>
        <p:nvSpPr>
          <p:cNvPr id="6" name="Text 3"/>
          <p:cNvSpPr/>
          <p:nvPr/>
        </p:nvSpPr>
        <p:spPr>
          <a:xfrm>
            <a:off x="914400" y="2514600"/>
            <a:ext cx="1033272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7" name="Text 4"/>
          <p:cNvSpPr/>
          <p:nvPr/>
        </p:nvSpPr>
        <p:spPr>
          <a:xfrm>
            <a:off x="914400" y="3337560"/>
            <a:ext cx="10332720" cy="548640"/>
          </a:xfrm>
          <a:prstGeom prst="rect">
            <a:avLst/>
          </a:prstGeom>
          <a:noFill/>
          <a:ln/>
        </p:spPr>
        <p:txBody>
          <a:bodyPr wrap="square" lIns="0" tIns="0" rIns="0" bIns="0" rtlCol="0" anchor="ctr"/>
          <a:lstStyle/>
          <a:p>
            <a:pPr marL="0" indent="0" algn="ctr">
              <a:buNone/>
            </a:pPr>
            <a:r>
              <a:rPr lang="en-US" sz="1800" dirty="0">
                <a:solidFill>
                  <a:srgbClr val="CFE0F0"/>
                </a:solidFill>
                <a:latin typeface="Calibri" pitchFamily="34" charset="0"/>
                <a:ea typeface="Calibri" pitchFamily="34" charset="-122"/>
                <a:cs typeface="Calibri" pitchFamily="34" charset="-120"/>
              </a:rPr>
              <a:t>Questions &amp; Answers</a:t>
            </a:r>
            <a:endParaRPr lang="en-US" sz="1800" dirty="0"/>
          </a:p>
        </p:txBody>
      </p:sp>
      <p:pic>
        <p:nvPicPr>
          <p:cNvPr id="8" name="Image 1" descr="preencoded.png"/>
          <p:cNvPicPr>
            <a:picLocks noChangeAspect="1"/>
          </p:cNvPicPr>
          <p:nvPr/>
        </p:nvPicPr>
        <p:blipFill>
          <a:blip r:embed="rId4"/>
          <a:stretch>
            <a:fillRect/>
          </a:stretch>
        </p:blipFill>
        <p:spPr>
          <a:xfrm>
            <a:off x="5166360" y="5486400"/>
            <a:ext cx="1828800" cy="84458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2013 - 2022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2531</Words>
  <Application>Microsoft Office PowerPoint</Application>
  <PresentationFormat>Widescreen</PresentationFormat>
  <Paragraphs>407</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 Admin Portal</dc:title>
  <dc:subject>PptxGenJS Presentation</dc:subject>
  <dc:creator>Mohammad Kashif Siddiqui</dc:creator>
  <cp:lastModifiedBy>ANUSHA GUPTA</cp:lastModifiedBy>
  <cp:revision>3</cp:revision>
  <dcterms:created xsi:type="dcterms:W3CDTF">2026-07-04T06:40:04Z</dcterms:created>
  <dcterms:modified xsi:type="dcterms:W3CDTF">2026-07-05T17:30:55Z</dcterms:modified>
</cp:coreProperties>
</file>